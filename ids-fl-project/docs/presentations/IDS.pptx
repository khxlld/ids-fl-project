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57" r:id="rId4"/>
    <p:sldId id="258" r:id="rId5"/>
    <p:sldId id="259" r:id="rId6"/>
    <p:sldId id="265"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6FF9A-6101-47F3-0B57-2635C6DCED1B}" v="10" dt="2026-08-08T17:55:52.700"/>
    <p1510:client id="{337BA3F0-9011-75D5-8CFB-A74070D1E833}" v="55" dt="2026-08-08T18:17:15.458"/>
    <p1510:client id="{F6B70286-CB10-64F7-3092-1AEE261F017F}" v="2" dt="2026-08-08T16:45:46.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20.png"/><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0" y="4648944"/>
            <a:ext cx="762000" cy="28575"/>
          </a:xfrm>
          <a:prstGeom prst="rect">
            <a:avLst/>
          </a:prstGeom>
        </p:spPr>
      </p:pic>
      <p:sp>
        <p:nvSpPr>
          <p:cNvPr id="3" name="TextBox 2"/>
          <p:cNvSpPr txBox="1"/>
          <p:nvPr/>
        </p:nvSpPr>
        <p:spPr>
          <a:xfrm>
            <a:off x="500062" y="1119336"/>
            <a:ext cx="11001375" cy="1919882"/>
          </a:xfrm>
          <a:prstGeom prst="rect">
            <a:avLst/>
          </a:prstGeom>
          <a:noFill/>
        </p:spPr>
        <p:txBody>
          <a:bodyPr wrap="square" lIns="0" tIns="0" rIns="0" bIns="0" anchor="t">
            <a:spAutoFit/>
          </a:bodyPr>
          <a:lstStyle/>
          <a:p>
            <a:pPr algn="ctr">
              <a:lnSpc>
                <a:spcPts val="5040"/>
              </a:lnSpc>
            </a:pPr>
            <a:r>
              <a:rPr sz="4200" b="1" i="0" u="none">
                <a:solidFill>
                  <a:srgbClr val="10B981"/>
                </a:solidFill>
                <a:latin typeface="Times New Roman"/>
              </a:rPr>
              <a:t>Enhancing Intrusion Detection Systems using </a:t>
            </a:r>
            <a:r>
              <a:t>
</a:t>
            </a:r>
            <a:r>
              <a:rPr sz="4200" b="1" i="0" u="none">
                <a:solidFill>
                  <a:srgbClr val="F8FAFC"/>
                </a:solidFill>
                <a:latin typeface="Times New Roman"/>
              </a:rPr>
              <a:t>Federated Learning</a:t>
            </a:r>
            <a:r>
              <a:rPr sz="4200" b="1" i="0" u="none">
                <a:solidFill>
                  <a:srgbClr val="10B981"/>
                </a:solidFill>
                <a:latin typeface="Times New Roman"/>
              </a:rPr>
              <a:t> for Decentralized Model Training</a:t>
            </a:r>
          </a:p>
        </p:txBody>
      </p:sp>
      <p:sp>
        <p:nvSpPr>
          <p:cNvPr id="4" name="TextBox 3"/>
          <p:cNvSpPr txBox="1"/>
          <p:nvPr/>
        </p:nvSpPr>
        <p:spPr>
          <a:xfrm>
            <a:off x="762000" y="3420219"/>
            <a:ext cx="10668000" cy="295275"/>
          </a:xfrm>
          <a:prstGeom prst="rect">
            <a:avLst/>
          </a:prstGeom>
          <a:noFill/>
        </p:spPr>
        <p:txBody>
          <a:bodyPr wrap="square" lIns="0" tIns="0" rIns="0" bIns="0" anchor="t">
            <a:spAutoFit/>
          </a:bodyPr>
          <a:lstStyle/>
          <a:p>
            <a:pPr algn="ctr"/>
            <a:r>
              <a:rPr sz="1950" b="0" i="0" u="none">
                <a:solidFill>
                  <a:srgbClr val="F8FAFC"/>
                </a:solidFill>
                <a:latin typeface="Space Grotesk SemiBold"/>
              </a:rPr>
              <a:t>KAUST Academy</a:t>
            </a:r>
          </a:p>
        </p:txBody>
      </p:sp>
      <p:sp>
        <p:nvSpPr>
          <p:cNvPr id="5" name="TextBox 4"/>
          <p:cNvSpPr txBox="1"/>
          <p:nvPr/>
        </p:nvSpPr>
        <p:spPr>
          <a:xfrm>
            <a:off x="2426368" y="3965149"/>
            <a:ext cx="7342607" cy="260600"/>
          </a:xfrm>
          <a:prstGeom prst="rect">
            <a:avLst/>
          </a:prstGeom>
          <a:noFill/>
        </p:spPr>
        <p:txBody>
          <a:bodyPr wrap="square" lIns="0" tIns="0" rIns="0" bIns="0" anchor="t">
            <a:spAutoFit/>
          </a:bodyPr>
          <a:lstStyle/>
          <a:p>
            <a:pPr algn="ctr"/>
            <a:r>
              <a:rPr lang="en-US" sz="1650">
                <a:solidFill>
                  <a:srgbClr val="94A3B8"/>
                </a:solidFill>
                <a:latin typeface="Times New Roman"/>
              </a:rPr>
              <a:t>     </a:t>
            </a:r>
            <a:r>
              <a:rPr sz="1650" b="0" i="0" u="none">
                <a:solidFill>
                  <a:srgbClr val="94A3B8"/>
                </a:solidFill>
                <a:latin typeface="Times New Roman"/>
              </a:rPr>
              <a:t>Khalid Alkhaldi · Anas Alshehri · Feras Aloufi · Meshal Alshawi · Ammar Alkayyal</a:t>
            </a:r>
          </a:p>
        </p:txBody>
      </p:sp>
      <p:sp>
        <p:nvSpPr>
          <p:cNvPr id="6" name="TextBox 5"/>
          <p:cNvSpPr txBox="1"/>
          <p:nvPr/>
        </p:nvSpPr>
        <p:spPr>
          <a:xfrm>
            <a:off x="762000" y="5058519"/>
            <a:ext cx="10668000" cy="247650"/>
          </a:xfrm>
          <a:prstGeom prst="rect">
            <a:avLst/>
          </a:prstGeom>
          <a:noFill/>
        </p:spPr>
        <p:txBody>
          <a:bodyPr wrap="square" lIns="0" tIns="0" rIns="0" bIns="0" anchor="t">
            <a:spAutoFit/>
          </a:bodyPr>
          <a:lstStyle/>
          <a:p>
            <a:pPr algn="ctr"/>
            <a:r>
              <a:rPr sz="1650" b="0" i="0" u="none">
                <a:solidFill>
                  <a:srgbClr val="94A3B8"/>
                </a:solidFill>
                <a:latin typeface="Times New Roman"/>
              </a:rPr>
              <a:t>Supervised by</a:t>
            </a:r>
            <a:r>
              <a:rPr sz="1650" b="0" i="0" u="none">
                <a:solidFill>
                  <a:srgbClr val="E2E8F0"/>
                </a:solidFill>
                <a:latin typeface="Times New Roman"/>
              </a:rPr>
              <a:t> Dr. Muhammad Shahbaz Khan</a:t>
            </a:r>
          </a:p>
        </p:txBody>
      </p:sp>
      <p:pic>
        <p:nvPicPr>
          <p:cNvPr id="7" name="Picture 6">
            <a:extLst>
              <a:ext uri="{FF2B5EF4-FFF2-40B4-BE49-F238E27FC236}">
                <a16:creationId xmlns:a16="http://schemas.microsoft.com/office/drawing/2014/main" id="{35A19C9A-75E8-6E78-F198-829C4DD976BF}"/>
              </a:ext>
            </a:extLst>
          </p:cNvPr>
          <p:cNvPicPr>
            <a:picLocks noChangeAspect="1"/>
          </p:cNvPicPr>
          <p:nvPr/>
        </p:nvPicPr>
        <p:blipFill>
          <a:blip r:embed="rId3"/>
          <a:stretch>
            <a:fillRect/>
          </a:stretch>
        </p:blipFill>
        <p:spPr>
          <a:xfrm>
            <a:off x="2187785" y="5501765"/>
            <a:ext cx="1159715" cy="1145337"/>
          </a:xfrm>
          <a:prstGeom prst="rect">
            <a:avLst/>
          </a:prstGeom>
        </p:spPr>
      </p:pic>
      <p:pic>
        <p:nvPicPr>
          <p:cNvPr id="8" name="Picture 7">
            <a:extLst>
              <a:ext uri="{FF2B5EF4-FFF2-40B4-BE49-F238E27FC236}">
                <a16:creationId xmlns:a16="http://schemas.microsoft.com/office/drawing/2014/main" id="{0E6C13D0-6F1C-29BC-B48A-079A2DCCDA2A}"/>
              </a:ext>
            </a:extLst>
          </p:cNvPr>
          <p:cNvPicPr>
            <a:picLocks noChangeAspect="1"/>
          </p:cNvPicPr>
          <p:nvPr/>
        </p:nvPicPr>
        <p:blipFill>
          <a:blip r:embed="rId4"/>
          <a:stretch>
            <a:fillRect/>
          </a:stretch>
        </p:blipFill>
        <p:spPr>
          <a:xfrm>
            <a:off x="3422133" y="5506528"/>
            <a:ext cx="1954678" cy="1135812"/>
          </a:xfrm>
          <a:prstGeom prst="rect">
            <a:avLst/>
          </a:prstGeom>
        </p:spPr>
      </p:pic>
      <p:pic>
        <p:nvPicPr>
          <p:cNvPr id="9" name="Picture 8">
            <a:extLst>
              <a:ext uri="{FF2B5EF4-FFF2-40B4-BE49-F238E27FC236}">
                <a16:creationId xmlns:a16="http://schemas.microsoft.com/office/drawing/2014/main" id="{A58CFB0A-48E2-8111-63F9-F2EEF90AADDC}"/>
              </a:ext>
            </a:extLst>
          </p:cNvPr>
          <p:cNvPicPr>
            <a:picLocks noChangeAspect="1"/>
          </p:cNvPicPr>
          <p:nvPr/>
        </p:nvPicPr>
        <p:blipFill>
          <a:blip r:embed="rId5"/>
          <a:stretch>
            <a:fillRect/>
          </a:stretch>
        </p:blipFill>
        <p:spPr>
          <a:xfrm>
            <a:off x="5697350" y="5510122"/>
            <a:ext cx="2286003" cy="1129254"/>
          </a:xfrm>
          <a:prstGeom prst="rect">
            <a:avLst/>
          </a:prstGeom>
        </p:spPr>
      </p:pic>
      <p:pic>
        <p:nvPicPr>
          <p:cNvPr id="10" name="Picture 9">
            <a:extLst>
              <a:ext uri="{FF2B5EF4-FFF2-40B4-BE49-F238E27FC236}">
                <a16:creationId xmlns:a16="http://schemas.microsoft.com/office/drawing/2014/main" id="{75D7066C-438C-C02E-84FB-28A5E551A8DC}"/>
              </a:ext>
            </a:extLst>
          </p:cNvPr>
          <p:cNvPicPr>
            <a:picLocks noChangeAspect="1"/>
          </p:cNvPicPr>
          <p:nvPr/>
        </p:nvPicPr>
        <p:blipFill>
          <a:blip r:embed="rId6"/>
          <a:stretch>
            <a:fillRect/>
          </a:stretch>
        </p:blipFill>
        <p:spPr>
          <a:xfrm>
            <a:off x="8216981" y="5671868"/>
            <a:ext cx="2573549" cy="8029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1025" y="581025"/>
            <a:ext cx="11581447" cy="581025"/>
          </a:xfrm>
          <a:prstGeom prst="rect">
            <a:avLst/>
          </a:prstGeom>
          <a:noFill/>
        </p:spPr>
        <p:txBody>
          <a:bodyPr wrap="square" lIns="0" tIns="0" rIns="0" bIns="0" anchor="t">
            <a:spAutoFit/>
          </a:bodyPr>
          <a:lstStyle/>
          <a:p>
            <a:pPr algn="l"/>
            <a:r>
              <a:rPr sz="3600" b="1" i="0" u="none">
                <a:solidFill>
                  <a:srgbClr val="10B981"/>
                </a:solidFill>
                <a:latin typeface="Space Grotesk"/>
              </a:rPr>
              <a:t>Background &amp; </a:t>
            </a:r>
            <a:r>
              <a:rPr sz="3600" b="1" i="0" u="none">
                <a:solidFill>
                  <a:srgbClr val="F8FAFC"/>
                </a:solidFill>
                <a:latin typeface="Space Grotesk"/>
              </a:rPr>
              <a:t>Context</a:t>
            </a:r>
          </a:p>
        </p:txBody>
      </p:sp>
      <p:sp>
        <p:nvSpPr>
          <p:cNvPr id="3" name="TextBox 2"/>
          <p:cNvSpPr txBox="1"/>
          <p:nvPr/>
        </p:nvSpPr>
        <p:spPr>
          <a:xfrm>
            <a:off x="1333500" y="2188368"/>
            <a:ext cx="10001250" cy="670321"/>
          </a:xfrm>
          <a:prstGeom prst="rect">
            <a:avLst/>
          </a:prstGeom>
          <a:noFill/>
        </p:spPr>
        <p:txBody>
          <a:bodyPr wrap="square" lIns="0" tIns="0" rIns="0" bIns="0" anchor="t">
            <a:spAutoFit/>
          </a:bodyPr>
          <a:lstStyle/>
          <a:p>
            <a:pPr algn="l">
              <a:lnSpc>
                <a:spcPts val="2640"/>
              </a:lnSpc>
            </a:pPr>
            <a:r>
              <a:rPr sz="1650" b="0" i="0" u="none">
                <a:solidFill>
                  <a:srgbClr val="F8FAFC"/>
                </a:solidFill>
                <a:latin typeface="Inter SemiBold"/>
              </a:rPr>
              <a:t>The Frontier of Infrastructure:</a:t>
            </a:r>
            <a:r>
              <a:rPr sz="1650" b="0" i="0" u="none">
                <a:solidFill>
                  <a:srgbClr val="94A3B8"/>
                </a:solidFill>
                <a:latin typeface="Inter"/>
              </a:rPr>
              <a:t> Unmanned Aerial Vehicles (UAVs) and Smart City IoT networks represent the future of decentralized operations.</a:t>
            </a:r>
          </a:p>
        </p:txBody>
      </p:sp>
      <p:sp>
        <p:nvSpPr>
          <p:cNvPr id="4" name="TextBox 3"/>
          <p:cNvSpPr txBox="1"/>
          <p:nvPr/>
        </p:nvSpPr>
        <p:spPr>
          <a:xfrm>
            <a:off x="1333500" y="3144440"/>
            <a:ext cx="10001250" cy="670321"/>
          </a:xfrm>
          <a:prstGeom prst="rect">
            <a:avLst/>
          </a:prstGeom>
          <a:noFill/>
        </p:spPr>
        <p:txBody>
          <a:bodyPr wrap="square" lIns="0" tIns="0" rIns="0" bIns="0" anchor="t">
            <a:spAutoFit/>
          </a:bodyPr>
          <a:lstStyle/>
          <a:p>
            <a:pPr algn="l">
              <a:lnSpc>
                <a:spcPts val="2640"/>
              </a:lnSpc>
            </a:pPr>
            <a:r>
              <a:rPr sz="1650" b="0" i="0" u="none">
                <a:solidFill>
                  <a:srgbClr val="F8FAFC"/>
                </a:solidFill>
                <a:latin typeface="Inter SemiBold"/>
              </a:rPr>
              <a:t>The Security Challenge:</a:t>
            </a:r>
            <a:r>
              <a:rPr sz="1650" b="0" i="0" u="none">
                <a:solidFill>
                  <a:srgbClr val="94A3B8"/>
                </a:solidFill>
                <a:latin typeface="Inter"/>
              </a:rPr>
              <a:t> Securing these networks is highly complex; relying on centralized monitoring introduces massive bandwidth costs and creates a single point of failure.</a:t>
            </a:r>
          </a:p>
        </p:txBody>
      </p:sp>
      <p:sp>
        <p:nvSpPr>
          <p:cNvPr id="5" name="TextBox 4"/>
          <p:cNvSpPr txBox="1"/>
          <p:nvPr/>
        </p:nvSpPr>
        <p:spPr>
          <a:xfrm>
            <a:off x="1333500" y="4100512"/>
            <a:ext cx="10001250" cy="670321"/>
          </a:xfrm>
          <a:prstGeom prst="rect">
            <a:avLst/>
          </a:prstGeom>
          <a:noFill/>
        </p:spPr>
        <p:txBody>
          <a:bodyPr wrap="square" lIns="0" tIns="0" rIns="0" bIns="0" anchor="t">
            <a:spAutoFit/>
          </a:bodyPr>
          <a:lstStyle/>
          <a:p>
            <a:pPr algn="l">
              <a:lnSpc>
                <a:spcPts val="2640"/>
              </a:lnSpc>
            </a:pPr>
            <a:r>
              <a:rPr sz="1650" b="0" i="0" u="none">
                <a:solidFill>
                  <a:srgbClr val="F8FAFC"/>
                </a:solidFill>
                <a:latin typeface="Inter SemiBold"/>
              </a:rPr>
              <a:t>The Need for Edge Intelligence:</a:t>
            </a:r>
            <a:r>
              <a:rPr sz="1650" b="0" i="0" u="none">
                <a:solidFill>
                  <a:srgbClr val="94A3B8"/>
                </a:solidFill>
                <a:latin typeface="Inter"/>
              </a:rPr>
              <a:t> Devices must possess the capability to detect threats independently, without exposing sensitive data or requiring continuous cloud connectivity.</a:t>
            </a:r>
          </a:p>
        </p:txBody>
      </p:sp>
      <p:sp>
        <p:nvSpPr>
          <p:cNvPr id="6" name="TextBox 5"/>
          <p:cNvSpPr txBox="1"/>
          <p:nvPr/>
        </p:nvSpPr>
        <p:spPr>
          <a:xfrm>
            <a:off x="1333500" y="5056584"/>
            <a:ext cx="10001250" cy="670321"/>
          </a:xfrm>
          <a:prstGeom prst="rect">
            <a:avLst/>
          </a:prstGeom>
          <a:noFill/>
        </p:spPr>
        <p:txBody>
          <a:bodyPr wrap="square" lIns="0" tIns="0" rIns="0" bIns="0" anchor="t">
            <a:spAutoFit/>
          </a:bodyPr>
          <a:lstStyle/>
          <a:p>
            <a:pPr algn="l">
              <a:lnSpc>
                <a:spcPts val="2640"/>
              </a:lnSpc>
            </a:pPr>
            <a:r>
              <a:rPr sz="1650" b="0" i="0" u="none">
                <a:solidFill>
                  <a:srgbClr val="F8FAFC"/>
                </a:solidFill>
                <a:latin typeface="Inter SemiBold"/>
              </a:rPr>
              <a:t>Dual-Domain Focus:</a:t>
            </a:r>
            <a:r>
              <a:rPr sz="1650" b="0" i="0" u="none">
                <a:solidFill>
                  <a:srgbClr val="94A3B8"/>
                </a:solidFill>
                <a:latin typeface="Inter"/>
              </a:rPr>
              <a:t> This initiative addresses the critical need for a unified, secure defense architecture that scales across both agile drone fleets and massive urban sensor arrays.</a:t>
            </a:r>
          </a:p>
        </p:txBody>
      </p:sp>
      <p:pic>
        <p:nvPicPr>
          <p:cNvPr id="7" name="Picture 6" descr="image.png"/>
          <p:cNvPicPr>
            <a:picLocks noChangeAspect="1"/>
          </p:cNvPicPr>
          <p:nvPr/>
        </p:nvPicPr>
        <p:blipFill>
          <a:blip r:embed="rId2"/>
          <a:stretch>
            <a:fillRect/>
          </a:stretch>
        </p:blipFill>
        <p:spPr>
          <a:xfrm>
            <a:off x="857250" y="2231231"/>
            <a:ext cx="333375" cy="276225"/>
          </a:xfrm>
          <a:prstGeom prst="rect">
            <a:avLst/>
          </a:prstGeom>
        </p:spPr>
      </p:pic>
      <p:pic>
        <p:nvPicPr>
          <p:cNvPr id="8" name="Picture 7" descr="image.png"/>
          <p:cNvPicPr>
            <a:picLocks noChangeAspect="1"/>
          </p:cNvPicPr>
          <p:nvPr/>
        </p:nvPicPr>
        <p:blipFill>
          <a:blip r:embed="rId3"/>
          <a:stretch>
            <a:fillRect/>
          </a:stretch>
        </p:blipFill>
        <p:spPr>
          <a:xfrm>
            <a:off x="857250" y="3187303"/>
            <a:ext cx="266700" cy="276225"/>
          </a:xfrm>
          <a:prstGeom prst="rect">
            <a:avLst/>
          </a:prstGeom>
        </p:spPr>
      </p:pic>
      <p:pic>
        <p:nvPicPr>
          <p:cNvPr id="9" name="Picture 8" descr="image.png"/>
          <p:cNvPicPr>
            <a:picLocks noChangeAspect="1"/>
          </p:cNvPicPr>
          <p:nvPr/>
        </p:nvPicPr>
        <p:blipFill>
          <a:blip r:embed="rId4"/>
          <a:stretch>
            <a:fillRect/>
          </a:stretch>
        </p:blipFill>
        <p:spPr>
          <a:xfrm>
            <a:off x="857250" y="4143375"/>
            <a:ext cx="266700" cy="276225"/>
          </a:xfrm>
          <a:prstGeom prst="rect">
            <a:avLst/>
          </a:prstGeom>
        </p:spPr>
      </p:pic>
      <p:pic>
        <p:nvPicPr>
          <p:cNvPr id="10" name="Picture 9" descr="image.png"/>
          <p:cNvPicPr>
            <a:picLocks noChangeAspect="1"/>
          </p:cNvPicPr>
          <p:nvPr/>
        </p:nvPicPr>
        <p:blipFill>
          <a:blip r:embed="rId5"/>
          <a:stretch>
            <a:fillRect/>
          </a:stretch>
        </p:blipFill>
        <p:spPr>
          <a:xfrm>
            <a:off x="857250" y="5099446"/>
            <a:ext cx="304800" cy="276225"/>
          </a:xfrm>
          <a:prstGeom prst="rect">
            <a:avLst/>
          </a:prstGeom>
        </p:spPr>
      </p:pic>
    </p:spTree>
    <p:extLst>
      <p:ext uri="{BB962C8B-B14F-4D97-AF65-F5344CB8AC3E}">
        <p14:creationId xmlns:p14="http://schemas.microsoft.com/office/powerpoint/2010/main" val="3531456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406104"/>
            <a:ext cx="5286375" cy="3112591"/>
          </a:xfrm>
          <a:prstGeom prst="rect">
            <a:avLst/>
          </a:prstGeom>
        </p:spPr>
      </p:pic>
      <p:pic>
        <p:nvPicPr>
          <p:cNvPr id="3" name="Picture 2" descr="image.png"/>
          <p:cNvPicPr>
            <a:picLocks noChangeAspect="1"/>
          </p:cNvPicPr>
          <p:nvPr/>
        </p:nvPicPr>
        <p:blipFill>
          <a:blip r:embed="rId3"/>
          <a:stretch>
            <a:fillRect/>
          </a:stretch>
        </p:blipFill>
        <p:spPr>
          <a:xfrm>
            <a:off x="6334125" y="2406104"/>
            <a:ext cx="5286375" cy="3112591"/>
          </a:xfrm>
          <a:prstGeom prst="rect">
            <a:avLst/>
          </a:prstGeom>
        </p:spPr>
      </p:pic>
      <p:sp>
        <p:nvSpPr>
          <p:cNvPr id="4" name="TextBox 3"/>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SemiBold"/>
              </a:rPr>
              <a:t>The Core </a:t>
            </a:r>
            <a:r>
              <a:rPr sz="3000" b="0" i="0" u="none">
                <a:solidFill>
                  <a:srgbClr val="10B981"/>
                </a:solidFill>
                <a:latin typeface="Poppins SemiBold"/>
              </a:rPr>
              <a:t>Problem</a:t>
            </a:r>
          </a:p>
        </p:txBody>
      </p:sp>
      <p:sp>
        <p:nvSpPr>
          <p:cNvPr id="5" name="Rectangle 4"/>
          <p:cNvSpPr/>
          <p:nvPr/>
        </p:nvSpPr>
        <p:spPr>
          <a:xfrm>
            <a:off x="571500" y="1238250"/>
            <a:ext cx="11049000" cy="19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2025" y="2796629"/>
            <a:ext cx="4730591" cy="400050"/>
          </a:xfrm>
          <a:prstGeom prst="rect">
            <a:avLst/>
          </a:prstGeom>
          <a:noFill/>
        </p:spPr>
        <p:txBody>
          <a:bodyPr wrap="square" lIns="361950" tIns="0" rIns="0" bIns="0" anchor="t">
            <a:spAutoFit/>
          </a:bodyPr>
          <a:lstStyle/>
          <a:p>
            <a:pPr algn="l"/>
            <a:r>
              <a:rPr sz="2100" b="0" i="0" u="none">
                <a:solidFill>
                  <a:srgbClr val="10B981"/>
                </a:solidFill>
                <a:latin typeface="Poppins SemiBold"/>
              </a:rPr>
              <a:t>Centralized Bottlenecks</a:t>
            </a:r>
          </a:p>
        </p:txBody>
      </p:sp>
      <p:sp>
        <p:nvSpPr>
          <p:cNvPr id="7" name="TextBox 6"/>
          <p:cNvSpPr txBox="1"/>
          <p:nvPr/>
        </p:nvSpPr>
        <p:spPr>
          <a:xfrm>
            <a:off x="962025" y="3339554"/>
            <a:ext cx="4505325" cy="1645741"/>
          </a:xfrm>
          <a:prstGeom prst="rect">
            <a:avLst/>
          </a:prstGeom>
          <a:noFill/>
        </p:spPr>
        <p:txBody>
          <a:bodyPr wrap="square" lIns="0" tIns="0" rIns="0" bIns="0" anchor="t">
            <a:spAutoFit/>
          </a:bodyPr>
          <a:lstStyle/>
          <a:p>
            <a:pPr algn="l">
              <a:lnSpc>
                <a:spcPts val="2160"/>
              </a:lnSpc>
            </a:pPr>
            <a:r>
              <a:rPr sz="1350" b="0" i="0" u="none">
                <a:solidFill>
                  <a:srgbClr val="CBD5E1"/>
                </a:solidFill>
                <a:latin typeface="Lato"/>
              </a:rPr>
              <a:t>Traditional security systems require all devices to send their private data logs to a single, massive central server for analysis. In environments with thousands of drones or city sensors, this approach causes severe network congestion, delays threat response, and creates a massive privacy risk if the server is compromised.</a:t>
            </a:r>
          </a:p>
        </p:txBody>
      </p:sp>
      <p:sp>
        <p:nvSpPr>
          <p:cNvPr id="8" name="TextBox 7"/>
          <p:cNvSpPr txBox="1"/>
          <p:nvPr/>
        </p:nvSpPr>
        <p:spPr>
          <a:xfrm>
            <a:off x="6724650" y="2796629"/>
            <a:ext cx="4730591" cy="400050"/>
          </a:xfrm>
          <a:prstGeom prst="rect">
            <a:avLst/>
          </a:prstGeom>
          <a:noFill/>
        </p:spPr>
        <p:txBody>
          <a:bodyPr wrap="square" lIns="361950" tIns="0" rIns="0" bIns="0" anchor="t">
            <a:spAutoFit/>
          </a:bodyPr>
          <a:lstStyle/>
          <a:p>
            <a:pPr algn="l"/>
            <a:r>
              <a:rPr sz="2100" b="0" i="0" u="none">
                <a:solidFill>
                  <a:srgbClr val="10B981"/>
                </a:solidFill>
                <a:latin typeface="Poppins SemiBold"/>
              </a:rPr>
              <a:t>Vulnerable Edge Devices</a:t>
            </a:r>
          </a:p>
        </p:txBody>
      </p:sp>
      <p:sp>
        <p:nvSpPr>
          <p:cNvPr id="9" name="TextBox 8"/>
          <p:cNvSpPr txBox="1"/>
          <p:nvPr/>
        </p:nvSpPr>
        <p:spPr>
          <a:xfrm>
            <a:off x="6724650" y="3339554"/>
            <a:ext cx="4505325" cy="1645741"/>
          </a:xfrm>
          <a:prstGeom prst="rect">
            <a:avLst/>
          </a:prstGeom>
          <a:noFill/>
        </p:spPr>
        <p:txBody>
          <a:bodyPr wrap="square" lIns="0" tIns="0" rIns="0" bIns="0" anchor="t">
            <a:spAutoFit/>
          </a:bodyPr>
          <a:lstStyle/>
          <a:p>
            <a:pPr algn="l">
              <a:lnSpc>
                <a:spcPts val="2160"/>
              </a:lnSpc>
            </a:pPr>
            <a:r>
              <a:rPr sz="1350" b="0" i="0" u="none">
                <a:solidFill>
                  <a:srgbClr val="CBD5E1"/>
                </a:solidFill>
                <a:latin typeface="Lato"/>
              </a:rPr>
              <a:t>UAVs and smart street sensors operate at the "edge" of the network. They have limited battery life, processing power, and memory. They are highly vulnerable to hacking, botnets, and data manipulation if they cannot intelligently defend themselves without waiting for instructions from the central hub.</a:t>
            </a:r>
          </a:p>
        </p:txBody>
      </p:sp>
      <p:pic>
        <p:nvPicPr>
          <p:cNvPr id="10" name="Picture 9" descr="image.png"/>
          <p:cNvPicPr>
            <a:picLocks noChangeAspect="1"/>
          </p:cNvPicPr>
          <p:nvPr/>
        </p:nvPicPr>
        <p:blipFill>
          <a:blip r:embed="rId4"/>
          <a:stretch>
            <a:fillRect/>
          </a:stretch>
        </p:blipFill>
        <p:spPr>
          <a:xfrm>
            <a:off x="962025" y="2853779"/>
            <a:ext cx="266700" cy="266700"/>
          </a:xfrm>
          <a:prstGeom prst="rect">
            <a:avLst/>
          </a:prstGeom>
        </p:spPr>
      </p:pic>
      <p:pic>
        <p:nvPicPr>
          <p:cNvPr id="11" name="Picture 10" descr="image.png"/>
          <p:cNvPicPr>
            <a:picLocks noChangeAspect="1"/>
          </p:cNvPicPr>
          <p:nvPr/>
        </p:nvPicPr>
        <p:blipFill>
          <a:blip r:embed="rId5"/>
          <a:stretch>
            <a:fillRect/>
          </a:stretch>
        </p:blipFill>
        <p:spPr>
          <a:xfrm>
            <a:off x="6724650" y="2853779"/>
            <a:ext cx="266700" cy="266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660302"/>
            <a:ext cx="3429000" cy="3655516"/>
          </a:xfrm>
          <a:prstGeom prst="rect">
            <a:avLst/>
          </a:prstGeom>
        </p:spPr>
      </p:pic>
      <p:pic>
        <p:nvPicPr>
          <p:cNvPr id="3" name="Picture 2" descr="image.png"/>
          <p:cNvPicPr>
            <a:picLocks noChangeAspect="1"/>
          </p:cNvPicPr>
          <p:nvPr/>
        </p:nvPicPr>
        <p:blipFill>
          <a:blip r:embed="rId3"/>
          <a:stretch>
            <a:fillRect/>
          </a:stretch>
        </p:blipFill>
        <p:spPr>
          <a:xfrm>
            <a:off x="4381500" y="2660302"/>
            <a:ext cx="3429000" cy="3655516"/>
          </a:xfrm>
          <a:prstGeom prst="rect">
            <a:avLst/>
          </a:prstGeom>
        </p:spPr>
      </p:pic>
      <p:pic>
        <p:nvPicPr>
          <p:cNvPr id="4" name="Picture 3" descr="image.png"/>
          <p:cNvPicPr>
            <a:picLocks noChangeAspect="1"/>
          </p:cNvPicPr>
          <p:nvPr/>
        </p:nvPicPr>
        <p:blipFill>
          <a:blip r:embed="rId4"/>
          <a:stretch>
            <a:fillRect/>
          </a:stretch>
        </p:blipFill>
        <p:spPr>
          <a:xfrm>
            <a:off x="8191500" y="2660302"/>
            <a:ext cx="3429000" cy="3655516"/>
          </a:xfrm>
          <a:prstGeom prst="rect">
            <a:avLst/>
          </a:prstGeom>
        </p:spPr>
      </p:pic>
      <p:sp>
        <p:nvSpPr>
          <p:cNvPr id="5" name="TextBox 4"/>
          <p:cNvSpPr txBox="1"/>
          <p:nvPr/>
        </p:nvSpPr>
        <p:spPr>
          <a:xfrm>
            <a:off x="571500" y="542180"/>
            <a:ext cx="11601450" cy="590550"/>
          </a:xfrm>
          <a:prstGeom prst="rect">
            <a:avLst/>
          </a:prstGeom>
          <a:noFill/>
        </p:spPr>
        <p:txBody>
          <a:bodyPr wrap="square" lIns="0" tIns="0" rIns="0" bIns="0" anchor="t">
            <a:spAutoFit/>
          </a:bodyPr>
          <a:lstStyle/>
          <a:p>
            <a:pPr algn="l"/>
            <a:r>
              <a:rPr sz="3000" b="0" i="0" u="none">
                <a:solidFill>
                  <a:srgbClr val="F8FAFC"/>
                </a:solidFill>
                <a:latin typeface="Poppins SemiBold"/>
              </a:rPr>
              <a:t>The </a:t>
            </a:r>
            <a:r>
              <a:rPr sz="3000" b="0" i="0" u="none">
                <a:solidFill>
                  <a:srgbClr val="10B981"/>
                </a:solidFill>
                <a:latin typeface="Poppins SemiBold"/>
              </a:rPr>
              <a:t>Solution</a:t>
            </a:r>
          </a:p>
        </p:txBody>
      </p:sp>
      <p:sp>
        <p:nvSpPr>
          <p:cNvPr id="6" name="Rectangle 5"/>
          <p:cNvSpPr/>
          <p:nvPr/>
        </p:nvSpPr>
        <p:spPr>
          <a:xfrm>
            <a:off x="571500" y="1208930"/>
            <a:ext cx="11049000" cy="19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09750" y="1608980"/>
            <a:ext cx="8572500" cy="670321"/>
          </a:xfrm>
          <a:prstGeom prst="rect">
            <a:avLst/>
          </a:prstGeom>
          <a:noFill/>
        </p:spPr>
        <p:txBody>
          <a:bodyPr wrap="square" lIns="0" tIns="0" rIns="0" bIns="0" anchor="t">
            <a:spAutoFit/>
          </a:bodyPr>
          <a:lstStyle/>
          <a:p>
            <a:pPr algn="ctr">
              <a:lnSpc>
                <a:spcPts val="2640"/>
              </a:lnSpc>
            </a:pPr>
            <a:r>
              <a:rPr sz="1650" b="0" i="0" u="none">
                <a:solidFill>
                  <a:srgbClr val="CBD5E1"/>
                </a:solidFill>
                <a:latin typeface="Lato"/>
              </a:rPr>
              <a:t>Instead of moving the data to the intelligence, we move the intelligence to the data. This creates a secure, fast, and highly private defense grid.</a:t>
            </a:r>
          </a:p>
        </p:txBody>
      </p:sp>
      <p:sp>
        <p:nvSpPr>
          <p:cNvPr id="8" name="TextBox 7"/>
          <p:cNvSpPr txBox="1"/>
          <p:nvPr/>
        </p:nvSpPr>
        <p:spPr>
          <a:xfrm>
            <a:off x="1250870" y="3689002"/>
            <a:ext cx="2070258" cy="400050"/>
          </a:xfrm>
          <a:prstGeom prst="rect">
            <a:avLst/>
          </a:prstGeom>
          <a:noFill/>
        </p:spPr>
        <p:txBody>
          <a:bodyPr wrap="square" lIns="0" tIns="0" rIns="0" bIns="0" anchor="t">
            <a:spAutoFit/>
          </a:bodyPr>
          <a:lstStyle/>
          <a:p>
            <a:pPr algn="ctr"/>
            <a:r>
              <a:rPr sz="2100" b="0" i="0" u="none">
                <a:solidFill>
                  <a:srgbClr val="F8FAFC"/>
                </a:solidFill>
                <a:latin typeface="Poppins SemiBold"/>
              </a:rPr>
              <a:t>Local Learning</a:t>
            </a:r>
          </a:p>
        </p:txBody>
      </p:sp>
      <p:sp>
        <p:nvSpPr>
          <p:cNvPr id="9" name="TextBox 8"/>
          <p:cNvSpPr txBox="1"/>
          <p:nvPr/>
        </p:nvSpPr>
        <p:spPr>
          <a:xfrm>
            <a:off x="866775" y="4231927"/>
            <a:ext cx="2838450" cy="1645741"/>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Every drone and smart city sensor acts as its own detective. They learn to spot anomalous behavior and cyber threats locally on the device, ensuring raw, private data never leaves the hardware.</a:t>
            </a:r>
          </a:p>
        </p:txBody>
      </p:sp>
      <p:sp>
        <p:nvSpPr>
          <p:cNvPr id="10" name="TextBox 9"/>
          <p:cNvSpPr txBox="1"/>
          <p:nvPr/>
        </p:nvSpPr>
        <p:spPr>
          <a:xfrm>
            <a:off x="4755832" y="3689002"/>
            <a:ext cx="2680335" cy="400050"/>
          </a:xfrm>
          <a:prstGeom prst="rect">
            <a:avLst/>
          </a:prstGeom>
          <a:noFill/>
        </p:spPr>
        <p:txBody>
          <a:bodyPr wrap="square" lIns="0" tIns="0" rIns="0" bIns="0" anchor="t">
            <a:spAutoFit/>
          </a:bodyPr>
          <a:lstStyle/>
          <a:p>
            <a:pPr algn="ctr"/>
            <a:r>
              <a:rPr sz="2100" b="0" i="0" u="none">
                <a:solidFill>
                  <a:srgbClr val="F8FAFC"/>
                </a:solidFill>
                <a:latin typeface="Poppins SemiBold"/>
              </a:rPr>
              <a:t>Shared Knowledge</a:t>
            </a:r>
          </a:p>
        </p:txBody>
      </p:sp>
      <p:sp>
        <p:nvSpPr>
          <p:cNvPr id="11" name="TextBox 10"/>
          <p:cNvSpPr txBox="1"/>
          <p:nvPr/>
        </p:nvSpPr>
        <p:spPr>
          <a:xfrm>
            <a:off x="4676775" y="4231927"/>
            <a:ext cx="2838450" cy="1645741"/>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Instead of sharing their data, devices only share the "lessons" they learned. They encrypt these insights and send them to a coordinator, maintaining complete privacy while contributing to the team.</a:t>
            </a:r>
          </a:p>
        </p:txBody>
      </p:sp>
      <p:sp>
        <p:nvSpPr>
          <p:cNvPr id="12" name="TextBox 11"/>
          <p:cNvSpPr txBox="1"/>
          <p:nvPr/>
        </p:nvSpPr>
        <p:spPr>
          <a:xfrm>
            <a:off x="8910875" y="3689002"/>
            <a:ext cx="1990248" cy="400050"/>
          </a:xfrm>
          <a:prstGeom prst="rect">
            <a:avLst/>
          </a:prstGeom>
          <a:noFill/>
        </p:spPr>
        <p:txBody>
          <a:bodyPr wrap="square" lIns="0" tIns="0" rIns="0" bIns="0" anchor="t">
            <a:spAutoFit/>
          </a:bodyPr>
          <a:lstStyle/>
          <a:p>
            <a:pPr algn="ctr"/>
            <a:r>
              <a:rPr sz="2100" b="0" i="0" u="none">
                <a:solidFill>
                  <a:srgbClr val="F8FAFC"/>
                </a:solidFill>
                <a:latin typeface="Poppins SemiBold"/>
              </a:rPr>
              <a:t>The Hive Mind</a:t>
            </a:r>
          </a:p>
        </p:txBody>
      </p:sp>
      <p:sp>
        <p:nvSpPr>
          <p:cNvPr id="13" name="TextBox 12"/>
          <p:cNvSpPr txBox="1"/>
          <p:nvPr/>
        </p:nvSpPr>
        <p:spPr>
          <a:xfrm>
            <a:off x="8486775" y="4231927"/>
            <a:ext cx="2838450" cy="1645741"/>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The central hub merges everyone's lessons together to create a master defense strategy. This updated intelligence is sent back out, making every single device immune to an attack experienced by just one.</a:t>
            </a:r>
          </a:p>
        </p:txBody>
      </p:sp>
      <p:pic>
        <p:nvPicPr>
          <p:cNvPr id="14" name="Picture 13" descr="image.png"/>
          <p:cNvPicPr>
            <a:picLocks noChangeAspect="1"/>
          </p:cNvPicPr>
          <p:nvPr/>
        </p:nvPicPr>
        <p:blipFill>
          <a:blip r:embed="rId5"/>
          <a:stretch>
            <a:fillRect/>
          </a:stretch>
        </p:blipFill>
        <p:spPr>
          <a:xfrm>
            <a:off x="2057400" y="3003202"/>
            <a:ext cx="457200" cy="457200"/>
          </a:xfrm>
          <a:prstGeom prst="rect">
            <a:avLst/>
          </a:prstGeom>
        </p:spPr>
      </p:pic>
      <p:pic>
        <p:nvPicPr>
          <p:cNvPr id="15" name="Picture 14" descr="image.png"/>
          <p:cNvPicPr>
            <a:picLocks noChangeAspect="1"/>
          </p:cNvPicPr>
          <p:nvPr/>
        </p:nvPicPr>
        <p:blipFill>
          <a:blip r:embed="rId6"/>
          <a:stretch>
            <a:fillRect/>
          </a:stretch>
        </p:blipFill>
        <p:spPr>
          <a:xfrm>
            <a:off x="5895975" y="3003202"/>
            <a:ext cx="400050" cy="457200"/>
          </a:xfrm>
          <a:prstGeom prst="rect">
            <a:avLst/>
          </a:prstGeom>
        </p:spPr>
      </p:pic>
      <p:pic>
        <p:nvPicPr>
          <p:cNvPr id="16" name="Picture 15" descr="image.png"/>
          <p:cNvPicPr>
            <a:picLocks noChangeAspect="1"/>
          </p:cNvPicPr>
          <p:nvPr/>
        </p:nvPicPr>
        <p:blipFill>
          <a:blip r:embed="rId7"/>
          <a:stretch>
            <a:fillRect/>
          </a:stretch>
        </p:blipFill>
        <p:spPr>
          <a:xfrm>
            <a:off x="9677400" y="3003202"/>
            <a:ext cx="4572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2949773"/>
            <a:ext cx="11029950" cy="3200400"/>
          </a:xfrm>
          <a:prstGeom prst="rect">
            <a:avLst/>
          </a:prstGeom>
        </p:spPr>
      </p:pic>
      <p:pic>
        <p:nvPicPr>
          <p:cNvPr id="3" name="Picture 2" descr="image.png"/>
          <p:cNvPicPr>
            <a:picLocks noChangeAspect="1"/>
          </p:cNvPicPr>
          <p:nvPr/>
        </p:nvPicPr>
        <p:blipFill>
          <a:blip r:embed="rId3"/>
          <a:stretch>
            <a:fillRect/>
          </a:stretch>
        </p:blipFill>
        <p:spPr>
          <a:xfrm>
            <a:off x="971550" y="3340298"/>
            <a:ext cx="2440185" cy="523875"/>
          </a:xfrm>
          <a:prstGeom prst="rect">
            <a:avLst/>
          </a:prstGeom>
        </p:spPr>
      </p:pic>
      <p:pic>
        <p:nvPicPr>
          <p:cNvPr id="4" name="Picture 3" descr="image.png"/>
          <p:cNvPicPr>
            <a:picLocks noChangeAspect="1"/>
          </p:cNvPicPr>
          <p:nvPr/>
        </p:nvPicPr>
        <p:blipFill>
          <a:blip r:embed="rId4"/>
          <a:stretch>
            <a:fillRect/>
          </a:stretch>
        </p:blipFill>
        <p:spPr>
          <a:xfrm>
            <a:off x="971550" y="4054673"/>
            <a:ext cx="2440185" cy="523875"/>
          </a:xfrm>
          <a:prstGeom prst="rect">
            <a:avLst/>
          </a:prstGeom>
        </p:spPr>
      </p:pic>
      <p:pic>
        <p:nvPicPr>
          <p:cNvPr id="5" name="Picture 4" descr="image.png"/>
          <p:cNvPicPr>
            <a:picLocks noChangeAspect="1"/>
          </p:cNvPicPr>
          <p:nvPr/>
        </p:nvPicPr>
        <p:blipFill>
          <a:blip r:embed="rId5"/>
          <a:stretch>
            <a:fillRect/>
          </a:stretch>
        </p:blipFill>
        <p:spPr>
          <a:xfrm>
            <a:off x="971550" y="5235773"/>
            <a:ext cx="2440185" cy="523875"/>
          </a:xfrm>
          <a:prstGeom prst="rect">
            <a:avLst/>
          </a:prstGeom>
        </p:spPr>
      </p:pic>
      <p:sp>
        <p:nvSpPr>
          <p:cNvPr id="6" name="TextBox 5"/>
          <p:cNvSpPr txBox="1"/>
          <p:nvPr/>
        </p:nvSpPr>
        <p:spPr>
          <a:xfrm>
            <a:off x="581025" y="485775"/>
            <a:ext cx="11581447" cy="552450"/>
          </a:xfrm>
          <a:prstGeom prst="rect">
            <a:avLst/>
          </a:prstGeom>
          <a:noFill/>
        </p:spPr>
        <p:txBody>
          <a:bodyPr wrap="square" lIns="0" tIns="0" rIns="0" bIns="0" anchor="t">
            <a:spAutoFit/>
          </a:bodyPr>
          <a:lstStyle/>
          <a:p>
            <a:pPr algn="l"/>
            <a:r>
              <a:rPr sz="3450" b="1" i="0" u="none">
                <a:solidFill>
                  <a:srgbClr val="F8FAFC"/>
                </a:solidFill>
                <a:latin typeface="Urbanist"/>
              </a:rPr>
              <a:t>Technical </a:t>
            </a:r>
            <a:r>
              <a:rPr sz="3450" b="1" i="0" u="none">
                <a:solidFill>
                  <a:srgbClr val="10B981"/>
                </a:solidFill>
                <a:latin typeface="Urbanist"/>
              </a:rPr>
              <a:t>Architecture</a:t>
            </a:r>
          </a:p>
        </p:txBody>
      </p:sp>
      <p:sp>
        <p:nvSpPr>
          <p:cNvPr id="7" name="Rectangle 6"/>
          <p:cNvSpPr/>
          <p:nvPr/>
        </p:nvSpPr>
        <p:spPr>
          <a:xfrm>
            <a:off x="581025" y="1162050"/>
            <a:ext cx="11029950" cy="1905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1025" y="1993701"/>
            <a:ext cx="11029950" cy="670321"/>
          </a:xfrm>
          <a:prstGeom prst="rect">
            <a:avLst/>
          </a:prstGeom>
          <a:noFill/>
        </p:spPr>
        <p:txBody>
          <a:bodyPr wrap="square" lIns="0" tIns="0" rIns="0" bIns="0" anchor="t">
            <a:spAutoFit/>
          </a:bodyPr>
          <a:lstStyle/>
          <a:p>
            <a:pPr algn="l">
              <a:lnSpc>
                <a:spcPts val="2640"/>
              </a:lnSpc>
            </a:pPr>
            <a:r>
              <a:rPr sz="1650" b="0" i="0" u="none">
                <a:solidFill>
                  <a:srgbClr val="94A3B8"/>
                </a:solidFill>
                <a:latin typeface="Inter"/>
              </a:rPr>
              <a:t>A highly secure, scalable framework using </a:t>
            </a:r>
            <a:r>
              <a:rPr sz="1650" b="0" i="0" u="none">
                <a:solidFill>
                  <a:srgbClr val="E2E8F0"/>
                </a:solidFill>
                <a:latin typeface="Inter SemiBold"/>
              </a:rPr>
              <a:t>Federated Learning (FedAvg)</a:t>
            </a:r>
            <a:r>
              <a:rPr sz="1650" b="0" i="0" u="none">
                <a:solidFill>
                  <a:srgbClr val="94A3B8"/>
                </a:solidFill>
                <a:latin typeface="Inter"/>
              </a:rPr>
              <a:t> and </a:t>
            </a:r>
            <a:r>
              <a:rPr sz="1650" b="0" i="0" u="none">
                <a:solidFill>
                  <a:srgbClr val="E2E8F0"/>
                </a:solidFill>
                <a:latin typeface="Inter SemiBold"/>
              </a:rPr>
              <a:t>Post-Quantum Cryptography</a:t>
            </a:r>
            <a:r>
              <a:rPr sz="1650" b="0" i="0" u="none">
                <a:solidFill>
                  <a:srgbClr val="94A3B8"/>
                </a:solidFill>
                <a:latin typeface="Inter"/>
              </a:rPr>
              <a:t> to fuse local neural network models into a global defense shield.</a:t>
            </a:r>
          </a:p>
        </p:txBody>
      </p:sp>
      <p:sp>
        <p:nvSpPr>
          <p:cNvPr id="9" name="TextBox 8"/>
          <p:cNvSpPr txBox="1"/>
          <p:nvPr/>
        </p:nvSpPr>
        <p:spPr>
          <a:xfrm>
            <a:off x="5654719" y="3190083"/>
            <a:ext cx="882109" cy="323165"/>
          </a:xfrm>
          <a:prstGeom prst="rect">
            <a:avLst/>
          </a:prstGeom>
          <a:noFill/>
        </p:spPr>
        <p:txBody>
          <a:bodyPr wrap="square" lIns="0" tIns="0" rIns="0" bIns="0" anchor="ctr">
            <a:spAutoFit/>
          </a:bodyPr>
          <a:lstStyle/>
          <a:p>
            <a:pPr algn="l"/>
            <a:r>
              <a:rPr sz="1050" b="0" i="0" u="none">
                <a:solidFill>
                  <a:srgbClr val="64748B"/>
                </a:solidFill>
                <a:latin typeface="Inter"/>
              </a:rPr>
              <a:t>Local Weights Global Model</a:t>
            </a:r>
          </a:p>
        </p:txBody>
      </p:sp>
      <p:pic>
        <p:nvPicPr>
          <p:cNvPr id="10" name="Picture 9" descr="image.png"/>
          <p:cNvPicPr>
            <a:picLocks noChangeAspect="1"/>
          </p:cNvPicPr>
          <p:nvPr/>
        </p:nvPicPr>
        <p:blipFill>
          <a:blip r:embed="rId6"/>
          <a:stretch>
            <a:fillRect/>
          </a:stretch>
        </p:blipFill>
        <p:spPr>
          <a:xfrm>
            <a:off x="3902719" y="4045148"/>
            <a:ext cx="238125" cy="266700"/>
          </a:xfrm>
          <a:prstGeom prst="rect">
            <a:avLst/>
          </a:prstGeom>
        </p:spPr>
      </p:pic>
      <p:pic>
        <p:nvPicPr>
          <p:cNvPr id="11" name="Picture 10" descr="image.png"/>
          <p:cNvPicPr>
            <a:picLocks noChangeAspect="1"/>
          </p:cNvPicPr>
          <p:nvPr/>
        </p:nvPicPr>
        <p:blipFill>
          <a:blip r:embed="rId7"/>
          <a:stretch>
            <a:fillRect/>
          </a:stretch>
        </p:blipFill>
        <p:spPr>
          <a:xfrm>
            <a:off x="3936057" y="4454723"/>
            <a:ext cx="171450" cy="190500"/>
          </a:xfrm>
          <a:prstGeom prst="rect">
            <a:avLst/>
          </a:prstGeom>
        </p:spPr>
      </p:pic>
      <p:pic>
        <p:nvPicPr>
          <p:cNvPr id="12" name="Picture 11" descr="image.png"/>
          <p:cNvPicPr>
            <a:picLocks noChangeAspect="1"/>
          </p:cNvPicPr>
          <p:nvPr/>
        </p:nvPicPr>
        <p:blipFill>
          <a:blip r:embed="rId8"/>
          <a:stretch>
            <a:fillRect/>
          </a:stretch>
        </p:blipFill>
        <p:spPr>
          <a:xfrm>
            <a:off x="3902719" y="4788098"/>
            <a:ext cx="238125" cy="266700"/>
          </a:xfrm>
          <a:prstGeom prst="rect">
            <a:avLst/>
          </a:prstGeom>
        </p:spPr>
      </p:pic>
      <p:pic>
        <p:nvPicPr>
          <p:cNvPr id="13" name="Picture 12" descr="image.png"/>
          <p:cNvPicPr>
            <a:picLocks noChangeAspect="1"/>
          </p:cNvPicPr>
          <p:nvPr/>
        </p:nvPicPr>
        <p:blipFill>
          <a:blip r:embed="rId9"/>
          <a:stretch>
            <a:fillRect/>
          </a:stretch>
        </p:blipFill>
        <p:spPr>
          <a:xfrm>
            <a:off x="4631828" y="3926085"/>
            <a:ext cx="2928193" cy="1247775"/>
          </a:xfrm>
          <a:prstGeom prst="rect">
            <a:avLst/>
          </a:prstGeom>
        </p:spPr>
      </p:pic>
      <p:pic>
        <p:nvPicPr>
          <p:cNvPr id="14" name="Picture 13" descr="image.png"/>
          <p:cNvPicPr>
            <a:picLocks noChangeAspect="1"/>
          </p:cNvPicPr>
          <p:nvPr/>
        </p:nvPicPr>
        <p:blipFill>
          <a:blip r:embed="rId10"/>
          <a:stretch>
            <a:fillRect/>
          </a:stretch>
        </p:blipFill>
        <p:spPr>
          <a:xfrm>
            <a:off x="8051006" y="4259460"/>
            <a:ext cx="238125" cy="266700"/>
          </a:xfrm>
          <a:prstGeom prst="rect">
            <a:avLst/>
          </a:prstGeom>
        </p:spPr>
      </p:pic>
      <p:pic>
        <p:nvPicPr>
          <p:cNvPr id="15" name="Picture 14" descr="image.png"/>
          <p:cNvPicPr>
            <a:picLocks noChangeAspect="1"/>
          </p:cNvPicPr>
          <p:nvPr/>
        </p:nvPicPr>
        <p:blipFill>
          <a:blip r:embed="rId11"/>
          <a:stretch>
            <a:fillRect/>
          </a:stretch>
        </p:blipFill>
        <p:spPr>
          <a:xfrm>
            <a:off x="8051006" y="4573785"/>
            <a:ext cx="238125" cy="266700"/>
          </a:xfrm>
          <a:prstGeom prst="rect">
            <a:avLst/>
          </a:prstGeom>
        </p:spPr>
      </p:pic>
      <p:pic>
        <p:nvPicPr>
          <p:cNvPr id="16" name="Picture 15" descr="image.png"/>
          <p:cNvPicPr>
            <a:picLocks noChangeAspect="1"/>
          </p:cNvPicPr>
          <p:nvPr/>
        </p:nvPicPr>
        <p:blipFill>
          <a:blip r:embed="rId12"/>
          <a:stretch>
            <a:fillRect/>
          </a:stretch>
        </p:blipFill>
        <p:spPr>
          <a:xfrm>
            <a:off x="8780115" y="3640335"/>
            <a:ext cx="2440185" cy="1819275"/>
          </a:xfrm>
          <a:prstGeom prst="rect">
            <a:avLst/>
          </a:prstGeom>
        </p:spPr>
      </p:pic>
      <p:pic>
        <p:nvPicPr>
          <p:cNvPr id="17" name="Picture 16" descr="image.png"/>
          <p:cNvPicPr>
            <a:picLocks noChangeAspect="1"/>
          </p:cNvPicPr>
          <p:nvPr/>
        </p:nvPicPr>
        <p:blipFill>
          <a:blip r:embed="rId13"/>
          <a:stretch>
            <a:fillRect/>
          </a:stretch>
        </p:blipFill>
        <p:spPr>
          <a:xfrm>
            <a:off x="1154953" y="3515128"/>
            <a:ext cx="171450" cy="171450"/>
          </a:xfrm>
          <a:prstGeom prst="rect">
            <a:avLst/>
          </a:prstGeom>
        </p:spPr>
      </p:pic>
      <p:pic>
        <p:nvPicPr>
          <p:cNvPr id="18" name="Picture 17" descr="image.png"/>
          <p:cNvPicPr>
            <a:picLocks noChangeAspect="1"/>
          </p:cNvPicPr>
          <p:nvPr/>
        </p:nvPicPr>
        <p:blipFill>
          <a:blip r:embed="rId14"/>
          <a:stretch>
            <a:fillRect/>
          </a:stretch>
        </p:blipFill>
        <p:spPr>
          <a:xfrm>
            <a:off x="1157566" y="4241793"/>
            <a:ext cx="171450" cy="171450"/>
          </a:xfrm>
          <a:prstGeom prst="rect">
            <a:avLst/>
          </a:prstGeom>
        </p:spPr>
      </p:pic>
      <p:pic>
        <p:nvPicPr>
          <p:cNvPr id="19" name="Picture 18" descr="image.png"/>
          <p:cNvPicPr>
            <a:picLocks noChangeAspect="1"/>
          </p:cNvPicPr>
          <p:nvPr/>
        </p:nvPicPr>
        <p:blipFill>
          <a:blip r:embed="rId15"/>
          <a:stretch>
            <a:fillRect/>
          </a:stretch>
        </p:blipFill>
        <p:spPr>
          <a:xfrm>
            <a:off x="2163067" y="4788098"/>
            <a:ext cx="57150" cy="228600"/>
          </a:xfrm>
          <a:prstGeom prst="rect">
            <a:avLst/>
          </a:prstGeom>
        </p:spPr>
      </p:pic>
      <p:pic>
        <p:nvPicPr>
          <p:cNvPr id="20" name="Picture 19" descr="image.png"/>
          <p:cNvPicPr>
            <a:picLocks noChangeAspect="1"/>
          </p:cNvPicPr>
          <p:nvPr/>
        </p:nvPicPr>
        <p:blipFill>
          <a:blip r:embed="rId14"/>
          <a:stretch>
            <a:fillRect/>
          </a:stretch>
        </p:blipFill>
        <p:spPr>
          <a:xfrm>
            <a:off x="1157566" y="5410603"/>
            <a:ext cx="171450" cy="171450"/>
          </a:xfrm>
          <a:prstGeom prst="rect">
            <a:avLst/>
          </a:prstGeom>
        </p:spPr>
      </p:pic>
      <p:pic>
        <p:nvPicPr>
          <p:cNvPr id="21" name="Picture 20" descr="image.png"/>
          <p:cNvPicPr>
            <a:picLocks noChangeAspect="1"/>
          </p:cNvPicPr>
          <p:nvPr/>
        </p:nvPicPr>
        <p:blipFill>
          <a:blip r:embed="rId16"/>
          <a:stretch>
            <a:fillRect/>
          </a:stretch>
        </p:blipFill>
        <p:spPr>
          <a:xfrm>
            <a:off x="5995838" y="4088010"/>
            <a:ext cx="200025" cy="228600"/>
          </a:xfrm>
          <a:prstGeom prst="rect">
            <a:avLst/>
          </a:prstGeom>
        </p:spPr>
      </p:pic>
      <p:sp>
        <p:nvSpPr>
          <p:cNvPr id="22" name="TextBox 21"/>
          <p:cNvSpPr txBox="1"/>
          <p:nvPr/>
        </p:nvSpPr>
        <p:spPr>
          <a:xfrm>
            <a:off x="5167163" y="4411860"/>
            <a:ext cx="1857375" cy="200025"/>
          </a:xfrm>
          <a:prstGeom prst="rect">
            <a:avLst/>
          </a:prstGeom>
          <a:noFill/>
        </p:spPr>
        <p:txBody>
          <a:bodyPr wrap="square" lIns="0" tIns="0" rIns="0" bIns="0" anchor="t">
            <a:spAutoFit/>
          </a:bodyPr>
          <a:lstStyle/>
          <a:p>
            <a:pPr algn="ctr"/>
            <a:r>
              <a:rPr sz="1350" b="0" i="0" u="none">
                <a:solidFill>
                  <a:srgbClr val="E2E8F0"/>
                </a:solidFill>
                <a:latin typeface="Inter SemiBold"/>
              </a:rPr>
              <a:t>Secure PQC Transport</a:t>
            </a:r>
          </a:p>
        </p:txBody>
      </p:sp>
      <p:sp>
        <p:nvSpPr>
          <p:cNvPr id="23" name="TextBox 22"/>
          <p:cNvSpPr txBox="1"/>
          <p:nvPr/>
        </p:nvSpPr>
        <p:spPr>
          <a:xfrm>
            <a:off x="4957613" y="4640460"/>
            <a:ext cx="2276475" cy="361950"/>
          </a:xfrm>
          <a:prstGeom prst="rect">
            <a:avLst/>
          </a:prstGeom>
          <a:noFill/>
        </p:spPr>
        <p:txBody>
          <a:bodyPr wrap="square" lIns="0" tIns="0" rIns="0" bIns="0" anchor="t">
            <a:spAutoFit/>
          </a:bodyPr>
          <a:lstStyle/>
          <a:p>
            <a:pPr algn="ctr"/>
            <a:r>
              <a:rPr sz="1050" b="0" i="0" u="none">
                <a:solidFill>
                  <a:srgbClr val="94A3B8"/>
                </a:solidFill>
                <a:latin typeface="Inter SemiBold"/>
              </a:rPr>
              <a:t>ML-KEM-768 / AES-256-GCM / ML-DSA-65</a:t>
            </a:r>
          </a:p>
        </p:txBody>
      </p:sp>
      <p:pic>
        <p:nvPicPr>
          <p:cNvPr id="24" name="Picture 23" descr="image.png"/>
          <p:cNvPicPr>
            <a:picLocks noChangeAspect="1"/>
          </p:cNvPicPr>
          <p:nvPr/>
        </p:nvPicPr>
        <p:blipFill>
          <a:blip r:embed="rId17"/>
          <a:stretch>
            <a:fillRect/>
          </a:stretch>
        </p:blipFill>
        <p:spPr>
          <a:xfrm>
            <a:off x="9809708" y="4040385"/>
            <a:ext cx="381000" cy="381000"/>
          </a:xfrm>
          <a:prstGeom prst="rect">
            <a:avLst/>
          </a:prstGeom>
        </p:spPr>
      </p:pic>
      <p:sp>
        <p:nvSpPr>
          <p:cNvPr id="25" name="TextBox 24"/>
          <p:cNvSpPr txBox="1"/>
          <p:nvPr/>
        </p:nvSpPr>
        <p:spPr>
          <a:xfrm>
            <a:off x="9004845" y="4564260"/>
            <a:ext cx="1990725" cy="247650"/>
          </a:xfrm>
          <a:prstGeom prst="rect">
            <a:avLst/>
          </a:prstGeom>
          <a:noFill/>
        </p:spPr>
        <p:txBody>
          <a:bodyPr wrap="square" lIns="0" tIns="0" rIns="0" bIns="0" anchor="t">
            <a:spAutoFit/>
          </a:bodyPr>
          <a:lstStyle/>
          <a:p>
            <a:pPr algn="ctr"/>
            <a:r>
              <a:rPr sz="1650" b="0" i="0" u="none">
                <a:solidFill>
                  <a:srgbClr val="E2E8F0"/>
                </a:solidFill>
                <a:latin typeface="Inter SemiBold"/>
              </a:rPr>
              <a:t>Aggregation Server</a:t>
            </a:r>
          </a:p>
        </p:txBody>
      </p:sp>
      <p:sp>
        <p:nvSpPr>
          <p:cNvPr id="26" name="TextBox 25"/>
          <p:cNvSpPr txBox="1"/>
          <p:nvPr/>
        </p:nvSpPr>
        <p:spPr>
          <a:xfrm>
            <a:off x="9200108" y="4859535"/>
            <a:ext cx="1600200" cy="190500"/>
          </a:xfrm>
          <a:prstGeom prst="rect">
            <a:avLst/>
          </a:prstGeom>
          <a:noFill/>
        </p:spPr>
        <p:txBody>
          <a:bodyPr wrap="square" lIns="0" tIns="0" rIns="0" bIns="0" anchor="t">
            <a:spAutoFit/>
          </a:bodyPr>
          <a:lstStyle/>
          <a:p>
            <a:pPr algn="ctr"/>
            <a:r>
              <a:rPr sz="1200" b="0" i="0" u="none">
                <a:solidFill>
                  <a:srgbClr val="94A3B8"/>
                </a:solidFill>
                <a:latin typeface="Inter"/>
              </a:rPr>
              <a:t>(Federated Averaging)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2833687"/>
            <a:ext cx="11029950" cy="3048000"/>
          </a:xfrm>
          <a:prstGeom prst="rect">
            <a:avLst/>
          </a:prstGeom>
        </p:spPr>
      </p:pic>
      <p:sp>
        <p:nvSpPr>
          <p:cNvPr id="3" name="TextBox 2"/>
          <p:cNvSpPr txBox="1"/>
          <p:nvPr/>
        </p:nvSpPr>
        <p:spPr>
          <a:xfrm>
            <a:off x="581025" y="581025"/>
            <a:ext cx="11581447" cy="581025"/>
          </a:xfrm>
          <a:prstGeom prst="rect">
            <a:avLst/>
          </a:prstGeom>
          <a:noFill/>
        </p:spPr>
        <p:txBody>
          <a:bodyPr wrap="square" lIns="0" tIns="0" rIns="0" bIns="0" anchor="t">
            <a:spAutoFit/>
          </a:bodyPr>
          <a:lstStyle/>
          <a:p>
            <a:pPr algn="l"/>
            <a:r>
              <a:rPr sz="3600" b="1" i="0" u="none">
                <a:solidFill>
                  <a:srgbClr val="10B981"/>
                </a:solidFill>
                <a:latin typeface="Space Grotesk"/>
              </a:rPr>
              <a:t>Validation &amp; </a:t>
            </a:r>
            <a:r>
              <a:rPr sz="3600" b="1" i="0" u="none">
                <a:solidFill>
                  <a:srgbClr val="F8FAFC"/>
                </a:solidFill>
                <a:latin typeface="Space Grotesk"/>
              </a:rPr>
              <a:t>Deployment Status</a:t>
            </a:r>
          </a:p>
        </p:txBody>
      </p:sp>
      <p:sp>
        <p:nvSpPr>
          <p:cNvPr id="4" name="TextBox 3"/>
          <p:cNvSpPr txBox="1"/>
          <p:nvPr/>
        </p:nvSpPr>
        <p:spPr>
          <a:xfrm>
            <a:off x="581025" y="1938337"/>
            <a:ext cx="11029950" cy="6096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Both deployment domains have successfully passed rigorous validation gates and exhibit exceptional threat detection capabilities without exposing raw data.</a:t>
            </a:r>
          </a:p>
        </p:txBody>
      </p:sp>
      <p:graphicFrame>
        <p:nvGraphicFramePr>
          <p:cNvPr id="5" name="Table 4"/>
          <p:cNvGraphicFramePr>
            <a:graphicFrameLocks noGrp="1"/>
          </p:cNvGraphicFramePr>
          <p:nvPr/>
        </p:nvGraphicFramePr>
        <p:xfrm>
          <a:off x="590550" y="2843212"/>
          <a:ext cx="11010897" cy="3028950"/>
        </p:xfrm>
        <a:graphic>
          <a:graphicData uri="http://schemas.openxmlformats.org/drawingml/2006/table">
            <a:tbl>
              <a:tblPr firstRow="1" bandRow="1">
                <a:tableStyleId>{5C22544A-7EE6-4342-B048-85BDC9FD1C3A}</a:tableStyleId>
              </a:tblPr>
              <a:tblGrid>
                <a:gridCol w="2464891">
                  <a:extLst>
                    <a:ext uri="{9D8B030D-6E8A-4147-A177-3AD203B41FA5}">
                      <a16:colId xmlns:a16="http://schemas.microsoft.com/office/drawing/2014/main" val="20000"/>
                    </a:ext>
                  </a:extLst>
                </a:gridCol>
                <a:gridCol w="2104876">
                  <a:extLst>
                    <a:ext uri="{9D8B030D-6E8A-4147-A177-3AD203B41FA5}">
                      <a16:colId xmlns:a16="http://schemas.microsoft.com/office/drawing/2014/main" val="20001"/>
                    </a:ext>
                  </a:extLst>
                </a:gridCol>
                <a:gridCol w="1716434">
                  <a:extLst>
                    <a:ext uri="{9D8B030D-6E8A-4147-A177-3AD203B41FA5}">
                      <a16:colId xmlns:a16="http://schemas.microsoft.com/office/drawing/2014/main" val="20002"/>
                    </a:ext>
                  </a:extLst>
                </a:gridCol>
                <a:gridCol w="2313086">
                  <a:extLst>
                    <a:ext uri="{9D8B030D-6E8A-4147-A177-3AD203B41FA5}">
                      <a16:colId xmlns:a16="http://schemas.microsoft.com/office/drawing/2014/main" val="20003"/>
                    </a:ext>
                  </a:extLst>
                </a:gridCol>
                <a:gridCol w="2411610">
                  <a:extLst>
                    <a:ext uri="{9D8B030D-6E8A-4147-A177-3AD203B41FA5}">
                      <a16:colId xmlns:a16="http://schemas.microsoft.com/office/drawing/2014/main" val="20004"/>
                    </a:ext>
                  </a:extLst>
                </a:gridCol>
              </a:tblGrid>
              <a:tr h="1009650">
                <a:tc>
                  <a:txBody>
                    <a:bodyPr/>
                    <a:lstStyle/>
                    <a:p>
                      <a:pPr algn="l"/>
                      <a:r>
                        <a:rPr sz="1650" b="1" i="0" u="none">
                          <a:solidFill>
                            <a:srgbClr val="10B981"/>
                          </a:solidFill>
                          <a:latin typeface="Inter"/>
                        </a:rPr>
                        <a:t>Deployment Domain</a:t>
                      </a:r>
                    </a:p>
                  </a:txBody>
                  <a:tcPr marL="63500" marR="63500" marT="25400" marB="25400" anchor="ctr">
                    <a:lnL>
                      <a:noFill/>
                    </a:lnL>
                    <a:lnR>
                      <a:noFill/>
                    </a:lnR>
                    <a:lnT>
                      <a:noFill/>
                    </a:lnT>
                    <a:lnB>
                      <a:noFill/>
                    </a:lnB>
                    <a:solidFill>
                      <a:srgbClr val="0F172A"/>
                    </a:solidFill>
                  </a:tcPr>
                </a:tc>
                <a:tc>
                  <a:txBody>
                    <a:bodyPr/>
                    <a:lstStyle/>
                    <a:p>
                      <a:pPr algn="l"/>
                      <a:r>
                        <a:rPr sz="1650" b="1" i="0" u="none">
                          <a:solidFill>
                            <a:srgbClr val="10B981"/>
                          </a:solidFill>
                          <a:latin typeface="Inter"/>
                        </a:rPr>
                        <a:t>Attack Detection</a:t>
                      </a:r>
                    </a:p>
                  </a:txBody>
                  <a:tcPr marL="63500" marR="63500" marT="25400" marB="25400" anchor="ctr">
                    <a:lnL>
                      <a:noFill/>
                    </a:lnL>
                    <a:lnR>
                      <a:noFill/>
                    </a:lnR>
                    <a:lnT>
                      <a:noFill/>
                    </a:lnT>
                    <a:lnB>
                      <a:noFill/>
                    </a:lnB>
                    <a:solidFill>
                      <a:srgbClr val="0F172A"/>
                    </a:solidFill>
                  </a:tcPr>
                </a:tc>
                <a:tc>
                  <a:txBody>
                    <a:bodyPr/>
                    <a:lstStyle/>
                    <a:p>
                      <a:pPr algn="l"/>
                      <a:r>
                        <a:rPr sz="1650" b="1" i="0" u="none">
                          <a:solidFill>
                            <a:srgbClr val="10B981"/>
                          </a:solidFill>
                          <a:latin typeface="Inter"/>
                        </a:rPr>
                        <a:t>False Alarms</a:t>
                      </a:r>
                    </a:p>
                  </a:txBody>
                  <a:tcPr marL="63500" marR="63500" marT="25400" marB="25400" anchor="ctr">
                    <a:lnL>
                      <a:noFill/>
                    </a:lnL>
                    <a:lnR>
                      <a:noFill/>
                    </a:lnR>
                    <a:lnT>
                      <a:noFill/>
                    </a:lnT>
                    <a:lnB>
                      <a:noFill/>
                    </a:lnB>
                    <a:solidFill>
                      <a:srgbClr val="0F172A"/>
                    </a:solidFill>
                  </a:tcPr>
                </a:tc>
                <a:tc>
                  <a:txBody>
                    <a:bodyPr/>
                    <a:lstStyle/>
                    <a:p>
                      <a:pPr algn="l"/>
                      <a:r>
                        <a:rPr sz="1650" b="1" i="0" u="none">
                          <a:solidFill>
                            <a:srgbClr val="10B981"/>
                          </a:solidFill>
                          <a:latin typeface="Inter"/>
                        </a:rPr>
                        <a:t>Network Overhead</a:t>
                      </a:r>
                    </a:p>
                  </a:txBody>
                  <a:tcPr marL="63500" marR="63500" marT="25400" marB="25400" anchor="ctr">
                    <a:lnL>
                      <a:noFill/>
                    </a:lnL>
                    <a:lnR>
                      <a:noFill/>
                    </a:lnR>
                    <a:lnT>
                      <a:noFill/>
                    </a:lnT>
                    <a:lnB>
                      <a:noFill/>
                    </a:lnB>
                    <a:solidFill>
                      <a:srgbClr val="0F172A"/>
                    </a:solidFill>
                  </a:tcPr>
                </a:tc>
                <a:tc>
                  <a:txBody>
                    <a:bodyPr/>
                    <a:lstStyle/>
                    <a:p>
                      <a:pPr algn="l"/>
                      <a:r>
                        <a:rPr sz="1650" b="1" i="0" u="none">
                          <a:solidFill>
                            <a:srgbClr val="10B981"/>
                          </a:solidFill>
                          <a:latin typeface="Inter"/>
                        </a:rPr>
                        <a:t>Status</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1009650">
                <a:tc>
                  <a:txBody>
                    <a:bodyPr/>
                    <a:lstStyle/>
                    <a:p>
                      <a:pPr algn="l"/>
                      <a:r>
                        <a:rPr sz="1500" b="1" i="0" u="none">
                          <a:solidFill>
                            <a:srgbClr val="E2E8F0"/>
                          </a:solidFill>
                          <a:latin typeface="Inter"/>
                        </a:rPr>
                        <a:t>UAV Fleets</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Excellent (&gt;99%)</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Near 0.0%</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Reduced by 95%</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 Ready to Deploy</a:t>
                      </a:r>
                    </a:p>
                  </a:txBody>
                  <a:tcPr marL="304800" marR="63500" marT="25400" marB="25400" anchor="ctr">
                    <a:lnL>
                      <a:noFill/>
                    </a:lnL>
                    <a:lnR>
                      <a:noFill/>
                    </a:lnR>
                    <a:lnT>
                      <a:noFill/>
                    </a:lnT>
                    <a:lnB>
                      <a:noFill/>
                    </a:lnB>
                    <a:noFill/>
                  </a:tcPr>
                </a:tc>
                <a:extLst>
                  <a:ext uri="{0D108BD9-81ED-4DB2-BD59-A6C34878D82A}">
                    <a16:rowId xmlns:a16="http://schemas.microsoft.com/office/drawing/2014/main" val="10001"/>
                  </a:ext>
                </a:extLst>
              </a:tr>
              <a:tr h="1009650">
                <a:tc>
                  <a:txBody>
                    <a:bodyPr/>
                    <a:lstStyle/>
                    <a:p>
                      <a:pPr algn="l"/>
                      <a:r>
                        <a:rPr lang="en-US" sz="1500" b="1" i="0" u="none">
                          <a:solidFill>
                            <a:srgbClr val="E2E8F0"/>
                          </a:solidFill>
                          <a:latin typeface="Inter"/>
                        </a:rPr>
                        <a:t>Smart</a:t>
                      </a:r>
                      <a:r>
                        <a:rPr sz="1500" b="1" i="0" u="none">
                          <a:solidFill>
                            <a:srgbClr val="E2E8F0"/>
                          </a:solidFill>
                          <a:latin typeface="Inter"/>
                        </a:rPr>
                        <a:t> Cities</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Excellent (&gt;99%)</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Near 0.0%</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Reduced by 95%</a:t>
                      </a:r>
                    </a:p>
                  </a:txBody>
                  <a:tcPr marL="63500" marR="63500" marT="25400" marB="25400" anchor="ctr">
                    <a:lnL>
                      <a:noFill/>
                    </a:lnL>
                    <a:lnR>
                      <a:noFill/>
                    </a:lnR>
                    <a:lnT>
                      <a:noFill/>
                    </a:lnT>
                    <a:lnB>
                      <a:noFill/>
                    </a:lnB>
                    <a:noFill/>
                  </a:tcPr>
                </a:tc>
                <a:tc>
                  <a:txBody>
                    <a:bodyPr/>
                    <a:lstStyle/>
                    <a:p>
                      <a:pPr algn="l"/>
                      <a:r>
                        <a:rPr sz="1500" b="0" i="0" u="none">
                          <a:solidFill>
                            <a:srgbClr val="E2E8F0"/>
                          </a:solidFill>
                          <a:latin typeface="Inter"/>
                        </a:rPr>
                        <a:t> Ready to Deploy</a:t>
                      </a:r>
                    </a:p>
                  </a:txBody>
                  <a:tcPr marL="304800" marR="63500" marT="25400" marB="2540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sp>
        <p:nvSpPr>
          <p:cNvPr id="6" name="Rectangle 5"/>
          <p:cNvSpPr/>
          <p:nvPr/>
        </p:nvSpPr>
        <p:spPr>
          <a:xfrm>
            <a:off x="590550" y="3790950"/>
            <a:ext cx="2464891"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055441" y="3790950"/>
            <a:ext cx="210487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60317" y="3790950"/>
            <a:ext cx="17164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76752" y="3790950"/>
            <a:ext cx="231308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89839" y="3790950"/>
            <a:ext cx="24116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0550" y="4829175"/>
            <a:ext cx="2464891"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055441" y="4829175"/>
            <a:ext cx="210487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160317" y="4829175"/>
            <a:ext cx="17164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76752" y="4829175"/>
            <a:ext cx="231308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189839" y="4829175"/>
            <a:ext cx="24116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135384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1025" y="581025"/>
            <a:ext cx="5540692" cy="581025"/>
          </a:xfrm>
          <a:prstGeom prst="rect">
            <a:avLst/>
          </a:prstGeom>
          <a:noFill/>
        </p:spPr>
        <p:txBody>
          <a:bodyPr wrap="square" lIns="0" tIns="0" rIns="0" bIns="0" anchor="t">
            <a:spAutoFit/>
          </a:bodyPr>
          <a:lstStyle/>
          <a:p>
            <a:pPr algn="l"/>
            <a:r>
              <a:rPr sz="3600" b="1" i="0" u="none">
                <a:solidFill>
                  <a:srgbClr val="10B981"/>
                </a:solidFill>
                <a:latin typeface="Space Grotesk"/>
              </a:rPr>
              <a:t>Live </a:t>
            </a:r>
            <a:r>
              <a:rPr sz="3600" b="1" i="0" u="none">
                <a:solidFill>
                  <a:srgbClr val="F8FAFC"/>
                </a:solidFill>
                <a:latin typeface="Space Grotesk"/>
              </a:rPr>
              <a:t>Demo</a:t>
            </a:r>
          </a:p>
        </p:txBody>
      </p:sp>
      <p:sp>
        <p:nvSpPr>
          <p:cNvPr id="4" name="TextBox 3"/>
          <p:cNvSpPr txBox="1"/>
          <p:nvPr/>
        </p:nvSpPr>
        <p:spPr>
          <a:xfrm>
            <a:off x="581025" y="2633662"/>
            <a:ext cx="4200525" cy="381000"/>
          </a:xfrm>
          <a:prstGeom prst="rect">
            <a:avLst/>
          </a:prstGeom>
          <a:noFill/>
        </p:spPr>
        <p:txBody>
          <a:bodyPr wrap="square" lIns="0" tIns="0" rIns="0" bIns="0" anchor="t">
            <a:spAutoFit/>
          </a:bodyPr>
          <a:lstStyle/>
          <a:p>
            <a:pPr algn="l"/>
            <a:r>
              <a:rPr sz="2400" b="1" i="0" u="none">
                <a:solidFill>
                  <a:srgbClr val="F8FAFC"/>
                </a:solidFill>
                <a:latin typeface="Space Grotesk"/>
              </a:rPr>
              <a:t>Real-Time Threat Detection</a:t>
            </a:r>
          </a:p>
        </p:txBody>
      </p:sp>
      <p:sp>
        <p:nvSpPr>
          <p:cNvPr id="5" name="TextBox 4"/>
          <p:cNvSpPr txBox="1"/>
          <p:nvPr/>
        </p:nvSpPr>
        <p:spPr>
          <a:xfrm>
            <a:off x="581025" y="3205162"/>
            <a:ext cx="4953000" cy="3048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We will now transition to the live system environment.</a:t>
            </a:r>
          </a:p>
        </p:txBody>
      </p:sp>
      <p:sp>
        <p:nvSpPr>
          <p:cNvPr id="6" name="TextBox 5"/>
          <p:cNvSpPr txBox="1"/>
          <p:nvPr/>
        </p:nvSpPr>
        <p:spPr>
          <a:xfrm>
            <a:off x="581025" y="3843337"/>
            <a:ext cx="3524250" cy="304800"/>
          </a:xfrm>
          <a:prstGeom prst="rect">
            <a:avLst/>
          </a:prstGeom>
          <a:noFill/>
        </p:spPr>
        <p:txBody>
          <a:bodyPr wrap="square" lIns="285750" tIns="0" rIns="0" bIns="0" anchor="t">
            <a:spAutoFit/>
          </a:bodyPr>
          <a:lstStyle/>
          <a:p>
            <a:pPr algn="l">
              <a:lnSpc>
                <a:spcPts val="2400"/>
              </a:lnSpc>
            </a:pPr>
            <a:r>
              <a:rPr sz="1500" b="0" i="0" u="none">
                <a:solidFill>
                  <a:srgbClr val="F8FAFC"/>
                </a:solidFill>
                <a:latin typeface="Inter"/>
              </a:rPr>
              <a:t>Initializing federated clients</a:t>
            </a:r>
          </a:p>
        </p:txBody>
      </p:sp>
      <p:sp>
        <p:nvSpPr>
          <p:cNvPr id="7" name="TextBox 6"/>
          <p:cNvSpPr txBox="1"/>
          <p:nvPr/>
        </p:nvSpPr>
        <p:spPr>
          <a:xfrm>
            <a:off x="581025" y="4291012"/>
            <a:ext cx="3524250" cy="304800"/>
          </a:xfrm>
          <a:prstGeom prst="rect">
            <a:avLst/>
          </a:prstGeom>
          <a:noFill/>
        </p:spPr>
        <p:txBody>
          <a:bodyPr wrap="square" lIns="314325" tIns="0" rIns="0" bIns="0" anchor="t">
            <a:spAutoFit/>
          </a:bodyPr>
          <a:lstStyle/>
          <a:p>
            <a:pPr algn="l">
              <a:lnSpc>
                <a:spcPts val="2400"/>
              </a:lnSpc>
            </a:pPr>
            <a:r>
              <a:rPr sz="1500" b="0" i="0" u="none">
                <a:solidFill>
                  <a:srgbClr val="F8FAFC"/>
                </a:solidFill>
                <a:latin typeface="Inter"/>
              </a:rPr>
              <a:t>Establishing quantum-safe tunnels</a:t>
            </a:r>
          </a:p>
        </p:txBody>
      </p:sp>
      <p:sp>
        <p:nvSpPr>
          <p:cNvPr id="8" name="TextBox 7"/>
          <p:cNvSpPr txBox="1"/>
          <p:nvPr/>
        </p:nvSpPr>
        <p:spPr>
          <a:xfrm>
            <a:off x="581025" y="4738687"/>
            <a:ext cx="3524250" cy="304800"/>
          </a:xfrm>
          <a:prstGeom prst="rect">
            <a:avLst/>
          </a:prstGeom>
          <a:noFill/>
        </p:spPr>
        <p:txBody>
          <a:bodyPr wrap="square" lIns="333375" tIns="0" rIns="0" bIns="0" anchor="t">
            <a:spAutoFit/>
          </a:bodyPr>
          <a:lstStyle/>
          <a:p>
            <a:pPr algn="l">
              <a:lnSpc>
                <a:spcPts val="2400"/>
              </a:lnSpc>
            </a:pPr>
            <a:r>
              <a:rPr sz="1500" b="0" i="0" u="none">
                <a:solidFill>
                  <a:srgbClr val="F8FAFC"/>
                </a:solidFill>
                <a:latin typeface="Inter"/>
              </a:rPr>
              <a:t>Monitoring aggregation rounds</a:t>
            </a:r>
          </a:p>
        </p:txBody>
      </p:sp>
      <p:pic>
        <p:nvPicPr>
          <p:cNvPr id="9" name="Picture 8" descr="image.png"/>
          <p:cNvPicPr>
            <a:picLocks noChangeAspect="1"/>
          </p:cNvPicPr>
          <p:nvPr/>
        </p:nvPicPr>
        <p:blipFill>
          <a:blip r:embed="rId2"/>
          <a:stretch>
            <a:fillRect/>
          </a:stretch>
        </p:blipFill>
        <p:spPr>
          <a:xfrm>
            <a:off x="581025" y="3895725"/>
            <a:ext cx="142875" cy="200025"/>
          </a:xfrm>
          <a:prstGeom prst="rect">
            <a:avLst/>
          </a:prstGeom>
        </p:spPr>
      </p:pic>
      <p:pic>
        <p:nvPicPr>
          <p:cNvPr id="10" name="Picture 9" descr="image.png"/>
          <p:cNvPicPr>
            <a:picLocks noChangeAspect="1"/>
          </p:cNvPicPr>
          <p:nvPr/>
        </p:nvPicPr>
        <p:blipFill>
          <a:blip r:embed="rId3"/>
          <a:stretch>
            <a:fillRect/>
          </a:stretch>
        </p:blipFill>
        <p:spPr>
          <a:xfrm>
            <a:off x="581025" y="4343400"/>
            <a:ext cx="171450" cy="200025"/>
          </a:xfrm>
          <a:prstGeom prst="rect">
            <a:avLst/>
          </a:prstGeom>
        </p:spPr>
      </p:pic>
      <p:pic>
        <p:nvPicPr>
          <p:cNvPr id="11" name="Picture 10" descr="image.png"/>
          <p:cNvPicPr>
            <a:picLocks noChangeAspect="1"/>
          </p:cNvPicPr>
          <p:nvPr/>
        </p:nvPicPr>
        <p:blipFill>
          <a:blip r:embed="rId4"/>
          <a:stretch>
            <a:fillRect/>
          </a:stretch>
        </p:blipFill>
        <p:spPr>
          <a:xfrm>
            <a:off x="581025" y="4791075"/>
            <a:ext cx="190500" cy="200025"/>
          </a:xfrm>
          <a:prstGeom prst="rect">
            <a:avLst/>
          </a:prstGeom>
        </p:spPr>
      </p:pic>
    </p:spTree>
    <p:extLst>
      <p:ext uri="{BB962C8B-B14F-4D97-AF65-F5344CB8AC3E}">
        <p14:creationId xmlns:p14="http://schemas.microsoft.com/office/powerpoint/2010/main" val="3931879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42</cp:revision>
  <dcterms:created xsi:type="dcterms:W3CDTF">2013-01-27T09:14:16Z</dcterms:created>
  <dcterms:modified xsi:type="dcterms:W3CDTF">2026-08-08T18:18:25Z</dcterms:modified>
  <cp:category/>
</cp:coreProperties>
</file>