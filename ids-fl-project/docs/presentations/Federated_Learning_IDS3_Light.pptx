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67" r:id="rId5"/>
    <p:sldId id="259" r:id="rId6"/>
    <p:sldId id="269" r:id="rId7"/>
    <p:sldId id="268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5488C-0AEB-857B-11C9-046A3737A4FB}" v="846" dt="2026-08-10T19:40:50.228"/>
    <p1510:client id="{A1C9A521-5DF7-8699-F2C2-56EBAB5D5B1D}" v="293" dt="2026-08-10T21:04:34.979"/>
    <p1510:client id="{B50E6493-7072-A96C-8982-AE173D213959}" v="1163" dt="2026-08-10T21:19:41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 autoAdjust="0"/>
    <p:restoredTop sz="94660"/>
  </p:normalViewPr>
  <p:slideViewPr>
    <p:cSldViewPr snapToGrid="0">
      <p:cViewPr>
        <p:scale>
          <a:sx n="75" d="100"/>
          <a:sy n="75" d="100"/>
        </p:scale>
        <p:origin x="950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CE4EFA-38AE-C7A1-F48E-ACF598E59183}"/>
              </a:ext>
            </a:extLst>
          </p:cNvPr>
          <p:cNvSpPr/>
          <p:nvPr/>
        </p:nvSpPr>
        <p:spPr>
          <a:xfrm>
            <a:off x="0" y="5359400"/>
            <a:ext cx="12192000" cy="1498600"/>
          </a:xfrm>
          <a:prstGeom prst="rect">
            <a:avLst/>
          </a:prstGeom>
          <a:solidFill>
            <a:srgbClr val="10233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4648944"/>
            <a:ext cx="762000" cy="28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0062" y="1119336"/>
            <a:ext cx="11001375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 i="0" u="none" dirty="0">
                <a:solidFill>
                  <a:srgbClr val="10233A"/>
                </a:solidFill>
                <a:latin typeface="Aptos Display" panose="020B0004020202020204" pitchFamily="34" charset="0"/>
              </a:rPr>
              <a:t>Post-Quantum Secure Federated Intrusion Detection for UAV Networks</a:t>
            </a:r>
            <a:endParaRPr sz="4200" b="1" i="0" u="none" dirty="0">
              <a:solidFill>
                <a:srgbClr val="10233A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3420219"/>
            <a:ext cx="1066800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KAUST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6368" y="3965149"/>
            <a:ext cx="7342607" cy="26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50">
                <a:solidFill>
                  <a:srgbClr val="475569"/>
                </a:solidFill>
                <a:latin typeface="Aptos" panose="020B0004020202020204" pitchFamily="34" charset="0"/>
              </a:rPr>
              <a:t>     </a:t>
            </a:r>
            <a:r>
              <a:rPr sz="1650" b="0" i="0" u="none">
                <a:solidFill>
                  <a:srgbClr val="475569"/>
                </a:solidFill>
                <a:latin typeface="Aptos" panose="020B0004020202020204" pitchFamily="34" charset="0"/>
              </a:rPr>
              <a:t>Khalid Alkhaldi · Anas Alshehri · Feras Aloufi · Meshal Alshawi · Ammar Alkayyal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058519"/>
            <a:ext cx="106680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475569"/>
                </a:solidFill>
                <a:latin typeface="Aptos" panose="020B0004020202020204" pitchFamily="34" charset="0"/>
              </a:rPr>
              <a:t>Supervised by Dr. Muhammad Shahbaz Khan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19C9A-75E8-6E78-F198-829C4DD97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785" y="5501765"/>
            <a:ext cx="1159715" cy="1145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6C13D0-6F1C-29BC-B48A-079A2DCCD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133" y="5506528"/>
            <a:ext cx="1954678" cy="11358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8CFB0A-48E2-8111-63F9-F2EEF90AA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350" y="5510122"/>
            <a:ext cx="2286003" cy="11292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D7066C-438C-C02E-84FB-28A5E551A8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981" y="5761586"/>
            <a:ext cx="2286003" cy="7132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1158144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10233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Background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2188368"/>
            <a:ext cx="10001250" cy="310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dirty="0">
                <a:solidFill>
                  <a:srgbClr val="10233A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  <a:t>Connected devices continuously exchange data and face growing cyber threats.</a:t>
            </a:r>
            <a:endParaRPr lang="en-US" dirty="0">
              <a:solidFill>
                <a:srgbClr val="10233A"/>
              </a:solidFill>
              <a:latin typeface="Aptos" panose="020B0004020202020204" pitchFamily="34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33500" y="3175755"/>
            <a:ext cx="10116071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165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Intrusion Detection Systems monitor this activity and identify possible attacks.</a:t>
            </a:r>
            <a:endParaRPr lang="en-US" sz="1650" b="0" i="0" u="none">
              <a:solidFill>
                <a:srgbClr val="10233A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3500" y="4100512"/>
            <a:ext cx="1000125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165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Machine learning can detect patterns that fixed security rules may miss.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5056584"/>
            <a:ext cx="1000125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165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Effective collaboration must protect sensitive data and communications.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231231"/>
            <a:ext cx="33337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187303"/>
            <a:ext cx="2667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143375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5099446"/>
            <a:ext cx="30480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56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C61BF3-A76A-8E3B-24DD-2BB3356EF242}"/>
              </a:ext>
            </a:extLst>
          </p:cNvPr>
          <p:cNvSpPr/>
          <p:nvPr/>
        </p:nvSpPr>
        <p:spPr>
          <a:xfrm>
            <a:off x="571500" y="1613851"/>
            <a:ext cx="5834330" cy="467264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10233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The Core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00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2726" y="1923327"/>
            <a:ext cx="5269983" cy="1261884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r>
              <a:rPr lang="en-US" sz="2400" b="1" dirty="0">
                <a:solidFill>
                  <a:srgbClr val="008065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  <a:t>Static detection rules</a:t>
            </a:r>
          </a:p>
          <a:p>
            <a:r>
              <a:rPr lang="en-US" sz="2000" dirty="0">
                <a:solidFill>
                  <a:srgbClr val="10233A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  <a:t>Traditional systems rely heavily </a:t>
            </a:r>
            <a:r>
              <a:rPr lang="en-US" sz="2000">
                <a:solidFill>
                  <a:srgbClr val="10233A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  <a:t>on known attack signatures.</a:t>
            </a:r>
            <a:br>
              <a:rPr lang="en-US" sz="2000" b="1" dirty="0">
                <a:solidFill>
                  <a:srgbClr val="000000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</a:br>
            <a:endParaRPr lang="en-US" b="1" dirty="0">
              <a:solidFill>
                <a:srgbClr val="000000"/>
              </a:solidFill>
              <a:latin typeface="Aptos" panose="020B0004020202020204" pitchFamily="34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A87B39-513D-B381-731B-8D6F269BAFF8}"/>
              </a:ext>
            </a:extLst>
          </p:cNvPr>
          <p:cNvSpPr/>
          <p:nvPr/>
        </p:nvSpPr>
        <p:spPr>
          <a:xfrm>
            <a:off x="7589274" y="2349545"/>
            <a:ext cx="571500" cy="5715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B10995-A3E1-861B-0B44-9FE466ADAA59}"/>
              </a:ext>
            </a:extLst>
          </p:cNvPr>
          <p:cNvCxnSpPr/>
          <p:nvPr/>
        </p:nvCxnSpPr>
        <p:spPr>
          <a:xfrm>
            <a:off x="8249674" y="2649384"/>
            <a:ext cx="1625600" cy="927100"/>
          </a:xfrm>
          <a:prstGeom prst="line">
            <a:avLst/>
          </a:prstGeom>
          <a:ln w="20320" cap="flat" cmpd="sng" algn="ctr">
            <a:solidFill>
              <a:srgbClr val="BE374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DCD2567-9223-DCD1-6D02-CC8C5E96ED48}"/>
              </a:ext>
            </a:extLst>
          </p:cNvPr>
          <p:cNvSpPr/>
          <p:nvPr/>
        </p:nvSpPr>
        <p:spPr>
          <a:xfrm>
            <a:off x="7589274" y="3386021"/>
            <a:ext cx="571500" cy="5715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2EC508-FBB0-F61E-2882-2EAD7803B0A5}"/>
              </a:ext>
            </a:extLst>
          </p:cNvPr>
          <p:cNvCxnSpPr/>
          <p:nvPr/>
        </p:nvCxnSpPr>
        <p:spPr>
          <a:xfrm>
            <a:off x="7771900" y="3612806"/>
            <a:ext cx="206248" cy="117856"/>
          </a:xfrm>
          <a:prstGeom prst="line">
            <a:avLst/>
          </a:prstGeom>
          <a:ln w="11049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DCD3A30-5022-235E-BC01-FFF786084021}"/>
              </a:ext>
            </a:extLst>
          </p:cNvPr>
          <p:cNvCxnSpPr/>
          <p:nvPr/>
        </p:nvCxnSpPr>
        <p:spPr>
          <a:xfrm flipV="1">
            <a:off x="7771900" y="3612806"/>
            <a:ext cx="206248" cy="117856"/>
          </a:xfrm>
          <a:prstGeom prst="line">
            <a:avLst/>
          </a:prstGeom>
          <a:ln w="11049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36D751-276B-A9A8-2514-DEAEBA4E7AF7}"/>
              </a:ext>
            </a:extLst>
          </p:cNvPr>
          <p:cNvSpPr/>
          <p:nvPr/>
        </p:nvSpPr>
        <p:spPr>
          <a:xfrm>
            <a:off x="7816096" y="3642270"/>
            <a:ext cx="117856" cy="58928"/>
          </a:xfrm>
          <a:prstGeom prst="roundRect">
            <a:avLst/>
          </a:prstGeom>
          <a:solidFill>
            <a:srgbClr val="00806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1BCD57A-BB11-806F-FEB5-C7767A9048EE}"/>
              </a:ext>
            </a:extLst>
          </p:cNvPr>
          <p:cNvSpPr/>
          <p:nvPr/>
        </p:nvSpPr>
        <p:spPr>
          <a:xfrm>
            <a:off x="7729228" y="3565599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57B89F0-69BB-49CD-490A-2657BDCEE648}"/>
              </a:ext>
            </a:extLst>
          </p:cNvPr>
          <p:cNvSpPr/>
          <p:nvPr/>
        </p:nvSpPr>
        <p:spPr>
          <a:xfrm>
            <a:off x="7970782" y="3590708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FF6CF6-39FC-49FD-BF99-29CAFA753FBE}"/>
              </a:ext>
            </a:extLst>
          </p:cNvPr>
          <p:cNvSpPr/>
          <p:nvPr/>
        </p:nvSpPr>
        <p:spPr>
          <a:xfrm>
            <a:off x="7728482" y="3726635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F465A95-D21D-F6A4-B81A-8B548B53FC6F}"/>
              </a:ext>
            </a:extLst>
          </p:cNvPr>
          <p:cNvSpPr/>
          <p:nvPr/>
        </p:nvSpPr>
        <p:spPr>
          <a:xfrm>
            <a:off x="7970782" y="3723296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24F36A-AF3B-B8B4-708A-8AA2868B3491}"/>
              </a:ext>
            </a:extLst>
          </p:cNvPr>
          <p:cNvCxnSpPr/>
          <p:nvPr/>
        </p:nvCxnSpPr>
        <p:spPr>
          <a:xfrm flipV="1">
            <a:off x="8249674" y="3576484"/>
            <a:ext cx="1625600" cy="88900"/>
          </a:xfrm>
          <a:prstGeom prst="line">
            <a:avLst/>
          </a:prstGeom>
          <a:ln w="20320" cap="flat" cmpd="sng" algn="ctr">
            <a:solidFill>
              <a:srgbClr val="BE374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5C9665A-38CD-3805-9C7B-8BCE103F017C}"/>
              </a:ext>
            </a:extLst>
          </p:cNvPr>
          <p:cNvSpPr/>
          <p:nvPr/>
        </p:nvSpPr>
        <p:spPr>
          <a:xfrm>
            <a:off x="7583551" y="4378870"/>
            <a:ext cx="571500" cy="5715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2564CB2-9C6B-5020-B90E-1BBB93D84F34}"/>
              </a:ext>
            </a:extLst>
          </p:cNvPr>
          <p:cNvCxnSpPr/>
          <p:nvPr/>
        </p:nvCxnSpPr>
        <p:spPr>
          <a:xfrm flipV="1">
            <a:off x="8249674" y="3576484"/>
            <a:ext cx="1625600" cy="1104900"/>
          </a:xfrm>
          <a:prstGeom prst="line">
            <a:avLst/>
          </a:prstGeom>
          <a:ln w="20320" cap="flat" cmpd="sng" algn="ctr">
            <a:solidFill>
              <a:srgbClr val="BE374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BFF9A12-449D-C6CD-D1B6-CDBA4B4DEE53}"/>
              </a:ext>
            </a:extLst>
          </p:cNvPr>
          <p:cNvSpPr/>
          <p:nvPr/>
        </p:nvSpPr>
        <p:spPr>
          <a:xfrm>
            <a:off x="9938774" y="2750984"/>
            <a:ext cx="1651000" cy="1676400"/>
          </a:xfrm>
          <a:prstGeom prst="roundRect">
            <a:avLst/>
          </a:prstGeom>
          <a:solidFill>
            <a:srgbClr val="EEF4F8"/>
          </a:solidFill>
          <a:ln w="21590">
            <a:solidFill>
              <a:srgbClr val="BE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8840F05-4A49-35F1-9E34-91B1F379FBF0}"/>
              </a:ext>
            </a:extLst>
          </p:cNvPr>
          <p:cNvSpPr/>
          <p:nvPr/>
        </p:nvSpPr>
        <p:spPr>
          <a:xfrm>
            <a:off x="10484874" y="3068484"/>
            <a:ext cx="435864" cy="990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10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6D84F0-DD6D-93B3-A7BF-6A0AB71B97DA}"/>
              </a:ext>
            </a:extLst>
          </p:cNvPr>
          <p:cNvSpPr/>
          <p:nvPr/>
        </p:nvSpPr>
        <p:spPr>
          <a:xfrm>
            <a:off x="10534404" y="3098202"/>
            <a:ext cx="39624" cy="39624"/>
          </a:xfrm>
          <a:prstGeom prst="ellipse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3AFB461-ABE3-800F-17B4-27A2908FF80E}"/>
              </a:ext>
            </a:extLst>
          </p:cNvPr>
          <p:cNvSpPr/>
          <p:nvPr/>
        </p:nvSpPr>
        <p:spPr>
          <a:xfrm>
            <a:off x="10484874" y="3207168"/>
            <a:ext cx="435864" cy="990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10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B3242BD-C518-47FB-06C7-460FCE2CABCE}"/>
              </a:ext>
            </a:extLst>
          </p:cNvPr>
          <p:cNvSpPr/>
          <p:nvPr/>
        </p:nvSpPr>
        <p:spPr>
          <a:xfrm>
            <a:off x="10534404" y="3236886"/>
            <a:ext cx="39624" cy="39624"/>
          </a:xfrm>
          <a:prstGeom prst="ellipse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FDCAD38-A866-8F36-512A-FC2321D3D470}"/>
              </a:ext>
            </a:extLst>
          </p:cNvPr>
          <p:cNvSpPr/>
          <p:nvPr/>
        </p:nvSpPr>
        <p:spPr>
          <a:xfrm>
            <a:off x="10484874" y="3345852"/>
            <a:ext cx="435864" cy="990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10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E9D33A5-3752-AD7A-E7A4-7C7ABFCE580B}"/>
              </a:ext>
            </a:extLst>
          </p:cNvPr>
          <p:cNvSpPr/>
          <p:nvPr/>
        </p:nvSpPr>
        <p:spPr>
          <a:xfrm>
            <a:off x="10534404" y="3375570"/>
            <a:ext cx="39624" cy="39624"/>
          </a:xfrm>
          <a:prstGeom prst="ellipse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53">
            <a:extLst>
              <a:ext uri="{FF2B5EF4-FFF2-40B4-BE49-F238E27FC236}">
                <a16:creationId xmlns:a16="http://schemas.microsoft.com/office/drawing/2014/main" id="{5917B6BD-8AE2-409F-59F7-EE2B2FCE1AE4}"/>
              </a:ext>
            </a:extLst>
          </p:cNvPr>
          <p:cNvSpPr txBox="1"/>
          <p:nvPr/>
        </p:nvSpPr>
        <p:spPr>
          <a:xfrm>
            <a:off x="10129274" y="3855884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RAW LOG HUB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0E527AA-A95A-AE74-B93E-9A3B3F854961}"/>
              </a:ext>
            </a:extLst>
          </p:cNvPr>
          <p:cNvSpPr/>
          <p:nvPr/>
        </p:nvSpPr>
        <p:spPr>
          <a:xfrm>
            <a:off x="8871974" y="4655984"/>
            <a:ext cx="1422400" cy="279400"/>
          </a:xfrm>
          <a:prstGeom prst="roundRect">
            <a:avLst/>
          </a:prstGeom>
          <a:solidFill>
            <a:srgbClr val="E2EBF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55">
            <a:extLst>
              <a:ext uri="{FF2B5EF4-FFF2-40B4-BE49-F238E27FC236}">
                <a16:creationId xmlns:a16="http://schemas.microsoft.com/office/drawing/2014/main" id="{0B730CCA-4BF1-98C9-1E9B-B456CCBB894B}"/>
              </a:ext>
            </a:extLst>
          </p:cNvPr>
          <p:cNvSpPr txBox="1"/>
          <p:nvPr/>
        </p:nvSpPr>
        <p:spPr>
          <a:xfrm>
            <a:off x="8871974" y="4655984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80" b="1">
                <a:solidFill>
                  <a:srgbClr val="BE374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Privacy exposure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2B4C1B0-F3D2-6ADB-B541-05F45D258695}"/>
              </a:ext>
            </a:extLst>
          </p:cNvPr>
          <p:cNvSpPr/>
          <p:nvPr/>
        </p:nvSpPr>
        <p:spPr>
          <a:xfrm>
            <a:off x="10408674" y="4655984"/>
            <a:ext cx="1117600" cy="279400"/>
          </a:xfrm>
          <a:prstGeom prst="roundRect">
            <a:avLst/>
          </a:prstGeom>
          <a:solidFill>
            <a:srgbClr val="E2EBF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57">
            <a:extLst>
              <a:ext uri="{FF2B5EF4-FFF2-40B4-BE49-F238E27FC236}">
                <a16:creationId xmlns:a16="http://schemas.microsoft.com/office/drawing/2014/main" id="{7B49407A-C3A5-24DC-4CAB-472CB1756F02}"/>
              </a:ext>
            </a:extLst>
          </p:cNvPr>
          <p:cNvSpPr txBox="1"/>
          <p:nvPr/>
        </p:nvSpPr>
        <p:spPr>
          <a:xfrm>
            <a:off x="10408674" y="4655984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80" b="1">
                <a:solidFill>
                  <a:srgbClr val="BE374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Bottleneck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871267-8F96-3ACB-BEE8-64EDF2240D55}"/>
              </a:ext>
            </a:extLst>
          </p:cNvPr>
          <p:cNvSpPr txBox="1"/>
          <p:nvPr/>
        </p:nvSpPr>
        <p:spPr>
          <a:xfrm>
            <a:off x="801287" y="3193272"/>
            <a:ext cx="5261422" cy="98488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r>
              <a:rPr lang="en-US" sz="2400" b="1" dirty="0">
                <a:solidFill>
                  <a:srgbClr val="008065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  <a:t>Centralized data collection</a:t>
            </a:r>
            <a:br>
              <a:rPr lang="en-US" sz="2100" b="1" dirty="0">
                <a:solidFill>
                  <a:srgbClr val="000000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10233A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  <a:t>Conventional ML systems gather data in one location, increasing privacy concerns.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A2B805-654D-C3CA-B7A0-F87B5B8130CD}"/>
              </a:ext>
            </a:extLst>
          </p:cNvPr>
          <p:cNvSpPr txBox="1"/>
          <p:nvPr/>
        </p:nvSpPr>
        <p:spPr>
          <a:xfrm>
            <a:off x="862235" y="4558485"/>
            <a:ext cx="5252860" cy="1292662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r>
              <a:rPr lang="en-US" sz="2400" b="1" dirty="0">
                <a:solidFill>
                  <a:srgbClr val="008065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  <a:t>Exposed model communication</a:t>
            </a:r>
            <a:br>
              <a:rPr lang="en-US" sz="2100" b="1" dirty="0">
                <a:solidFill>
                  <a:srgbClr val="008065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10233A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  <a:t>Information exchanged with the central server could be intercepted or modified.</a:t>
            </a:r>
            <a:br>
              <a:rPr lang="en-US" sz="2000" b="1" dirty="0">
                <a:solidFill>
                  <a:srgbClr val="000000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</a:br>
            <a:endParaRPr lang="en-US" sz="2000" b="1" dirty="0">
              <a:solidFill>
                <a:srgbClr val="000000"/>
              </a:solidFill>
              <a:latin typeface="Aptos" panose="020B0004020202020204" pitchFamily="34" charset="0"/>
              <a:ea typeface="+mn-lt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D273BB7-153C-9D2B-173D-2CD5C1F44DF0}"/>
              </a:ext>
            </a:extLst>
          </p:cNvPr>
          <p:cNvCxnSpPr/>
          <p:nvPr/>
        </p:nvCxnSpPr>
        <p:spPr>
          <a:xfrm>
            <a:off x="7771900" y="2546903"/>
            <a:ext cx="206248" cy="117856"/>
          </a:xfrm>
          <a:prstGeom prst="line">
            <a:avLst/>
          </a:prstGeom>
          <a:ln w="11049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6EED47-3900-5BF1-1701-7C28C19851D6}"/>
              </a:ext>
            </a:extLst>
          </p:cNvPr>
          <p:cNvCxnSpPr/>
          <p:nvPr/>
        </p:nvCxnSpPr>
        <p:spPr>
          <a:xfrm flipV="1">
            <a:off x="7771900" y="2546903"/>
            <a:ext cx="206248" cy="117856"/>
          </a:xfrm>
          <a:prstGeom prst="line">
            <a:avLst/>
          </a:prstGeom>
          <a:ln w="11049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8F2684-26E1-3DD1-6CCC-8C16F48CAE86}"/>
              </a:ext>
            </a:extLst>
          </p:cNvPr>
          <p:cNvSpPr/>
          <p:nvPr/>
        </p:nvSpPr>
        <p:spPr>
          <a:xfrm>
            <a:off x="7816096" y="2576367"/>
            <a:ext cx="117856" cy="58928"/>
          </a:xfrm>
          <a:prstGeom prst="roundRect">
            <a:avLst/>
          </a:prstGeom>
          <a:solidFill>
            <a:srgbClr val="00806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52BC69-A42D-9ECB-FC0D-576BA4C3A690}"/>
              </a:ext>
            </a:extLst>
          </p:cNvPr>
          <p:cNvSpPr/>
          <p:nvPr/>
        </p:nvSpPr>
        <p:spPr>
          <a:xfrm>
            <a:off x="7729228" y="2499696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64207A8-2388-E49F-7D37-678FA6F46855}"/>
              </a:ext>
            </a:extLst>
          </p:cNvPr>
          <p:cNvSpPr/>
          <p:nvPr/>
        </p:nvSpPr>
        <p:spPr>
          <a:xfrm>
            <a:off x="7970782" y="2524805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531A907-DE55-5173-E870-68AC47F4A2EB}"/>
              </a:ext>
            </a:extLst>
          </p:cNvPr>
          <p:cNvSpPr/>
          <p:nvPr/>
        </p:nvSpPr>
        <p:spPr>
          <a:xfrm>
            <a:off x="7728482" y="2660732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60C61F-DA83-589B-8B21-606A647726E7}"/>
              </a:ext>
            </a:extLst>
          </p:cNvPr>
          <p:cNvSpPr/>
          <p:nvPr/>
        </p:nvSpPr>
        <p:spPr>
          <a:xfrm>
            <a:off x="7970782" y="2657393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BB57BF-088C-3554-E448-115A3AF0F863}"/>
              </a:ext>
            </a:extLst>
          </p:cNvPr>
          <p:cNvCxnSpPr/>
          <p:nvPr/>
        </p:nvCxnSpPr>
        <p:spPr>
          <a:xfrm>
            <a:off x="7766177" y="4576228"/>
            <a:ext cx="206248" cy="117856"/>
          </a:xfrm>
          <a:prstGeom prst="line">
            <a:avLst/>
          </a:prstGeom>
          <a:ln w="11049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13D5B44-58E8-19B8-62E0-29E2048C71FB}"/>
              </a:ext>
            </a:extLst>
          </p:cNvPr>
          <p:cNvCxnSpPr/>
          <p:nvPr/>
        </p:nvCxnSpPr>
        <p:spPr>
          <a:xfrm flipV="1">
            <a:off x="7766177" y="4576228"/>
            <a:ext cx="206248" cy="117856"/>
          </a:xfrm>
          <a:prstGeom prst="line">
            <a:avLst/>
          </a:prstGeom>
          <a:ln w="11049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15F7375-A7C6-F521-A600-6C5F0AEEE6FA}"/>
              </a:ext>
            </a:extLst>
          </p:cNvPr>
          <p:cNvSpPr/>
          <p:nvPr/>
        </p:nvSpPr>
        <p:spPr>
          <a:xfrm>
            <a:off x="7810373" y="4605692"/>
            <a:ext cx="117856" cy="58928"/>
          </a:xfrm>
          <a:prstGeom prst="roundRect">
            <a:avLst/>
          </a:prstGeom>
          <a:solidFill>
            <a:srgbClr val="00806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B86B322-2756-22AA-6277-6968C08CB55F}"/>
              </a:ext>
            </a:extLst>
          </p:cNvPr>
          <p:cNvSpPr/>
          <p:nvPr/>
        </p:nvSpPr>
        <p:spPr>
          <a:xfrm>
            <a:off x="7723505" y="4529021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AABE4AE-C7E7-70A8-4929-0EDB3CFEB698}"/>
              </a:ext>
            </a:extLst>
          </p:cNvPr>
          <p:cNvSpPr/>
          <p:nvPr/>
        </p:nvSpPr>
        <p:spPr>
          <a:xfrm>
            <a:off x="7965059" y="4554130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92649CA-1F00-107A-12AD-E689763CC031}"/>
              </a:ext>
            </a:extLst>
          </p:cNvPr>
          <p:cNvSpPr/>
          <p:nvPr/>
        </p:nvSpPr>
        <p:spPr>
          <a:xfrm>
            <a:off x="7722759" y="4690057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8BB269A-E44B-6A11-E225-1D89B186891B}"/>
              </a:ext>
            </a:extLst>
          </p:cNvPr>
          <p:cNvSpPr/>
          <p:nvPr/>
        </p:nvSpPr>
        <p:spPr>
          <a:xfrm>
            <a:off x="7965059" y="4686718"/>
            <a:ext cx="58928" cy="58928"/>
          </a:xfrm>
          <a:prstGeom prst="ellipse">
            <a:avLst/>
          </a:prstGeom>
          <a:solidFill>
            <a:srgbClr val="F7FAFC"/>
          </a:solidFill>
          <a:ln w="8839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D8AFD-3438-A16C-F0A9-B541F080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79CD1C-3AC6-D4DB-873B-96AC4217B6EA}"/>
              </a:ext>
            </a:extLst>
          </p:cNvPr>
          <p:cNvSpPr/>
          <p:nvPr/>
        </p:nvSpPr>
        <p:spPr>
          <a:xfrm>
            <a:off x="8144711" y="1975839"/>
            <a:ext cx="3429000" cy="365551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DBFC2B-59C9-33A2-3E9E-1E3603543DB8}"/>
              </a:ext>
            </a:extLst>
          </p:cNvPr>
          <p:cNvSpPr/>
          <p:nvPr/>
        </p:nvSpPr>
        <p:spPr>
          <a:xfrm>
            <a:off x="4334711" y="1975839"/>
            <a:ext cx="3429000" cy="365551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10E7F6-8F27-6A2C-A418-08D88B86F67D}"/>
              </a:ext>
            </a:extLst>
          </p:cNvPr>
          <p:cNvSpPr/>
          <p:nvPr/>
        </p:nvSpPr>
        <p:spPr>
          <a:xfrm>
            <a:off x="524711" y="1975839"/>
            <a:ext cx="3429000" cy="365551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6B2AF-ED8E-E966-8588-9BE9281B9C0B}"/>
              </a:ext>
            </a:extLst>
          </p:cNvPr>
          <p:cNvSpPr txBox="1"/>
          <p:nvPr/>
        </p:nvSpPr>
        <p:spPr>
          <a:xfrm>
            <a:off x="571500" y="54218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10233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The Solution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FB51FC-2545-C3B7-E85D-01664F17036F}"/>
              </a:ext>
            </a:extLst>
          </p:cNvPr>
          <p:cNvSpPr/>
          <p:nvPr/>
        </p:nvSpPr>
        <p:spPr>
          <a:xfrm>
            <a:off x="571500" y="1132730"/>
            <a:ext cx="11049000" cy="19050"/>
          </a:xfrm>
          <a:prstGeom prst="rect">
            <a:avLst/>
          </a:prstGeom>
          <a:solidFill>
            <a:srgbClr val="00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C25A17F0-865C-118B-D923-C8E48FB11E38}"/>
              </a:ext>
            </a:extLst>
          </p:cNvPr>
          <p:cNvSpPr txBox="1"/>
          <p:nvPr/>
        </p:nvSpPr>
        <p:spPr>
          <a:xfrm>
            <a:off x="595711" y="3004539"/>
            <a:ext cx="3280853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>
                <a:solidFill>
                  <a:srgbClr val="10233A"/>
                </a:solidFill>
                <a:latin typeface="Aptos" panose="020B0004020202020204" pitchFamily="34" charset="0"/>
                <a:ea typeface="Calibri"/>
                <a:cs typeface="Times New Roman" panose="02020603050405020304" pitchFamily="18" charset="0"/>
              </a:rPr>
              <a:t>Machine Learning</a:t>
            </a: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B9B36D69-5686-F2AB-B836-675264471D47}"/>
              </a:ext>
            </a:extLst>
          </p:cNvPr>
          <p:cNvSpPr txBox="1"/>
          <p:nvPr/>
        </p:nvSpPr>
        <p:spPr>
          <a:xfrm>
            <a:off x="819986" y="3547464"/>
            <a:ext cx="2838450" cy="1385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en-US" sz="1350">
                <a:solidFill>
                  <a:srgbClr val="475569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  <a:t>Learns the difference between normal and malicious activity.</a:t>
            </a:r>
          </a:p>
          <a:p>
            <a:pPr algn="ctr">
              <a:lnSpc>
                <a:spcPts val="2160"/>
              </a:lnSpc>
            </a:pPr>
            <a:endParaRPr lang="en-US" sz="1350">
              <a:solidFill>
                <a:srgbClr val="475569"/>
              </a:solidFill>
              <a:latin typeface="Aptos" panose="020B0004020202020204" pitchFamily="34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ts val="2160"/>
              </a:lnSpc>
            </a:pPr>
            <a:r>
              <a:rPr lang="en-US" sz="1350">
                <a:solidFill>
                  <a:srgbClr val="475569"/>
                </a:solidFill>
                <a:latin typeface="Aptos" panose="020B0004020202020204" pitchFamily="34" charset="0"/>
                <a:ea typeface="+mn-lt"/>
                <a:cs typeface="Times New Roman" panose="02020603050405020304" pitchFamily="18" charset="0"/>
              </a:rPr>
              <a:t>Improves detection beyond fixed security rules.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BCD0D214-AA96-D597-F960-9ABB9B05522E}"/>
              </a:ext>
            </a:extLst>
          </p:cNvPr>
          <p:cNvSpPr txBox="1"/>
          <p:nvPr/>
        </p:nvSpPr>
        <p:spPr>
          <a:xfrm>
            <a:off x="4709043" y="3004539"/>
            <a:ext cx="268033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Federated Learning</a:t>
            </a:r>
            <a:endParaRPr lang="en-US">
              <a:solidFill>
                <a:srgbClr val="10233A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08765666-28EB-4C6A-1272-1116351DDD53}"/>
              </a:ext>
            </a:extLst>
          </p:cNvPr>
          <p:cNvSpPr txBox="1"/>
          <p:nvPr/>
        </p:nvSpPr>
        <p:spPr>
          <a:xfrm>
            <a:off x="4470213" y="3547464"/>
            <a:ext cx="3157998" cy="1670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en-US" sz="1350">
                <a:solidFill>
                  <a:srgbClr val="475569"/>
                </a:solidFill>
                <a:latin typeface="Aptos" panose="020B0004020202020204" pitchFamily="34" charset="0"/>
                <a:ea typeface="Calibri"/>
                <a:cs typeface="Times New Roman" panose="02020603050405020304" pitchFamily="18" charset="0"/>
              </a:rPr>
              <a:t>Each device trains locally using its own data.</a:t>
            </a:r>
          </a:p>
          <a:p>
            <a:pPr algn="ctr">
              <a:lnSpc>
                <a:spcPts val="2160"/>
              </a:lnSpc>
            </a:pPr>
            <a:endParaRPr lang="en-US" sz="1350">
              <a:solidFill>
                <a:srgbClr val="475569"/>
              </a:solidFill>
              <a:latin typeface="Aptos" panose="020B0004020202020204" pitchFamily="34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ts val="2160"/>
              </a:lnSpc>
            </a:pPr>
            <a:r>
              <a:rPr lang="en-US" sz="1350">
                <a:solidFill>
                  <a:srgbClr val="475569"/>
                </a:solidFill>
                <a:latin typeface="Aptos" panose="020B0004020202020204" pitchFamily="34" charset="0"/>
                <a:ea typeface="Calibri"/>
                <a:cs typeface="Times New Roman" panose="02020603050405020304" pitchFamily="18" charset="0"/>
              </a:rPr>
              <a:t>Only learned model updates are shared.</a:t>
            </a:r>
          </a:p>
          <a:p>
            <a:pPr algn="ctr">
              <a:lnSpc>
                <a:spcPts val="2160"/>
              </a:lnSpc>
            </a:pPr>
            <a:endParaRPr lang="en-US" sz="1350">
              <a:solidFill>
                <a:srgbClr val="475569"/>
              </a:solidFill>
              <a:latin typeface="Aptos" panose="020B0004020202020204" pitchFamily="34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ts val="2160"/>
              </a:lnSpc>
            </a:pPr>
            <a:r>
              <a:rPr lang="en-US" sz="1350">
                <a:solidFill>
                  <a:srgbClr val="475569"/>
                </a:solidFill>
                <a:latin typeface="Aptos" panose="020B0004020202020204" pitchFamily="34" charset="0"/>
                <a:ea typeface="Calibri"/>
                <a:cs typeface="Times New Roman" panose="02020603050405020304" pitchFamily="18" charset="0"/>
              </a:rPr>
              <a:t>Raw security data remains on the device.</a:t>
            </a: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E5D5FCF0-8A46-D381-8C5B-99EFA99C358E}"/>
              </a:ext>
            </a:extLst>
          </p:cNvPr>
          <p:cNvSpPr txBox="1"/>
          <p:nvPr/>
        </p:nvSpPr>
        <p:spPr>
          <a:xfrm>
            <a:off x="8864086" y="2893926"/>
            <a:ext cx="19902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Post-Quantum Protection</a:t>
            </a:r>
            <a:endParaRPr lang="en-US">
              <a:solidFill>
                <a:srgbClr val="10233A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A912838-E329-5D60-C0F0-A07DE8742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611" y="2318739"/>
            <a:ext cx="457200" cy="4572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2780908-D532-2561-B1FB-47F1A9A4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186" y="2318739"/>
            <a:ext cx="400050" cy="457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44B59A5-2128-CDA1-4A55-05374C2AC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0611" y="2318739"/>
            <a:ext cx="457200" cy="457200"/>
          </a:xfrm>
          <a:prstGeom prst="rect">
            <a:avLst/>
          </a:prstGeom>
        </p:spPr>
      </p:pic>
      <p:sp>
        <p:nvSpPr>
          <p:cNvPr id="44" name="TextBox 6">
            <a:extLst>
              <a:ext uri="{FF2B5EF4-FFF2-40B4-BE49-F238E27FC236}">
                <a16:creationId xmlns:a16="http://schemas.microsoft.com/office/drawing/2014/main" id="{B6D795F3-54D7-E306-7256-7FCA15A24254}"/>
              </a:ext>
            </a:extLst>
          </p:cNvPr>
          <p:cNvSpPr txBox="1"/>
          <p:nvPr/>
        </p:nvSpPr>
        <p:spPr>
          <a:xfrm>
            <a:off x="8722115" y="3658649"/>
            <a:ext cx="2273201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09ECBAC8-75AD-9CC9-8C88-7342C7391C09}"/>
              </a:ext>
            </a:extLst>
          </p:cNvPr>
          <p:cNvSpPr txBox="1"/>
          <p:nvPr/>
        </p:nvSpPr>
        <p:spPr>
          <a:xfrm>
            <a:off x="8280212" y="3658076"/>
            <a:ext cx="3157998" cy="1388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en-US" sz="1350">
                <a:solidFill>
                  <a:srgbClr val="475569"/>
                </a:solidFill>
                <a:latin typeface="Aptos" panose="020B0004020202020204" pitchFamily="34" charset="0"/>
                <a:ea typeface="Calibri"/>
                <a:cs typeface="Times New Roman" panose="02020603050405020304" pitchFamily="18" charset="0"/>
              </a:rPr>
              <a:t>Authenticates and encrypts model exchanges.</a:t>
            </a:r>
            <a:endParaRPr lang="en-US" sz="1350" dirty="0">
              <a:solidFill>
                <a:srgbClr val="475569"/>
              </a:solidFill>
              <a:latin typeface="Aptos" panose="020B0004020202020204" pitchFamily="34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ts val="2160"/>
              </a:lnSpc>
            </a:pPr>
            <a:endParaRPr lang="en-US" sz="1350" dirty="0">
              <a:solidFill>
                <a:srgbClr val="475569"/>
              </a:solidFill>
              <a:latin typeface="Aptos" panose="020B0004020202020204" pitchFamily="34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ts val="2160"/>
              </a:lnSpc>
            </a:pPr>
            <a:r>
              <a:rPr lang="en-US" sz="1350" dirty="0">
                <a:solidFill>
                  <a:srgbClr val="475569"/>
                </a:solidFill>
                <a:latin typeface="Aptos" panose="020B0004020202020204" pitchFamily="34" charset="0"/>
                <a:ea typeface="Calibri"/>
                <a:cs typeface="Times New Roman" panose="02020603050405020304" pitchFamily="18" charset="0"/>
              </a:rPr>
              <a:t>Prevents unauthorized changes and repeated messages.</a:t>
            </a:r>
          </a:p>
        </p:txBody>
      </p:sp>
    </p:spTree>
    <p:extLst>
      <p:ext uri="{BB962C8B-B14F-4D97-AF65-F5344CB8AC3E}">
        <p14:creationId xmlns:p14="http://schemas.microsoft.com/office/powerpoint/2010/main" val="2530844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336" y="310896"/>
            <a:ext cx="1881221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600" b="1" dirty="0">
                <a:solidFill>
                  <a:srgbClr val="10233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Technical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95198" y="327509"/>
            <a:ext cx="2590453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600" b="1" dirty="0">
                <a:solidFill>
                  <a:srgbClr val="10233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384280" cy="18288"/>
          </a:xfrm>
          <a:prstGeom prst="rect">
            <a:avLst/>
          </a:prstGeom>
          <a:solidFill>
            <a:srgbClr val="008065"/>
          </a:solidFill>
          <a:ln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8181" y="2119884"/>
            <a:ext cx="209452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92982" y="1929384"/>
            <a:ext cx="384048" cy="384048"/>
          </a:xfrm>
          <a:prstGeom prst="ellipse">
            <a:avLst/>
          </a:prstGeom>
          <a:solidFill>
            <a:srgbClr val="091322"/>
          </a:solidFill>
          <a:ln w="254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23290" y="2002536"/>
            <a:ext cx="12343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" y="2753106"/>
            <a:ext cx="941832" cy="941832"/>
          </a:xfrm>
          <a:prstGeom prst="roundRect">
            <a:avLst/>
          </a:prstGeom>
          <a:solidFill>
            <a:srgbClr val="EEF4F8"/>
          </a:solidFill>
          <a:ln w="381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9264" y="2606040"/>
            <a:ext cx="73152" cy="155448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9264" y="3666744"/>
            <a:ext cx="73152" cy="155448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2907792"/>
            <a:ext cx="155448" cy="73152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46504" y="2907792"/>
            <a:ext cx="155448" cy="73152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88720" y="2606040"/>
            <a:ext cx="73152" cy="155448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88720" y="3666744"/>
            <a:ext cx="73152" cy="155448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" y="3108960"/>
            <a:ext cx="155448" cy="73152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46504" y="3108960"/>
            <a:ext cx="155448" cy="73152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08176" y="2606040"/>
            <a:ext cx="73152" cy="155448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08176" y="3666744"/>
            <a:ext cx="73152" cy="155448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" y="3310128"/>
            <a:ext cx="155448" cy="73152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46504" y="3310128"/>
            <a:ext cx="155448" cy="73152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627632" y="2606040"/>
            <a:ext cx="73152" cy="155448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627632" y="3666744"/>
            <a:ext cx="73152" cy="155448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3511296"/>
            <a:ext cx="155448" cy="73152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46504" y="3511296"/>
            <a:ext cx="155448" cy="73152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9340" y="4279392"/>
            <a:ext cx="1351331" cy="223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50" b="1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Local IDS Model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" y="4656773"/>
            <a:ext cx="668060" cy="18288"/>
          </a:xfrm>
          <a:prstGeom prst="rect">
            <a:avLst/>
          </a:prstGeom>
          <a:solidFill>
            <a:srgbClr val="008065"/>
          </a:solidFill>
          <a:ln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60472" y="5038343"/>
            <a:ext cx="64008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60472" y="5458967"/>
            <a:ext cx="64008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17456" y="5397246"/>
            <a:ext cx="1561863" cy="34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20" b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Neural network:</a:t>
            </a:r>
          </a:p>
          <a:p>
            <a:pPr algn="l"/>
            <a:r>
              <a:rPr lang="en-US" sz="1120" b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15 → 128 → 64 → 32 → 1</a:t>
            </a:r>
            <a:endParaRPr sz="1120" b="0" dirty="0">
              <a:solidFill>
                <a:srgbClr val="10233A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2668268" y="2121408"/>
            <a:ext cx="209452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3498402" y="1929384"/>
            <a:ext cx="384048" cy="384048"/>
          </a:xfrm>
          <a:prstGeom prst="ellipse">
            <a:avLst/>
          </a:prstGeom>
          <a:solidFill>
            <a:srgbClr val="091322"/>
          </a:solidFill>
          <a:ln w="254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28710" y="2002536"/>
            <a:ext cx="12343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9" name="Oval 48"/>
          <p:cNvSpPr/>
          <p:nvPr/>
        </p:nvSpPr>
        <p:spPr>
          <a:xfrm>
            <a:off x="3579091" y="3101388"/>
            <a:ext cx="292608" cy="292608"/>
          </a:xfrm>
          <a:prstGeom prst="ellipse">
            <a:avLst/>
          </a:prstGeom>
          <a:solidFill>
            <a:srgbClr val="EEF4F8"/>
          </a:solidFill>
          <a:ln w="254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Connector 49"/>
          <p:cNvCxnSpPr>
            <a:cxnSpLocks/>
          </p:cNvCxnSpPr>
          <p:nvPr/>
        </p:nvCxnSpPr>
        <p:spPr>
          <a:xfrm flipH="1" flipV="1">
            <a:off x="3716214" y="2843785"/>
            <a:ext cx="10514" cy="420623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3301532" y="3264408"/>
            <a:ext cx="411480" cy="320040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740444" y="3264408"/>
            <a:ext cx="365760" cy="320040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251240" y="3552444"/>
            <a:ext cx="100584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Connector 62"/>
          <p:cNvCxnSpPr/>
          <p:nvPr/>
        </p:nvCxnSpPr>
        <p:spPr>
          <a:xfrm flipH="1" flipV="1">
            <a:off x="3173516" y="3493008"/>
            <a:ext cx="128016" cy="91440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141512" y="3461003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" name="Connector 64"/>
          <p:cNvCxnSpPr/>
          <p:nvPr/>
        </p:nvCxnSpPr>
        <p:spPr>
          <a:xfrm flipV="1">
            <a:off x="3301532" y="3493008"/>
            <a:ext cx="128016" cy="91440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397544" y="3461003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Connector 66"/>
          <p:cNvCxnSpPr/>
          <p:nvPr/>
        </p:nvCxnSpPr>
        <p:spPr>
          <a:xfrm flipH="1">
            <a:off x="3173516" y="3584448"/>
            <a:ext cx="128016" cy="91439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3141512" y="3643883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3301532" y="3584448"/>
            <a:ext cx="128016" cy="91439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3397544" y="3643883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4055912" y="3552444"/>
            <a:ext cx="100584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Connector 71"/>
          <p:cNvCxnSpPr/>
          <p:nvPr/>
        </p:nvCxnSpPr>
        <p:spPr>
          <a:xfrm flipH="1" flipV="1">
            <a:off x="3978188" y="3493008"/>
            <a:ext cx="128016" cy="91440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3946184" y="3461003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Connector 73"/>
          <p:cNvCxnSpPr/>
          <p:nvPr/>
        </p:nvCxnSpPr>
        <p:spPr>
          <a:xfrm flipV="1">
            <a:off x="4106204" y="3493008"/>
            <a:ext cx="128016" cy="91440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202216" y="3461003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Connector 75"/>
          <p:cNvCxnSpPr/>
          <p:nvPr/>
        </p:nvCxnSpPr>
        <p:spPr>
          <a:xfrm flipH="1">
            <a:off x="3978188" y="3584448"/>
            <a:ext cx="128016" cy="91439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946184" y="3643883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4106204" y="3584448"/>
            <a:ext cx="128016" cy="91439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4202216" y="3643883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891906" y="4279392"/>
            <a:ext cx="1597039" cy="223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50" b="1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UAV Local Training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06414" y="4638485"/>
            <a:ext cx="668060" cy="18288"/>
          </a:xfrm>
          <a:prstGeom prst="rect">
            <a:avLst/>
          </a:prstGeom>
          <a:solidFill>
            <a:srgbClr val="008065"/>
          </a:solidFill>
          <a:ln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2853476" y="5038343"/>
            <a:ext cx="64008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027212" y="5004053"/>
            <a:ext cx="1420261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Each UAV trains locally</a:t>
            </a:r>
          </a:p>
        </p:txBody>
      </p:sp>
      <p:sp>
        <p:nvSpPr>
          <p:cNvPr id="84" name="Oval 83"/>
          <p:cNvSpPr/>
          <p:nvPr/>
        </p:nvSpPr>
        <p:spPr>
          <a:xfrm>
            <a:off x="2853476" y="5458967"/>
            <a:ext cx="64008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5056358" y="2121408"/>
            <a:ext cx="209452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5903823" y="1929384"/>
            <a:ext cx="384048" cy="384048"/>
          </a:xfrm>
          <a:prstGeom prst="ellipse">
            <a:avLst/>
          </a:prstGeom>
          <a:solidFill>
            <a:srgbClr val="091322"/>
          </a:solidFill>
          <a:ln w="254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034131" y="2002536"/>
            <a:ext cx="12343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9" name="Freeform 88"/>
          <p:cNvSpPr/>
          <p:nvPr/>
        </p:nvSpPr>
        <p:spPr>
          <a:xfrm>
            <a:off x="5711891" y="2884932"/>
            <a:ext cx="783458" cy="932688"/>
          </a:xfrm>
          <a:custGeom>
            <a:avLst/>
            <a:gdLst/>
            <a:ahLst/>
            <a:cxnLst/>
            <a:rect l="l" t="t" r="r" b="b"/>
            <a:pathLst>
              <a:path w="84" h="100">
                <a:moveTo>
                  <a:pt x="42" y="0"/>
                </a:moveTo>
                <a:lnTo>
                  <a:pt x="84" y="18"/>
                </a:lnTo>
                <a:lnTo>
                  <a:pt x="74" y="72"/>
                </a:lnTo>
                <a:lnTo>
                  <a:pt x="42" y="100"/>
                </a:lnTo>
                <a:lnTo>
                  <a:pt x="10" y="72"/>
                </a:lnTo>
                <a:lnTo>
                  <a:pt x="0" y="18"/>
                </a:lnTo>
                <a:close/>
              </a:path>
            </a:pathLst>
          </a:custGeom>
          <a:solidFill>
            <a:srgbClr val="EEF4F8"/>
          </a:solidFill>
          <a:ln w="381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469553" y="4279392"/>
            <a:ext cx="1252587" cy="223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50" b="1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Secure Update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61817" y="4638485"/>
            <a:ext cx="668060" cy="18288"/>
          </a:xfrm>
          <a:prstGeom prst="rect">
            <a:avLst/>
          </a:prstGeom>
          <a:solidFill>
            <a:srgbClr val="008065"/>
          </a:solidFill>
          <a:ln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5256504" y="5038343"/>
            <a:ext cx="64008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432694" y="4974082"/>
            <a:ext cx="1625445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Encrypted with PQC + AES</a:t>
            </a:r>
          </a:p>
        </p:txBody>
      </p:sp>
      <p:sp>
        <p:nvSpPr>
          <p:cNvPr id="97" name="Oval 96"/>
          <p:cNvSpPr/>
          <p:nvPr/>
        </p:nvSpPr>
        <p:spPr>
          <a:xfrm>
            <a:off x="5256504" y="5458967"/>
            <a:ext cx="64008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414345" y="5403850"/>
            <a:ext cx="1514838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Protected model sharing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454005" y="2121408"/>
            <a:ext cx="209452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8309244" y="1929384"/>
            <a:ext cx="384048" cy="384048"/>
          </a:xfrm>
          <a:prstGeom prst="ellipse">
            <a:avLst/>
          </a:prstGeom>
          <a:solidFill>
            <a:srgbClr val="091322"/>
          </a:solidFill>
          <a:ln w="254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439552" y="2002536"/>
            <a:ext cx="12343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020933" y="2779776"/>
            <a:ext cx="960120" cy="219456"/>
          </a:xfrm>
          <a:prstGeom prst="roundRect">
            <a:avLst/>
          </a:prstGeom>
          <a:solidFill>
            <a:srgbClr val="EEF4F8"/>
          </a:solidFill>
          <a:ln w="3175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8112373" y="2857500"/>
            <a:ext cx="41148" cy="4114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8222101" y="2857500"/>
            <a:ext cx="41148" cy="4114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8020933" y="3072384"/>
            <a:ext cx="960120" cy="219456"/>
          </a:xfrm>
          <a:prstGeom prst="roundRect">
            <a:avLst/>
          </a:prstGeom>
          <a:solidFill>
            <a:srgbClr val="EEF4F8"/>
          </a:solidFill>
          <a:ln w="3175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8112373" y="3150108"/>
            <a:ext cx="41148" cy="4114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8222101" y="3150108"/>
            <a:ext cx="41148" cy="4114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8020933" y="3364992"/>
            <a:ext cx="960120" cy="219456"/>
          </a:xfrm>
          <a:prstGeom prst="roundRect">
            <a:avLst/>
          </a:prstGeom>
          <a:solidFill>
            <a:srgbClr val="EEF4F8"/>
          </a:solidFill>
          <a:ln w="3175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8112373" y="3442716"/>
            <a:ext cx="41148" cy="4114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222101" y="3442716"/>
            <a:ext cx="41148" cy="4114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Connector 110"/>
          <p:cNvCxnSpPr/>
          <p:nvPr/>
        </p:nvCxnSpPr>
        <p:spPr>
          <a:xfrm>
            <a:off x="8112373" y="3703320"/>
            <a:ext cx="777240" cy="0"/>
          </a:xfrm>
          <a:prstGeom prst="line">
            <a:avLst/>
          </a:prstGeom>
          <a:ln w="2540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872793" y="4279392"/>
            <a:ext cx="1256947" cy="223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50" b="1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Control Center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171443" y="4638485"/>
            <a:ext cx="668060" cy="18288"/>
          </a:xfrm>
          <a:prstGeom prst="rect">
            <a:avLst/>
          </a:prstGeom>
          <a:solidFill>
            <a:srgbClr val="008065"/>
          </a:solidFill>
          <a:ln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7613062" y="5001767"/>
            <a:ext cx="64008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810928" y="4927092"/>
            <a:ext cx="1061188" cy="344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Weighted </a:t>
            </a:r>
            <a:r>
              <a:rPr sz="1120" b="0" dirty="0" err="1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FedAvg</a:t>
            </a:r>
            <a:r>
              <a:rPr sz="1120" b="0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
aggregation</a:t>
            </a:r>
          </a:p>
        </p:txBody>
      </p:sp>
      <p:sp>
        <p:nvSpPr>
          <p:cNvPr id="116" name="Oval 115"/>
          <p:cNvSpPr/>
          <p:nvPr/>
        </p:nvSpPr>
        <p:spPr>
          <a:xfrm>
            <a:off x="7613062" y="5513832"/>
            <a:ext cx="64008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737195" y="5463538"/>
            <a:ext cx="1550104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Creates the global model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851652" y="2141035"/>
            <a:ext cx="209452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10714664" y="1929384"/>
            <a:ext cx="384048" cy="384048"/>
          </a:xfrm>
          <a:prstGeom prst="ellipse">
            <a:avLst/>
          </a:prstGeom>
          <a:solidFill>
            <a:srgbClr val="091322"/>
          </a:solidFill>
          <a:ln w="254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10844972" y="2002536"/>
            <a:ext cx="12343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371490" y="2788920"/>
            <a:ext cx="1134710" cy="841248"/>
          </a:xfrm>
          <a:prstGeom prst="roundRect">
            <a:avLst/>
          </a:prstGeom>
          <a:solidFill>
            <a:srgbClr val="EEF4F8"/>
          </a:solidFill>
          <a:ln w="3175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10371490" y="2788920"/>
            <a:ext cx="1134710" cy="160020"/>
          </a:xfrm>
          <a:prstGeom prst="rect">
            <a:avLst/>
          </a:prstGeom>
          <a:solidFill>
            <a:srgbClr val="091322"/>
          </a:solidFill>
          <a:ln w="1524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10462930" y="2843784"/>
            <a:ext cx="36576" cy="36576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0572658" y="2843784"/>
            <a:ext cx="36576" cy="36576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10682386" y="2843784"/>
            <a:ext cx="36576" cy="36576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10517794" y="3118103"/>
            <a:ext cx="292608" cy="292608"/>
          </a:xfrm>
          <a:prstGeom prst="ellipse">
            <a:avLst/>
          </a:prstGeom>
          <a:solidFill>
            <a:srgbClr val="EEF4F8"/>
          </a:solidFill>
          <a:ln w="254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Connector 126"/>
          <p:cNvCxnSpPr/>
          <p:nvPr/>
        </p:nvCxnSpPr>
        <p:spPr>
          <a:xfrm>
            <a:off x="10664098" y="3118103"/>
            <a:ext cx="0" cy="146305"/>
          </a:xfrm>
          <a:prstGeom prst="line">
            <a:avLst/>
          </a:prstGeom>
          <a:ln w="1524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664098" y="3264408"/>
            <a:ext cx="137160" cy="91440"/>
          </a:xfrm>
          <a:prstGeom prst="line">
            <a:avLst/>
          </a:prstGeom>
          <a:ln w="1524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11029858" y="3337559"/>
            <a:ext cx="73152" cy="182880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11176162" y="3227832"/>
            <a:ext cx="73152" cy="292608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11322466" y="3108959"/>
            <a:ext cx="73152" cy="411480"/>
          </a:xfrm>
          <a:prstGeom prst="rect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369282" y="4279392"/>
            <a:ext cx="1075423" cy="223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50" b="1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Deployment 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572964" y="4638485"/>
            <a:ext cx="668060" cy="18288"/>
          </a:xfrm>
          <a:prstGeom prst="rect">
            <a:avLst/>
          </a:prstGeom>
          <a:solidFill>
            <a:srgbClr val="008065"/>
          </a:solidFill>
          <a:ln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10016575" y="5070347"/>
            <a:ext cx="64008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203932" y="5000244"/>
            <a:ext cx="1620636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5 Docker clients + 1 server</a:t>
            </a:r>
          </a:p>
        </p:txBody>
      </p:sp>
      <p:sp>
        <p:nvSpPr>
          <p:cNvPr id="138" name="Oval 137"/>
          <p:cNvSpPr/>
          <p:nvPr/>
        </p:nvSpPr>
        <p:spPr>
          <a:xfrm>
            <a:off x="10016575" y="5490971"/>
            <a:ext cx="64008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10219896" y="5428931"/>
            <a:ext cx="1375377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12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Monitoring </a:t>
            </a:r>
            <a:r>
              <a:rPr sz="1120" b="0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140" name="Chevron 139"/>
          <p:cNvSpPr/>
          <p:nvPr/>
        </p:nvSpPr>
        <p:spPr>
          <a:xfrm>
            <a:off x="2405420" y="3840479"/>
            <a:ext cx="164592" cy="256032"/>
          </a:xfrm>
          <a:prstGeom prst="chevron">
            <a:avLst/>
          </a:prstGeom>
          <a:solidFill>
            <a:srgbClr val="008065"/>
          </a:solidFill>
          <a:ln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Chevron 140"/>
          <p:cNvSpPr/>
          <p:nvPr/>
        </p:nvSpPr>
        <p:spPr>
          <a:xfrm>
            <a:off x="4810841" y="3840479"/>
            <a:ext cx="164592" cy="256032"/>
          </a:xfrm>
          <a:prstGeom prst="chevron">
            <a:avLst/>
          </a:prstGeom>
          <a:solidFill>
            <a:srgbClr val="008065"/>
          </a:solidFill>
          <a:ln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Chevron 141"/>
          <p:cNvSpPr/>
          <p:nvPr/>
        </p:nvSpPr>
        <p:spPr>
          <a:xfrm>
            <a:off x="7216261" y="3840479"/>
            <a:ext cx="164592" cy="256032"/>
          </a:xfrm>
          <a:prstGeom prst="chevron">
            <a:avLst/>
          </a:prstGeom>
          <a:solidFill>
            <a:srgbClr val="008065"/>
          </a:solidFill>
          <a:ln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Chevron 142"/>
          <p:cNvSpPr/>
          <p:nvPr/>
        </p:nvSpPr>
        <p:spPr>
          <a:xfrm>
            <a:off x="9621682" y="3840479"/>
            <a:ext cx="164592" cy="256032"/>
          </a:xfrm>
          <a:prstGeom prst="chevron">
            <a:avLst/>
          </a:prstGeom>
          <a:solidFill>
            <a:srgbClr val="008065"/>
          </a:solidFill>
          <a:ln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4123CE65-9D09-1669-351D-8B11AF4AD9C8}"/>
              </a:ext>
            </a:extLst>
          </p:cNvPr>
          <p:cNvSpPr/>
          <p:nvPr/>
        </p:nvSpPr>
        <p:spPr>
          <a:xfrm>
            <a:off x="5999079" y="3081381"/>
            <a:ext cx="193534" cy="246229"/>
          </a:xfrm>
          <a:prstGeom prst="ellipse">
            <a:avLst/>
          </a:prstGeom>
          <a:noFill/>
          <a:ln w="254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8C8FE68-ADAE-41FC-C3BE-CF964549D06B}"/>
              </a:ext>
            </a:extLst>
          </p:cNvPr>
          <p:cNvSpPr/>
          <p:nvPr/>
        </p:nvSpPr>
        <p:spPr>
          <a:xfrm>
            <a:off x="5964520" y="3190817"/>
            <a:ext cx="262653" cy="123114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ounded Rectangle 213">
            <a:extLst>
              <a:ext uri="{FF2B5EF4-FFF2-40B4-BE49-F238E27FC236}">
                <a16:creationId xmlns:a16="http://schemas.microsoft.com/office/drawing/2014/main" id="{2DDEB6FB-A16A-F1A2-19FF-0E271A1C2ABC}"/>
              </a:ext>
            </a:extLst>
          </p:cNvPr>
          <p:cNvSpPr/>
          <p:nvPr/>
        </p:nvSpPr>
        <p:spPr>
          <a:xfrm>
            <a:off x="5943784" y="3245534"/>
            <a:ext cx="304124" cy="246229"/>
          </a:xfrm>
          <a:prstGeom prst="roundRect">
            <a:avLst/>
          </a:prstGeom>
          <a:solidFill>
            <a:srgbClr val="008065"/>
          </a:solidFill>
          <a:ln w="635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A1EC967C-8074-63EF-B741-F2347C29A3D4}"/>
              </a:ext>
            </a:extLst>
          </p:cNvPr>
          <p:cNvSpPr/>
          <p:nvPr/>
        </p:nvSpPr>
        <p:spPr>
          <a:xfrm>
            <a:off x="6076493" y="3327611"/>
            <a:ext cx="34559" cy="61557"/>
          </a:xfrm>
          <a:prstGeom prst="ellipse">
            <a:avLst/>
          </a:prstGeom>
          <a:solidFill>
            <a:srgbClr val="EEF4F8"/>
          </a:solidFill>
          <a:ln w="2540">
            <a:solidFill>
              <a:srgbClr val="BE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D8684DF-368E-9783-F147-77F2A4403549}"/>
              </a:ext>
            </a:extLst>
          </p:cNvPr>
          <p:cNvSpPr/>
          <p:nvPr/>
        </p:nvSpPr>
        <p:spPr>
          <a:xfrm>
            <a:off x="6090317" y="3375489"/>
            <a:ext cx="9676" cy="54717"/>
          </a:xfrm>
          <a:prstGeom prst="rect">
            <a:avLst/>
          </a:prstGeom>
          <a:solidFill>
            <a:srgbClr val="EEF4F8"/>
          </a:solidFill>
          <a:ln w="2540">
            <a:solidFill>
              <a:srgbClr val="BE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C96A4B9B-FCBF-3AA8-2F47-286523F4F4DA}"/>
              </a:ext>
            </a:extLst>
          </p:cNvPr>
          <p:cNvSpPr/>
          <p:nvPr/>
        </p:nvSpPr>
        <p:spPr>
          <a:xfrm>
            <a:off x="3669137" y="2773935"/>
            <a:ext cx="100584" cy="64008"/>
          </a:xfrm>
          <a:prstGeom prst="ellipse">
            <a:avLst/>
          </a:prstGeom>
          <a:solidFill>
            <a:srgbClr val="00806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5" name="Connector 71">
            <a:extLst>
              <a:ext uri="{FF2B5EF4-FFF2-40B4-BE49-F238E27FC236}">
                <a16:creationId xmlns:a16="http://schemas.microsoft.com/office/drawing/2014/main" id="{79099D39-5B9B-B7AC-1484-DE6209A0A61B}"/>
              </a:ext>
            </a:extLst>
          </p:cNvPr>
          <p:cNvCxnSpPr>
            <a:cxnSpLocks/>
          </p:cNvCxnSpPr>
          <p:nvPr/>
        </p:nvCxnSpPr>
        <p:spPr>
          <a:xfrm flipH="1" flipV="1">
            <a:off x="3591413" y="2714499"/>
            <a:ext cx="128016" cy="91440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>
            <a:extLst>
              <a:ext uri="{FF2B5EF4-FFF2-40B4-BE49-F238E27FC236}">
                <a16:creationId xmlns:a16="http://schemas.microsoft.com/office/drawing/2014/main" id="{5A99FA46-ACEC-9098-B8D2-7E68FDA65F54}"/>
              </a:ext>
            </a:extLst>
          </p:cNvPr>
          <p:cNvSpPr/>
          <p:nvPr/>
        </p:nvSpPr>
        <p:spPr>
          <a:xfrm>
            <a:off x="3559409" y="2682494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7" name="Connector 73">
            <a:extLst>
              <a:ext uri="{FF2B5EF4-FFF2-40B4-BE49-F238E27FC236}">
                <a16:creationId xmlns:a16="http://schemas.microsoft.com/office/drawing/2014/main" id="{EE476E05-0683-D00D-48E2-FDC3D7FA24F6}"/>
              </a:ext>
            </a:extLst>
          </p:cNvPr>
          <p:cNvCxnSpPr>
            <a:cxnSpLocks/>
          </p:cNvCxnSpPr>
          <p:nvPr/>
        </p:nvCxnSpPr>
        <p:spPr>
          <a:xfrm flipV="1">
            <a:off x="3719429" y="2714499"/>
            <a:ext cx="128016" cy="91440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>
            <a:extLst>
              <a:ext uri="{FF2B5EF4-FFF2-40B4-BE49-F238E27FC236}">
                <a16:creationId xmlns:a16="http://schemas.microsoft.com/office/drawing/2014/main" id="{977F4CE3-130F-038C-3A83-640B631DE814}"/>
              </a:ext>
            </a:extLst>
          </p:cNvPr>
          <p:cNvSpPr/>
          <p:nvPr/>
        </p:nvSpPr>
        <p:spPr>
          <a:xfrm>
            <a:off x="3815441" y="2682494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" name="Connector 75">
            <a:extLst>
              <a:ext uri="{FF2B5EF4-FFF2-40B4-BE49-F238E27FC236}">
                <a16:creationId xmlns:a16="http://schemas.microsoft.com/office/drawing/2014/main" id="{6D0E0B68-B8FF-9FF3-5BC8-905D7CAF3ED3}"/>
              </a:ext>
            </a:extLst>
          </p:cNvPr>
          <p:cNvCxnSpPr>
            <a:cxnSpLocks/>
          </p:cNvCxnSpPr>
          <p:nvPr/>
        </p:nvCxnSpPr>
        <p:spPr>
          <a:xfrm flipH="1">
            <a:off x="3591413" y="2805939"/>
            <a:ext cx="128016" cy="91439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Oval 179">
            <a:extLst>
              <a:ext uri="{FF2B5EF4-FFF2-40B4-BE49-F238E27FC236}">
                <a16:creationId xmlns:a16="http://schemas.microsoft.com/office/drawing/2014/main" id="{811292A4-FEFF-922A-3381-BE9B963B5BB9}"/>
              </a:ext>
            </a:extLst>
          </p:cNvPr>
          <p:cNvSpPr/>
          <p:nvPr/>
        </p:nvSpPr>
        <p:spPr>
          <a:xfrm>
            <a:off x="3559409" y="2865374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1" name="Connector 77">
            <a:extLst>
              <a:ext uri="{FF2B5EF4-FFF2-40B4-BE49-F238E27FC236}">
                <a16:creationId xmlns:a16="http://schemas.microsoft.com/office/drawing/2014/main" id="{45C0C8C2-19D0-029F-C1CE-E7A936B6FA2C}"/>
              </a:ext>
            </a:extLst>
          </p:cNvPr>
          <p:cNvCxnSpPr>
            <a:cxnSpLocks/>
          </p:cNvCxnSpPr>
          <p:nvPr/>
        </p:nvCxnSpPr>
        <p:spPr>
          <a:xfrm>
            <a:off x="3719429" y="2805939"/>
            <a:ext cx="128016" cy="91439"/>
          </a:xfrm>
          <a:prstGeom prst="line">
            <a:avLst/>
          </a:prstGeom>
          <a:ln w="1397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99EB55C9-7256-C0FA-A460-676659FE71D8}"/>
              </a:ext>
            </a:extLst>
          </p:cNvPr>
          <p:cNvSpPr/>
          <p:nvPr/>
        </p:nvSpPr>
        <p:spPr>
          <a:xfrm>
            <a:off x="3815441" y="2865374"/>
            <a:ext cx="64008" cy="64008"/>
          </a:xfrm>
          <a:prstGeom prst="ellipse">
            <a:avLst/>
          </a:prstGeom>
          <a:solidFill>
            <a:srgbClr val="EEF4F8"/>
          </a:solidFill>
          <a:ln w="1397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3" name="Connector 160">
            <a:extLst>
              <a:ext uri="{FF2B5EF4-FFF2-40B4-BE49-F238E27FC236}">
                <a16:creationId xmlns:a16="http://schemas.microsoft.com/office/drawing/2014/main" id="{2A18C939-7174-528D-68DA-6D12C49BDC66}"/>
              </a:ext>
            </a:extLst>
          </p:cNvPr>
          <p:cNvCxnSpPr/>
          <p:nvPr/>
        </p:nvCxnSpPr>
        <p:spPr>
          <a:xfrm flipV="1">
            <a:off x="1081466" y="3047878"/>
            <a:ext cx="193535" cy="136795"/>
          </a:xfrm>
          <a:prstGeom prst="line">
            <a:avLst/>
          </a:prstGeom>
          <a:ln w="1651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61">
            <a:extLst>
              <a:ext uri="{FF2B5EF4-FFF2-40B4-BE49-F238E27FC236}">
                <a16:creationId xmlns:a16="http://schemas.microsoft.com/office/drawing/2014/main" id="{1D14D5A6-D3D9-C6CB-2E66-D3F7A1FABEBE}"/>
              </a:ext>
            </a:extLst>
          </p:cNvPr>
          <p:cNvCxnSpPr/>
          <p:nvPr/>
        </p:nvCxnSpPr>
        <p:spPr>
          <a:xfrm>
            <a:off x="1275001" y="3047878"/>
            <a:ext cx="193534" cy="136795"/>
          </a:xfrm>
          <a:prstGeom prst="line">
            <a:avLst/>
          </a:prstGeom>
          <a:ln w="1651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62">
            <a:extLst>
              <a:ext uri="{FF2B5EF4-FFF2-40B4-BE49-F238E27FC236}">
                <a16:creationId xmlns:a16="http://schemas.microsoft.com/office/drawing/2014/main" id="{37E60BE5-3BED-0FFB-B91E-2C40331066EC}"/>
              </a:ext>
            </a:extLst>
          </p:cNvPr>
          <p:cNvCxnSpPr/>
          <p:nvPr/>
        </p:nvCxnSpPr>
        <p:spPr>
          <a:xfrm>
            <a:off x="1081466" y="3184673"/>
            <a:ext cx="96767" cy="205191"/>
          </a:xfrm>
          <a:prstGeom prst="line">
            <a:avLst/>
          </a:prstGeom>
          <a:ln w="1651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63">
            <a:extLst>
              <a:ext uri="{FF2B5EF4-FFF2-40B4-BE49-F238E27FC236}">
                <a16:creationId xmlns:a16="http://schemas.microsoft.com/office/drawing/2014/main" id="{85CC458D-6391-8ECA-7935-A134189F5FD1}"/>
              </a:ext>
            </a:extLst>
          </p:cNvPr>
          <p:cNvCxnSpPr/>
          <p:nvPr/>
        </p:nvCxnSpPr>
        <p:spPr>
          <a:xfrm>
            <a:off x="1178233" y="3389864"/>
            <a:ext cx="193535" cy="0"/>
          </a:xfrm>
          <a:prstGeom prst="line">
            <a:avLst/>
          </a:prstGeom>
          <a:ln w="1651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64">
            <a:extLst>
              <a:ext uri="{FF2B5EF4-FFF2-40B4-BE49-F238E27FC236}">
                <a16:creationId xmlns:a16="http://schemas.microsoft.com/office/drawing/2014/main" id="{4A4F5348-0F8B-158B-52AD-9EB5C95D8A65}"/>
              </a:ext>
            </a:extLst>
          </p:cNvPr>
          <p:cNvCxnSpPr/>
          <p:nvPr/>
        </p:nvCxnSpPr>
        <p:spPr>
          <a:xfrm flipV="1">
            <a:off x="1371768" y="3184673"/>
            <a:ext cx="96767" cy="205191"/>
          </a:xfrm>
          <a:prstGeom prst="line">
            <a:avLst/>
          </a:prstGeom>
          <a:ln w="1651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65">
            <a:extLst>
              <a:ext uri="{FF2B5EF4-FFF2-40B4-BE49-F238E27FC236}">
                <a16:creationId xmlns:a16="http://schemas.microsoft.com/office/drawing/2014/main" id="{04AD4139-3FB4-C2B2-C657-5C84B73FE1A7}"/>
              </a:ext>
            </a:extLst>
          </p:cNvPr>
          <p:cNvCxnSpPr/>
          <p:nvPr/>
        </p:nvCxnSpPr>
        <p:spPr>
          <a:xfrm>
            <a:off x="1275001" y="3047878"/>
            <a:ext cx="0" cy="205192"/>
          </a:xfrm>
          <a:prstGeom prst="line">
            <a:avLst/>
          </a:prstGeom>
          <a:ln w="1651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66">
            <a:extLst>
              <a:ext uri="{FF2B5EF4-FFF2-40B4-BE49-F238E27FC236}">
                <a16:creationId xmlns:a16="http://schemas.microsoft.com/office/drawing/2014/main" id="{8E74BD9C-1ED8-DFFE-CBD1-F5CEFD1739CA}"/>
              </a:ext>
            </a:extLst>
          </p:cNvPr>
          <p:cNvCxnSpPr/>
          <p:nvPr/>
        </p:nvCxnSpPr>
        <p:spPr>
          <a:xfrm>
            <a:off x="1081466" y="3184673"/>
            <a:ext cx="193535" cy="68397"/>
          </a:xfrm>
          <a:prstGeom prst="line">
            <a:avLst/>
          </a:prstGeom>
          <a:ln w="1651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67">
            <a:extLst>
              <a:ext uri="{FF2B5EF4-FFF2-40B4-BE49-F238E27FC236}">
                <a16:creationId xmlns:a16="http://schemas.microsoft.com/office/drawing/2014/main" id="{0930BDC4-B1FD-559A-3917-FFC646988168}"/>
              </a:ext>
            </a:extLst>
          </p:cNvPr>
          <p:cNvCxnSpPr/>
          <p:nvPr/>
        </p:nvCxnSpPr>
        <p:spPr>
          <a:xfrm flipH="1">
            <a:off x="1275001" y="3184673"/>
            <a:ext cx="193534" cy="68397"/>
          </a:xfrm>
          <a:prstGeom prst="line">
            <a:avLst/>
          </a:prstGeom>
          <a:ln w="1651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168">
            <a:extLst>
              <a:ext uri="{FF2B5EF4-FFF2-40B4-BE49-F238E27FC236}">
                <a16:creationId xmlns:a16="http://schemas.microsoft.com/office/drawing/2014/main" id="{1EA78B92-0224-CFA5-E5A8-1AD120310127}"/>
              </a:ext>
            </a:extLst>
          </p:cNvPr>
          <p:cNvCxnSpPr/>
          <p:nvPr/>
        </p:nvCxnSpPr>
        <p:spPr>
          <a:xfrm flipH="1" flipV="1">
            <a:off x="1275001" y="3253070"/>
            <a:ext cx="96767" cy="136794"/>
          </a:xfrm>
          <a:prstGeom prst="line">
            <a:avLst/>
          </a:prstGeom>
          <a:ln w="1651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169">
            <a:extLst>
              <a:ext uri="{FF2B5EF4-FFF2-40B4-BE49-F238E27FC236}">
                <a16:creationId xmlns:a16="http://schemas.microsoft.com/office/drawing/2014/main" id="{E764FCF2-03AC-B8CF-4BD9-9715B5AF67E9}"/>
              </a:ext>
            </a:extLst>
          </p:cNvPr>
          <p:cNvCxnSpPr/>
          <p:nvPr/>
        </p:nvCxnSpPr>
        <p:spPr>
          <a:xfrm flipV="1">
            <a:off x="1178233" y="3253070"/>
            <a:ext cx="96768" cy="136794"/>
          </a:xfrm>
          <a:prstGeom prst="line">
            <a:avLst/>
          </a:prstGeom>
          <a:ln w="16510">
            <a:solidFill>
              <a:srgbClr val="00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Oval 202">
            <a:extLst>
              <a:ext uri="{FF2B5EF4-FFF2-40B4-BE49-F238E27FC236}">
                <a16:creationId xmlns:a16="http://schemas.microsoft.com/office/drawing/2014/main" id="{F8064118-CF0A-14A8-3C7B-85E3FE65B9CF}"/>
              </a:ext>
            </a:extLst>
          </p:cNvPr>
          <p:cNvSpPr/>
          <p:nvPr/>
        </p:nvSpPr>
        <p:spPr>
          <a:xfrm>
            <a:off x="1046907" y="3150474"/>
            <a:ext cx="69119" cy="68397"/>
          </a:xfrm>
          <a:prstGeom prst="ellipse">
            <a:avLst/>
          </a:prstGeom>
          <a:solidFill>
            <a:srgbClr val="EEF4F8"/>
          </a:solidFill>
          <a:ln w="1524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9566C71B-77DA-1A4E-25CF-FA2B3C9D1049}"/>
              </a:ext>
            </a:extLst>
          </p:cNvPr>
          <p:cNvSpPr/>
          <p:nvPr/>
        </p:nvSpPr>
        <p:spPr>
          <a:xfrm>
            <a:off x="1240441" y="3013680"/>
            <a:ext cx="69119" cy="68397"/>
          </a:xfrm>
          <a:prstGeom prst="ellipse">
            <a:avLst/>
          </a:prstGeom>
          <a:solidFill>
            <a:srgbClr val="EEF4F8"/>
          </a:solidFill>
          <a:ln w="1524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37D9A450-9669-B2A3-C9D7-FA69408C9525}"/>
              </a:ext>
            </a:extLst>
          </p:cNvPr>
          <p:cNvSpPr/>
          <p:nvPr/>
        </p:nvSpPr>
        <p:spPr>
          <a:xfrm>
            <a:off x="1433975" y="3150474"/>
            <a:ext cx="69119" cy="68397"/>
          </a:xfrm>
          <a:prstGeom prst="ellipse">
            <a:avLst/>
          </a:prstGeom>
          <a:solidFill>
            <a:srgbClr val="EEF4F8"/>
          </a:solidFill>
          <a:ln w="1524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6B871E69-108F-5526-85FE-B7C9D094BF83}"/>
              </a:ext>
            </a:extLst>
          </p:cNvPr>
          <p:cNvSpPr/>
          <p:nvPr/>
        </p:nvSpPr>
        <p:spPr>
          <a:xfrm>
            <a:off x="1337208" y="3355666"/>
            <a:ext cx="69119" cy="68397"/>
          </a:xfrm>
          <a:prstGeom prst="ellipse">
            <a:avLst/>
          </a:prstGeom>
          <a:solidFill>
            <a:srgbClr val="EEF4F8"/>
          </a:solidFill>
          <a:ln w="1524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AE0EBED5-F199-6FDD-EC87-6C44422039B9}"/>
              </a:ext>
            </a:extLst>
          </p:cNvPr>
          <p:cNvSpPr/>
          <p:nvPr/>
        </p:nvSpPr>
        <p:spPr>
          <a:xfrm>
            <a:off x="1143674" y="3355666"/>
            <a:ext cx="69119" cy="68397"/>
          </a:xfrm>
          <a:prstGeom prst="ellipse">
            <a:avLst/>
          </a:prstGeom>
          <a:solidFill>
            <a:srgbClr val="EEF4F8"/>
          </a:solidFill>
          <a:ln w="1524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69AD6D1F-0499-D418-4FE3-CBBDF6AAE6FF}"/>
              </a:ext>
            </a:extLst>
          </p:cNvPr>
          <p:cNvSpPr/>
          <p:nvPr/>
        </p:nvSpPr>
        <p:spPr>
          <a:xfrm>
            <a:off x="1240441" y="3218871"/>
            <a:ext cx="69119" cy="68397"/>
          </a:xfrm>
          <a:prstGeom prst="ellipse">
            <a:avLst/>
          </a:prstGeom>
          <a:solidFill>
            <a:srgbClr val="EEF4F8"/>
          </a:solidFill>
          <a:ln w="1524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79E0EB1-3F41-DC4F-6C0F-BD2CBC0C25EF}"/>
              </a:ext>
            </a:extLst>
          </p:cNvPr>
          <p:cNvSpPr txBox="1"/>
          <p:nvPr/>
        </p:nvSpPr>
        <p:spPr>
          <a:xfrm>
            <a:off x="3041618" y="5350620"/>
            <a:ext cx="1597040" cy="34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20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Sends model updates, not local data </a:t>
            </a:r>
            <a:endParaRPr sz="1120" b="0" dirty="0">
              <a:solidFill>
                <a:srgbClr val="10233A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6F8547B-0C4F-7440-5D0D-B15306CF541C}"/>
              </a:ext>
            </a:extLst>
          </p:cNvPr>
          <p:cNvSpPr txBox="1"/>
          <p:nvPr/>
        </p:nvSpPr>
        <p:spPr>
          <a:xfrm>
            <a:off x="526161" y="4927915"/>
            <a:ext cx="139827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0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Binary Classification</a:t>
            </a:r>
            <a:endParaRPr lang="en-GB" sz="1120" dirty="0">
              <a:solidFill>
                <a:srgbClr val="10233A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9BD77-15C0-772A-EE0F-C903B609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035278-34E7-58C6-9227-6E6A9D1B40C5}"/>
              </a:ext>
            </a:extLst>
          </p:cNvPr>
          <p:cNvSpPr txBox="1"/>
          <p:nvPr/>
        </p:nvSpPr>
        <p:spPr>
          <a:xfrm>
            <a:off x="558800" y="304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50" b="1" dirty="0">
                <a:solidFill>
                  <a:srgbClr val="10233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Technical Methodology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A42C72-2569-D6B0-1F63-7685E12D1529}"/>
              </a:ext>
            </a:extLst>
          </p:cNvPr>
          <p:cNvSpPr txBox="1"/>
          <p:nvPr/>
        </p:nvSpPr>
        <p:spPr>
          <a:xfrm>
            <a:off x="558800" y="5715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 dirty="0">
                <a:solidFill>
                  <a:srgbClr val="10233A"/>
                </a:solidFill>
                <a:latin typeface="Aptos Display" panose="020B0004020202020204" pitchFamily="34" charset="0"/>
              </a:rPr>
              <a:t>One complete learning and security cycle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06B986-391B-8520-0A9A-8DEA78BFD7AE}"/>
              </a:ext>
            </a:extLst>
          </p:cNvPr>
          <p:cNvCxnSpPr/>
          <p:nvPr/>
        </p:nvCxnSpPr>
        <p:spPr>
          <a:xfrm>
            <a:off x="558800" y="1193800"/>
            <a:ext cx="11074400" cy="0"/>
          </a:xfrm>
          <a:prstGeom prst="line">
            <a:avLst/>
          </a:prstGeom>
          <a:ln w="12700" cap="flat" cmpd="sng" algn="ctr">
            <a:solidFill>
              <a:srgbClr val="94A3B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77B6C73-55A2-9A3D-2341-CC5CF7B39411}"/>
              </a:ext>
            </a:extLst>
          </p:cNvPr>
          <p:cNvSpPr txBox="1"/>
          <p:nvPr/>
        </p:nvSpPr>
        <p:spPr>
          <a:xfrm>
            <a:off x="558800" y="1707536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008065"/>
                </a:solidFill>
                <a:latin typeface="Aptos" panose="020B0004020202020204" pitchFamily="34" charset="0"/>
              </a:rPr>
              <a:t>5 LOGICAL CLIENTS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CD0EF3-3963-64DC-1178-66F955FA0F5C}"/>
              </a:ext>
            </a:extLst>
          </p:cNvPr>
          <p:cNvSpPr txBox="1"/>
          <p:nvPr/>
        </p:nvSpPr>
        <p:spPr>
          <a:xfrm>
            <a:off x="3860800" y="1707536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50" b="1">
                <a:solidFill>
                  <a:srgbClr val="AE6000"/>
                </a:solidFill>
                <a:latin typeface="Aptos" panose="020B0004020202020204" pitchFamily="34" charset="0"/>
              </a:rPr>
              <a:t>SECURITY GATE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EF703A-BC0A-1840-D5E9-C08E5BC9CC57}"/>
              </a:ext>
            </a:extLst>
          </p:cNvPr>
          <p:cNvSpPr txBox="1"/>
          <p:nvPr/>
        </p:nvSpPr>
        <p:spPr>
          <a:xfrm>
            <a:off x="8686800" y="1707536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50" b="1">
                <a:solidFill>
                  <a:srgbClr val="2467B2"/>
                </a:solidFill>
                <a:latin typeface="Aptos" panose="020B0004020202020204" pitchFamily="34" charset="0"/>
              </a:rPr>
              <a:t>FEDAVG COORDINATOR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FCC76A4-EB2D-CDE4-3802-1871C09AD842}"/>
              </a:ext>
            </a:extLst>
          </p:cNvPr>
          <p:cNvSpPr/>
          <p:nvPr/>
        </p:nvSpPr>
        <p:spPr>
          <a:xfrm>
            <a:off x="558800" y="2063136"/>
            <a:ext cx="2387600" cy="5461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B66C47-6CC6-846B-9DFA-650435B41E04}"/>
              </a:ext>
            </a:extLst>
          </p:cNvPr>
          <p:cNvCxnSpPr/>
          <p:nvPr/>
        </p:nvCxnSpPr>
        <p:spPr>
          <a:xfrm>
            <a:off x="732790" y="2284116"/>
            <a:ext cx="160020" cy="91440"/>
          </a:xfrm>
          <a:prstGeom prst="line">
            <a:avLst/>
          </a:prstGeom>
          <a:ln w="8573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7C0E5-4786-D7D3-7513-EF0CE45B6440}"/>
              </a:ext>
            </a:extLst>
          </p:cNvPr>
          <p:cNvCxnSpPr/>
          <p:nvPr/>
        </p:nvCxnSpPr>
        <p:spPr>
          <a:xfrm flipV="1">
            <a:off x="732790" y="2284116"/>
            <a:ext cx="160020" cy="91440"/>
          </a:xfrm>
          <a:prstGeom prst="line">
            <a:avLst/>
          </a:prstGeom>
          <a:ln w="8573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029A1DE-95A3-5A3E-F4AD-5F8C5BF4F696}"/>
              </a:ext>
            </a:extLst>
          </p:cNvPr>
          <p:cNvSpPr/>
          <p:nvPr/>
        </p:nvSpPr>
        <p:spPr>
          <a:xfrm>
            <a:off x="767080" y="2306976"/>
            <a:ext cx="91440" cy="45720"/>
          </a:xfrm>
          <a:prstGeom prst="roundRect">
            <a:avLst/>
          </a:prstGeom>
          <a:solidFill>
            <a:srgbClr val="00806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459235B-DD5D-32A3-42DA-7D0159EB0031}"/>
              </a:ext>
            </a:extLst>
          </p:cNvPr>
          <p:cNvSpPr/>
          <p:nvPr/>
        </p:nvSpPr>
        <p:spPr>
          <a:xfrm>
            <a:off x="715645" y="226697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8A1F83-8C1F-FB5B-203D-DF8FF26737C0}"/>
              </a:ext>
            </a:extLst>
          </p:cNvPr>
          <p:cNvSpPr/>
          <p:nvPr/>
        </p:nvSpPr>
        <p:spPr>
          <a:xfrm>
            <a:off x="887095" y="226697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EBC38FB-51C6-95C4-8C1C-6C1519E8192F}"/>
              </a:ext>
            </a:extLst>
          </p:cNvPr>
          <p:cNvSpPr/>
          <p:nvPr/>
        </p:nvSpPr>
        <p:spPr>
          <a:xfrm>
            <a:off x="715645" y="236984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4CFE75C-1937-0320-1D26-7C922B476863}"/>
              </a:ext>
            </a:extLst>
          </p:cNvPr>
          <p:cNvSpPr/>
          <p:nvPr/>
        </p:nvSpPr>
        <p:spPr>
          <a:xfrm>
            <a:off x="887095" y="236984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B2A405-C358-A29A-8A9F-1D5088C505B9}"/>
              </a:ext>
            </a:extLst>
          </p:cNvPr>
          <p:cNvSpPr txBox="1"/>
          <p:nvPr/>
        </p:nvSpPr>
        <p:spPr>
          <a:xfrm>
            <a:off x="1117600" y="2152036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0233A"/>
                </a:solidFill>
                <a:latin typeface="Aptos" panose="020B0004020202020204" pitchFamily="34" charset="0"/>
              </a:rPr>
              <a:t>CLIENT 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0D9683-50C0-F58E-9E55-008E60276C23}"/>
              </a:ext>
            </a:extLst>
          </p:cNvPr>
          <p:cNvSpPr txBox="1"/>
          <p:nvPr/>
        </p:nvSpPr>
        <p:spPr>
          <a:xfrm>
            <a:off x="1117600" y="2355236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26579"/>
                </a:solidFill>
                <a:latin typeface="Aptos" panose="020B0004020202020204" pitchFamily="34" charset="0"/>
              </a:rPr>
              <a:t>1,230 rows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4D44B40-D5C9-CED4-25CA-B482892EEA43}"/>
              </a:ext>
            </a:extLst>
          </p:cNvPr>
          <p:cNvSpPr/>
          <p:nvPr/>
        </p:nvSpPr>
        <p:spPr>
          <a:xfrm>
            <a:off x="2108200" y="2215536"/>
            <a:ext cx="660400" cy="88900"/>
          </a:xfrm>
          <a:prstGeom prst="roundRect">
            <a:avLst/>
          </a:prstGeom>
          <a:solidFill>
            <a:srgbClr val="DAE4E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8F3E051-F7D0-5590-CAC4-80FF20D16D76}"/>
              </a:ext>
            </a:extLst>
          </p:cNvPr>
          <p:cNvSpPr/>
          <p:nvPr/>
        </p:nvSpPr>
        <p:spPr>
          <a:xfrm>
            <a:off x="2108200" y="2215536"/>
            <a:ext cx="336804" cy="88900"/>
          </a:xfrm>
          <a:prstGeom prst="roundRect">
            <a:avLst/>
          </a:prstGeom>
          <a:solidFill>
            <a:srgbClr val="BE374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E6E9F2-F596-A327-C6C7-00D21460DB14}"/>
              </a:ext>
            </a:extLst>
          </p:cNvPr>
          <p:cNvSpPr txBox="1"/>
          <p:nvPr/>
        </p:nvSpPr>
        <p:spPr>
          <a:xfrm>
            <a:off x="2108200" y="2367936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526579"/>
                </a:solidFill>
                <a:latin typeface="Aptos" panose="020B0004020202020204" pitchFamily="34" charset="0"/>
              </a:rPr>
              <a:t>Attack mix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EF8D8DE-509C-D456-FB68-A9B56BD9053B}"/>
              </a:ext>
            </a:extLst>
          </p:cNvPr>
          <p:cNvSpPr/>
          <p:nvPr/>
        </p:nvSpPr>
        <p:spPr>
          <a:xfrm>
            <a:off x="558800" y="2748936"/>
            <a:ext cx="2387600" cy="5461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691E6C6-B13C-0C6F-DAD7-A1FD393DA10F}"/>
              </a:ext>
            </a:extLst>
          </p:cNvPr>
          <p:cNvCxnSpPr/>
          <p:nvPr/>
        </p:nvCxnSpPr>
        <p:spPr>
          <a:xfrm>
            <a:off x="732790" y="2969916"/>
            <a:ext cx="160020" cy="91440"/>
          </a:xfrm>
          <a:prstGeom prst="line">
            <a:avLst/>
          </a:prstGeom>
          <a:ln w="8573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20FC0C4-F506-9411-9381-472E49781442}"/>
              </a:ext>
            </a:extLst>
          </p:cNvPr>
          <p:cNvCxnSpPr/>
          <p:nvPr/>
        </p:nvCxnSpPr>
        <p:spPr>
          <a:xfrm flipV="1">
            <a:off x="732790" y="2969916"/>
            <a:ext cx="160020" cy="91440"/>
          </a:xfrm>
          <a:prstGeom prst="line">
            <a:avLst/>
          </a:prstGeom>
          <a:ln w="8573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0326C5F-AD6D-3CDA-7B89-06192E5B0C1E}"/>
              </a:ext>
            </a:extLst>
          </p:cNvPr>
          <p:cNvSpPr/>
          <p:nvPr/>
        </p:nvSpPr>
        <p:spPr>
          <a:xfrm>
            <a:off x="767080" y="2992776"/>
            <a:ext cx="91440" cy="45720"/>
          </a:xfrm>
          <a:prstGeom prst="roundRect">
            <a:avLst/>
          </a:prstGeom>
          <a:solidFill>
            <a:srgbClr val="00806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D27DF3F-A63A-7149-3606-2EB719F3AB42}"/>
              </a:ext>
            </a:extLst>
          </p:cNvPr>
          <p:cNvSpPr/>
          <p:nvPr/>
        </p:nvSpPr>
        <p:spPr>
          <a:xfrm>
            <a:off x="715645" y="295277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89F5F47-2CBF-8C48-7046-B86CA9793EAA}"/>
              </a:ext>
            </a:extLst>
          </p:cNvPr>
          <p:cNvSpPr/>
          <p:nvPr/>
        </p:nvSpPr>
        <p:spPr>
          <a:xfrm>
            <a:off x="887095" y="295277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184141D-5E65-7789-69A4-77E7D1B9BB32}"/>
              </a:ext>
            </a:extLst>
          </p:cNvPr>
          <p:cNvSpPr/>
          <p:nvPr/>
        </p:nvSpPr>
        <p:spPr>
          <a:xfrm>
            <a:off x="715645" y="305564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BEA2977-FF07-F8B7-0150-F579283C6BE8}"/>
              </a:ext>
            </a:extLst>
          </p:cNvPr>
          <p:cNvSpPr/>
          <p:nvPr/>
        </p:nvSpPr>
        <p:spPr>
          <a:xfrm>
            <a:off x="887095" y="305564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760C9C9-E79D-2A3E-F2BF-5E18E1B4364A}"/>
              </a:ext>
            </a:extLst>
          </p:cNvPr>
          <p:cNvSpPr txBox="1"/>
          <p:nvPr/>
        </p:nvSpPr>
        <p:spPr>
          <a:xfrm>
            <a:off x="1117600" y="2837836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0233A"/>
                </a:solidFill>
                <a:latin typeface="Aptos" panose="020B0004020202020204" pitchFamily="34" charset="0"/>
              </a:rPr>
              <a:t>CLIENT 2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2087038-850F-0B1E-CD31-7E6608FD476D}"/>
              </a:ext>
            </a:extLst>
          </p:cNvPr>
          <p:cNvSpPr txBox="1"/>
          <p:nvPr/>
        </p:nvSpPr>
        <p:spPr>
          <a:xfrm>
            <a:off x="1117600" y="3041036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26579"/>
                </a:solidFill>
                <a:latin typeface="Aptos" panose="020B0004020202020204" pitchFamily="34" charset="0"/>
              </a:rPr>
              <a:t>1,046 rows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08EFABED-EA09-AFCD-59B4-D13905088189}"/>
              </a:ext>
            </a:extLst>
          </p:cNvPr>
          <p:cNvSpPr/>
          <p:nvPr/>
        </p:nvSpPr>
        <p:spPr>
          <a:xfrm>
            <a:off x="2108200" y="2901336"/>
            <a:ext cx="660400" cy="88900"/>
          </a:xfrm>
          <a:prstGeom prst="roundRect">
            <a:avLst/>
          </a:prstGeom>
          <a:solidFill>
            <a:srgbClr val="DAE4E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9712BC62-ABA4-D2D2-BBB7-B555978A7DCD}"/>
              </a:ext>
            </a:extLst>
          </p:cNvPr>
          <p:cNvSpPr/>
          <p:nvPr/>
        </p:nvSpPr>
        <p:spPr>
          <a:xfrm>
            <a:off x="2108200" y="2901336"/>
            <a:ext cx="495300" cy="88900"/>
          </a:xfrm>
          <a:prstGeom prst="roundRect">
            <a:avLst/>
          </a:prstGeom>
          <a:solidFill>
            <a:srgbClr val="BE374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4ABAA64-1545-C34F-3B05-971C909A0F93}"/>
              </a:ext>
            </a:extLst>
          </p:cNvPr>
          <p:cNvSpPr txBox="1"/>
          <p:nvPr/>
        </p:nvSpPr>
        <p:spPr>
          <a:xfrm>
            <a:off x="2108200" y="3053736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526579"/>
                </a:solidFill>
                <a:latin typeface="Aptos" panose="020B0004020202020204" pitchFamily="34" charset="0"/>
              </a:rPr>
              <a:t>Attack mix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52D58733-3DA4-5B17-3AC0-BA65B3BEAE98}"/>
              </a:ext>
            </a:extLst>
          </p:cNvPr>
          <p:cNvSpPr/>
          <p:nvPr/>
        </p:nvSpPr>
        <p:spPr>
          <a:xfrm>
            <a:off x="558800" y="3434736"/>
            <a:ext cx="2387600" cy="5461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3746759-F2A6-CFF5-F9DD-04E5E98D1A5E}"/>
              </a:ext>
            </a:extLst>
          </p:cNvPr>
          <p:cNvCxnSpPr/>
          <p:nvPr/>
        </p:nvCxnSpPr>
        <p:spPr>
          <a:xfrm>
            <a:off x="732790" y="3655716"/>
            <a:ext cx="160020" cy="91440"/>
          </a:xfrm>
          <a:prstGeom prst="line">
            <a:avLst/>
          </a:prstGeom>
          <a:ln w="8573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E42983D-2865-D80E-CD81-1900270C259A}"/>
              </a:ext>
            </a:extLst>
          </p:cNvPr>
          <p:cNvCxnSpPr/>
          <p:nvPr/>
        </p:nvCxnSpPr>
        <p:spPr>
          <a:xfrm flipV="1">
            <a:off x="732790" y="3655716"/>
            <a:ext cx="160020" cy="91440"/>
          </a:xfrm>
          <a:prstGeom prst="line">
            <a:avLst/>
          </a:prstGeom>
          <a:ln w="8573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464CBC5F-0B8B-506B-BF64-05FE092194D2}"/>
              </a:ext>
            </a:extLst>
          </p:cNvPr>
          <p:cNvSpPr/>
          <p:nvPr/>
        </p:nvSpPr>
        <p:spPr>
          <a:xfrm>
            <a:off x="767080" y="3678576"/>
            <a:ext cx="91440" cy="45720"/>
          </a:xfrm>
          <a:prstGeom prst="roundRect">
            <a:avLst/>
          </a:prstGeom>
          <a:solidFill>
            <a:srgbClr val="00806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91F9133F-6486-6877-D614-6AEC2AC421F6}"/>
              </a:ext>
            </a:extLst>
          </p:cNvPr>
          <p:cNvSpPr/>
          <p:nvPr/>
        </p:nvSpPr>
        <p:spPr>
          <a:xfrm>
            <a:off x="715645" y="363857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A382B9E6-9FDA-CD0D-F0D9-9FB2B1EE0EBC}"/>
              </a:ext>
            </a:extLst>
          </p:cNvPr>
          <p:cNvSpPr/>
          <p:nvPr/>
        </p:nvSpPr>
        <p:spPr>
          <a:xfrm>
            <a:off x="887095" y="363857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30A45275-F43C-67B2-C7BA-368B56C67BDC}"/>
              </a:ext>
            </a:extLst>
          </p:cNvPr>
          <p:cNvSpPr/>
          <p:nvPr/>
        </p:nvSpPr>
        <p:spPr>
          <a:xfrm>
            <a:off x="715645" y="374144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DB98E14A-B09F-E2C6-A438-E18E52739403}"/>
              </a:ext>
            </a:extLst>
          </p:cNvPr>
          <p:cNvSpPr/>
          <p:nvPr/>
        </p:nvSpPr>
        <p:spPr>
          <a:xfrm>
            <a:off x="887095" y="374144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716AA89-5F74-0A88-FFAE-A9738E78C2F7}"/>
              </a:ext>
            </a:extLst>
          </p:cNvPr>
          <p:cNvSpPr txBox="1"/>
          <p:nvPr/>
        </p:nvSpPr>
        <p:spPr>
          <a:xfrm>
            <a:off x="1117600" y="3523636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0233A"/>
                </a:solidFill>
                <a:latin typeface="Aptos" panose="020B0004020202020204" pitchFamily="34" charset="0"/>
              </a:rPr>
              <a:t>CLIENT 3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E451B2F-6EC3-74C8-0028-FA08916702DE}"/>
              </a:ext>
            </a:extLst>
          </p:cNvPr>
          <p:cNvSpPr txBox="1"/>
          <p:nvPr/>
        </p:nvSpPr>
        <p:spPr>
          <a:xfrm>
            <a:off x="1117600" y="3726836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26579"/>
                </a:solidFill>
                <a:latin typeface="Aptos" panose="020B0004020202020204" pitchFamily="34" charset="0"/>
              </a:rPr>
              <a:t>591 rows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303BAE58-639B-4C76-2B5E-7CC146E716F4}"/>
              </a:ext>
            </a:extLst>
          </p:cNvPr>
          <p:cNvSpPr/>
          <p:nvPr/>
        </p:nvSpPr>
        <p:spPr>
          <a:xfrm>
            <a:off x="2108200" y="3587136"/>
            <a:ext cx="660400" cy="88900"/>
          </a:xfrm>
          <a:prstGeom prst="roundRect">
            <a:avLst/>
          </a:prstGeom>
          <a:solidFill>
            <a:srgbClr val="DAE4E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9DBAF348-F624-438E-07DC-D5FB25E9D0A8}"/>
              </a:ext>
            </a:extLst>
          </p:cNvPr>
          <p:cNvSpPr/>
          <p:nvPr/>
        </p:nvSpPr>
        <p:spPr>
          <a:xfrm>
            <a:off x="2108200" y="3587136"/>
            <a:ext cx="495300" cy="88900"/>
          </a:xfrm>
          <a:prstGeom prst="roundRect">
            <a:avLst/>
          </a:prstGeom>
          <a:solidFill>
            <a:srgbClr val="BE374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195FF6E-AEAF-EFDC-A16E-3BA5E978D126}"/>
              </a:ext>
            </a:extLst>
          </p:cNvPr>
          <p:cNvSpPr txBox="1"/>
          <p:nvPr/>
        </p:nvSpPr>
        <p:spPr>
          <a:xfrm>
            <a:off x="2108200" y="3739536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526579"/>
                </a:solidFill>
                <a:latin typeface="Aptos" panose="020B0004020202020204" pitchFamily="34" charset="0"/>
              </a:rPr>
              <a:t>Attack mix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22329897-C965-39BF-3518-6CD113F1E1DE}"/>
              </a:ext>
            </a:extLst>
          </p:cNvPr>
          <p:cNvSpPr/>
          <p:nvPr/>
        </p:nvSpPr>
        <p:spPr>
          <a:xfrm>
            <a:off x="558800" y="4120536"/>
            <a:ext cx="2387600" cy="5461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C394FAD-DCFA-8181-A700-9E922A4BF992}"/>
              </a:ext>
            </a:extLst>
          </p:cNvPr>
          <p:cNvCxnSpPr/>
          <p:nvPr/>
        </p:nvCxnSpPr>
        <p:spPr>
          <a:xfrm>
            <a:off x="732790" y="4341516"/>
            <a:ext cx="160020" cy="91440"/>
          </a:xfrm>
          <a:prstGeom prst="line">
            <a:avLst/>
          </a:prstGeom>
          <a:ln w="8573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33744C4-3265-82BB-9015-422058713F7F}"/>
              </a:ext>
            </a:extLst>
          </p:cNvPr>
          <p:cNvCxnSpPr/>
          <p:nvPr/>
        </p:nvCxnSpPr>
        <p:spPr>
          <a:xfrm flipV="1">
            <a:off x="732790" y="4341516"/>
            <a:ext cx="160020" cy="91440"/>
          </a:xfrm>
          <a:prstGeom prst="line">
            <a:avLst/>
          </a:prstGeom>
          <a:ln w="8573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F5BA4BD5-77A8-FC75-24FD-9F34D0879DAD}"/>
              </a:ext>
            </a:extLst>
          </p:cNvPr>
          <p:cNvSpPr/>
          <p:nvPr/>
        </p:nvSpPr>
        <p:spPr>
          <a:xfrm>
            <a:off x="767080" y="4364376"/>
            <a:ext cx="91440" cy="45720"/>
          </a:xfrm>
          <a:prstGeom prst="roundRect">
            <a:avLst/>
          </a:prstGeom>
          <a:solidFill>
            <a:srgbClr val="00806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8DD74DE5-5CD6-AAA9-DD0E-0FDCA738A251}"/>
              </a:ext>
            </a:extLst>
          </p:cNvPr>
          <p:cNvSpPr/>
          <p:nvPr/>
        </p:nvSpPr>
        <p:spPr>
          <a:xfrm>
            <a:off x="715645" y="432437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92597E40-4075-18FC-7759-97DBE257FC46}"/>
              </a:ext>
            </a:extLst>
          </p:cNvPr>
          <p:cNvSpPr/>
          <p:nvPr/>
        </p:nvSpPr>
        <p:spPr>
          <a:xfrm>
            <a:off x="887095" y="432437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CBFDCD4-D29F-5363-7D55-3A13C778CB3C}"/>
              </a:ext>
            </a:extLst>
          </p:cNvPr>
          <p:cNvSpPr/>
          <p:nvPr/>
        </p:nvSpPr>
        <p:spPr>
          <a:xfrm>
            <a:off x="715645" y="442724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2B1EB82A-CC84-B68C-F548-1A696A089625}"/>
              </a:ext>
            </a:extLst>
          </p:cNvPr>
          <p:cNvSpPr/>
          <p:nvPr/>
        </p:nvSpPr>
        <p:spPr>
          <a:xfrm>
            <a:off x="887095" y="442724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4AB9D78-8C6D-1EB6-0E08-F73CDBB056FD}"/>
              </a:ext>
            </a:extLst>
          </p:cNvPr>
          <p:cNvSpPr txBox="1"/>
          <p:nvPr/>
        </p:nvSpPr>
        <p:spPr>
          <a:xfrm>
            <a:off x="1117600" y="4209436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0233A"/>
                </a:solidFill>
                <a:latin typeface="Aptos" panose="020B0004020202020204" pitchFamily="34" charset="0"/>
              </a:rPr>
              <a:t>CLIENT 4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2F7FF72-D05C-0F73-DD4B-4CD6A4197D03}"/>
              </a:ext>
            </a:extLst>
          </p:cNvPr>
          <p:cNvSpPr txBox="1"/>
          <p:nvPr/>
        </p:nvSpPr>
        <p:spPr>
          <a:xfrm>
            <a:off x="1117600" y="4412636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26579"/>
                </a:solidFill>
                <a:latin typeface="Aptos" panose="020B0004020202020204" pitchFamily="34" charset="0"/>
              </a:rPr>
              <a:t>2,027 rows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3BCFA7AF-261D-BC97-49AB-2CF1FB09DAFD}"/>
              </a:ext>
            </a:extLst>
          </p:cNvPr>
          <p:cNvSpPr/>
          <p:nvPr/>
        </p:nvSpPr>
        <p:spPr>
          <a:xfrm>
            <a:off x="2108200" y="4272936"/>
            <a:ext cx="660400" cy="88900"/>
          </a:xfrm>
          <a:prstGeom prst="roundRect">
            <a:avLst/>
          </a:prstGeom>
          <a:solidFill>
            <a:srgbClr val="DAE4E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5F8DB275-1B4F-15C9-3228-06267B906D3C}"/>
              </a:ext>
            </a:extLst>
          </p:cNvPr>
          <p:cNvSpPr/>
          <p:nvPr/>
        </p:nvSpPr>
        <p:spPr>
          <a:xfrm>
            <a:off x="2108200" y="4272936"/>
            <a:ext cx="594360" cy="88900"/>
          </a:xfrm>
          <a:prstGeom prst="roundRect">
            <a:avLst/>
          </a:prstGeom>
          <a:solidFill>
            <a:srgbClr val="BE374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2BEDFA7F-55A7-DCE5-757E-49219DE70FBA}"/>
              </a:ext>
            </a:extLst>
          </p:cNvPr>
          <p:cNvSpPr txBox="1"/>
          <p:nvPr/>
        </p:nvSpPr>
        <p:spPr>
          <a:xfrm>
            <a:off x="2108200" y="4425336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526579"/>
                </a:solidFill>
                <a:latin typeface="Aptos" panose="020B0004020202020204" pitchFamily="34" charset="0"/>
              </a:rPr>
              <a:t>Attack mix</a:t>
            </a: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E88DE47C-5457-302A-4ADF-3D7B92A0E6F2}"/>
              </a:ext>
            </a:extLst>
          </p:cNvPr>
          <p:cNvSpPr/>
          <p:nvPr/>
        </p:nvSpPr>
        <p:spPr>
          <a:xfrm>
            <a:off x="558800" y="4806336"/>
            <a:ext cx="2387600" cy="5461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4B08AC0-E271-02D8-38CF-838C25CA9BEF}"/>
              </a:ext>
            </a:extLst>
          </p:cNvPr>
          <p:cNvCxnSpPr/>
          <p:nvPr/>
        </p:nvCxnSpPr>
        <p:spPr>
          <a:xfrm>
            <a:off x="732790" y="5027316"/>
            <a:ext cx="160020" cy="91440"/>
          </a:xfrm>
          <a:prstGeom prst="line">
            <a:avLst/>
          </a:prstGeom>
          <a:ln w="8573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E426EB14-3D98-FA5B-7DE6-33EBBDC49B4B}"/>
              </a:ext>
            </a:extLst>
          </p:cNvPr>
          <p:cNvCxnSpPr/>
          <p:nvPr/>
        </p:nvCxnSpPr>
        <p:spPr>
          <a:xfrm flipV="1">
            <a:off x="732790" y="5027316"/>
            <a:ext cx="160020" cy="91440"/>
          </a:xfrm>
          <a:prstGeom prst="line">
            <a:avLst/>
          </a:prstGeom>
          <a:ln w="8573" cap="flat" cmpd="sng" algn="ctr">
            <a:solidFill>
              <a:srgbClr val="00806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A3D5DE58-8546-52D2-8EBF-8BDD0F70F485}"/>
              </a:ext>
            </a:extLst>
          </p:cNvPr>
          <p:cNvSpPr/>
          <p:nvPr/>
        </p:nvSpPr>
        <p:spPr>
          <a:xfrm>
            <a:off x="767080" y="5050176"/>
            <a:ext cx="91440" cy="45720"/>
          </a:xfrm>
          <a:prstGeom prst="roundRect">
            <a:avLst/>
          </a:prstGeom>
          <a:solidFill>
            <a:srgbClr val="00806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E6AFAAE5-946D-BE11-DF5E-4D81D3635F02}"/>
              </a:ext>
            </a:extLst>
          </p:cNvPr>
          <p:cNvSpPr/>
          <p:nvPr/>
        </p:nvSpPr>
        <p:spPr>
          <a:xfrm>
            <a:off x="715645" y="501017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FFC28AAE-A80A-9D52-E446-4028DA0053BB}"/>
              </a:ext>
            </a:extLst>
          </p:cNvPr>
          <p:cNvSpPr/>
          <p:nvPr/>
        </p:nvSpPr>
        <p:spPr>
          <a:xfrm>
            <a:off x="887095" y="501017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3B6C8AA2-218B-F9CB-5FA4-91973F8BD11D}"/>
              </a:ext>
            </a:extLst>
          </p:cNvPr>
          <p:cNvSpPr/>
          <p:nvPr/>
        </p:nvSpPr>
        <p:spPr>
          <a:xfrm>
            <a:off x="715645" y="511304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5FBA6DA6-E276-96DC-9E7E-AED67DDE6AEB}"/>
              </a:ext>
            </a:extLst>
          </p:cNvPr>
          <p:cNvSpPr/>
          <p:nvPr/>
        </p:nvSpPr>
        <p:spPr>
          <a:xfrm>
            <a:off x="887095" y="5113041"/>
            <a:ext cx="45720" cy="45720"/>
          </a:xfrm>
          <a:prstGeom prst="ellipse">
            <a:avLst/>
          </a:prstGeom>
          <a:solidFill>
            <a:srgbClr val="F7FAFC"/>
          </a:solidFill>
          <a:ln w="6858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D004D417-3A39-77C3-60DE-DFADE43DA407}"/>
              </a:ext>
            </a:extLst>
          </p:cNvPr>
          <p:cNvSpPr txBox="1"/>
          <p:nvPr/>
        </p:nvSpPr>
        <p:spPr>
          <a:xfrm>
            <a:off x="1117600" y="4895236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0233A"/>
                </a:solidFill>
                <a:latin typeface="Aptos" panose="020B0004020202020204" pitchFamily="34" charset="0"/>
              </a:rPr>
              <a:t>CLIENT 5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F054A9C3-FBD5-56FA-A170-D18A54BC9977}"/>
              </a:ext>
            </a:extLst>
          </p:cNvPr>
          <p:cNvSpPr txBox="1"/>
          <p:nvPr/>
        </p:nvSpPr>
        <p:spPr>
          <a:xfrm>
            <a:off x="1117600" y="5098436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26579"/>
                </a:solidFill>
                <a:latin typeface="Aptos" panose="020B0004020202020204" pitchFamily="34" charset="0"/>
              </a:rPr>
              <a:t>1,254 rows</a:t>
            </a: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FE9D91E6-EBEB-1B65-53C6-B8FEEE2BE19C}"/>
              </a:ext>
            </a:extLst>
          </p:cNvPr>
          <p:cNvSpPr/>
          <p:nvPr/>
        </p:nvSpPr>
        <p:spPr>
          <a:xfrm>
            <a:off x="2108200" y="4958736"/>
            <a:ext cx="660400" cy="88900"/>
          </a:xfrm>
          <a:prstGeom prst="roundRect">
            <a:avLst/>
          </a:prstGeom>
          <a:solidFill>
            <a:srgbClr val="DAE4E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A6864951-A068-62AA-6803-A16109E7E586}"/>
              </a:ext>
            </a:extLst>
          </p:cNvPr>
          <p:cNvSpPr/>
          <p:nvPr/>
        </p:nvSpPr>
        <p:spPr>
          <a:xfrm>
            <a:off x="2108200" y="4958736"/>
            <a:ext cx="336804" cy="88900"/>
          </a:xfrm>
          <a:prstGeom prst="roundRect">
            <a:avLst/>
          </a:prstGeom>
          <a:solidFill>
            <a:srgbClr val="BE374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1401E38-9FD0-CD2B-D07C-CA7057271B0B}"/>
              </a:ext>
            </a:extLst>
          </p:cNvPr>
          <p:cNvSpPr txBox="1"/>
          <p:nvPr/>
        </p:nvSpPr>
        <p:spPr>
          <a:xfrm>
            <a:off x="2108200" y="5111136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526579"/>
                </a:solidFill>
                <a:latin typeface="Aptos" panose="020B0004020202020204" pitchFamily="34" charset="0"/>
              </a:rPr>
              <a:t>Attack mix</a:t>
            </a:r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717C2089-3AEE-24C7-64EC-01FB74508595}"/>
              </a:ext>
            </a:extLst>
          </p:cNvPr>
          <p:cNvSpPr/>
          <p:nvPr/>
        </p:nvSpPr>
        <p:spPr>
          <a:xfrm>
            <a:off x="736600" y="5644536"/>
            <a:ext cx="200660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1B07D525-6B13-7AA3-2CF6-57429865EC8A}"/>
              </a:ext>
            </a:extLst>
          </p:cNvPr>
          <p:cNvSpPr txBox="1"/>
          <p:nvPr/>
        </p:nvSpPr>
        <p:spPr>
          <a:xfrm>
            <a:off x="736600" y="5644536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08065"/>
                </a:solidFill>
                <a:latin typeface="Aptos" panose="020B0004020202020204" pitchFamily="34" charset="0"/>
              </a:rPr>
              <a:t>LOCAL DATA STAYS HERE</a:t>
            </a:r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BD11DFA8-5FEF-9FBA-CDB0-E897216B68E5}"/>
              </a:ext>
            </a:extLst>
          </p:cNvPr>
          <p:cNvSpPr/>
          <p:nvPr/>
        </p:nvSpPr>
        <p:spPr>
          <a:xfrm>
            <a:off x="3733800" y="2063136"/>
            <a:ext cx="3175000" cy="3860800"/>
          </a:xfrm>
          <a:prstGeom prst="roundRect">
            <a:avLst/>
          </a:prstGeom>
          <a:solidFill>
            <a:srgbClr val="EEF4F8"/>
          </a:solidFill>
          <a:ln w="19050">
            <a:solidFill>
              <a:srgbClr val="AE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405F163-6966-0844-57F1-A49C3933A8BD}"/>
              </a:ext>
            </a:extLst>
          </p:cNvPr>
          <p:cNvSpPr txBox="1"/>
          <p:nvPr/>
        </p:nvSpPr>
        <p:spPr>
          <a:xfrm>
            <a:off x="3987800" y="2266336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600" b="1">
                <a:solidFill>
                  <a:srgbClr val="10233A"/>
                </a:solidFill>
                <a:latin typeface="Aptos" panose="020B0004020202020204" pitchFamily="34" charset="0"/>
              </a:rPr>
              <a:t>PROTECTED MODEL EXCHANGE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B21847EC-0982-E84D-4411-A3A5C6D753EB}"/>
              </a:ext>
            </a:extLst>
          </p:cNvPr>
          <p:cNvSpPr/>
          <p:nvPr/>
        </p:nvSpPr>
        <p:spPr>
          <a:xfrm>
            <a:off x="4096004" y="2810035"/>
            <a:ext cx="254000" cy="254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E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327B53F-1120-C53F-7A2F-5FEE9A2315C2}"/>
              </a:ext>
            </a:extLst>
          </p:cNvPr>
          <p:cNvSpPr txBox="1"/>
          <p:nvPr/>
        </p:nvSpPr>
        <p:spPr>
          <a:xfrm>
            <a:off x="4096004" y="2810035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AE600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ACB6D88-F412-A465-9120-C258272A099F}"/>
              </a:ext>
            </a:extLst>
          </p:cNvPr>
          <p:cNvSpPr txBox="1"/>
          <p:nvPr/>
        </p:nvSpPr>
        <p:spPr>
          <a:xfrm>
            <a:off x="4477004" y="27973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10233A"/>
                </a:solidFill>
                <a:latin typeface="Aptos" panose="020B0004020202020204" pitchFamily="34" charset="0"/>
              </a:rPr>
              <a:t>ML-KEM-768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3A54089B-E658-2845-1D58-97D3A8E43102}"/>
              </a:ext>
            </a:extLst>
          </p:cNvPr>
          <p:cNvSpPr txBox="1"/>
          <p:nvPr/>
        </p:nvSpPr>
        <p:spPr>
          <a:xfrm>
            <a:off x="4477004" y="30005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26579"/>
                </a:solidFill>
                <a:latin typeface="Aptos" panose="020B0004020202020204" pitchFamily="34" charset="0"/>
              </a:rPr>
              <a:t>Establish key material</a:t>
            </a: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59701684-B0AB-98B6-9546-D743DA507A98}"/>
              </a:ext>
            </a:extLst>
          </p:cNvPr>
          <p:cNvSpPr/>
          <p:nvPr/>
        </p:nvSpPr>
        <p:spPr>
          <a:xfrm>
            <a:off x="4096004" y="3419635"/>
            <a:ext cx="254000" cy="254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E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7902056-EF00-E3A3-EBD0-B2261A64B41F}"/>
              </a:ext>
            </a:extLst>
          </p:cNvPr>
          <p:cNvSpPr txBox="1"/>
          <p:nvPr/>
        </p:nvSpPr>
        <p:spPr>
          <a:xfrm>
            <a:off x="4096004" y="3419635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AE600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17931F84-FA11-3DEE-D2D8-CFB7F1049F12}"/>
              </a:ext>
            </a:extLst>
          </p:cNvPr>
          <p:cNvSpPr txBox="1"/>
          <p:nvPr/>
        </p:nvSpPr>
        <p:spPr>
          <a:xfrm>
            <a:off x="4477004" y="34069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10233A"/>
                </a:solidFill>
                <a:latin typeface="Aptos" panose="020B0004020202020204" pitchFamily="34" charset="0"/>
              </a:rPr>
              <a:t>HKDF-SHA-256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5153EDF-5D71-5F11-3C10-EA49BB3AA194}"/>
              </a:ext>
            </a:extLst>
          </p:cNvPr>
          <p:cNvSpPr txBox="1"/>
          <p:nvPr/>
        </p:nvSpPr>
        <p:spPr>
          <a:xfrm>
            <a:off x="4477004" y="36101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26579"/>
                </a:solidFill>
                <a:latin typeface="Aptos" panose="020B0004020202020204" pitchFamily="34" charset="0"/>
              </a:rPr>
              <a:t>Derive directional keys</a:t>
            </a:r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90291F8F-E864-C894-F578-86108E262DAF}"/>
              </a:ext>
            </a:extLst>
          </p:cNvPr>
          <p:cNvSpPr/>
          <p:nvPr/>
        </p:nvSpPr>
        <p:spPr>
          <a:xfrm>
            <a:off x="4096004" y="4029235"/>
            <a:ext cx="254000" cy="254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E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6C52555-2677-4FC7-26D3-F103F2EF3F81}"/>
              </a:ext>
            </a:extLst>
          </p:cNvPr>
          <p:cNvSpPr txBox="1"/>
          <p:nvPr/>
        </p:nvSpPr>
        <p:spPr>
          <a:xfrm>
            <a:off x="4096004" y="4029235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AE600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B76A5B9-2358-5A53-1708-11D3B77E8C6B}"/>
              </a:ext>
            </a:extLst>
          </p:cNvPr>
          <p:cNvSpPr txBox="1"/>
          <p:nvPr/>
        </p:nvSpPr>
        <p:spPr>
          <a:xfrm>
            <a:off x="4477004" y="40165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10233A"/>
                </a:solidFill>
                <a:latin typeface="Aptos" panose="020B0004020202020204" pitchFamily="34" charset="0"/>
              </a:rPr>
              <a:t>ML-DSA-65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FB4B2D80-FBD8-C038-8480-9824C1516F4C}"/>
              </a:ext>
            </a:extLst>
          </p:cNvPr>
          <p:cNvSpPr txBox="1"/>
          <p:nvPr/>
        </p:nvSpPr>
        <p:spPr>
          <a:xfrm>
            <a:off x="4477004" y="42197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26579"/>
                </a:solidFill>
                <a:latin typeface="Aptos" panose="020B0004020202020204" pitchFamily="34" charset="0"/>
              </a:rPr>
              <a:t>Authenticate identities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D798B27B-2539-245C-377B-3501ECD294CA}"/>
              </a:ext>
            </a:extLst>
          </p:cNvPr>
          <p:cNvSpPr/>
          <p:nvPr/>
        </p:nvSpPr>
        <p:spPr>
          <a:xfrm>
            <a:off x="4096004" y="4638835"/>
            <a:ext cx="254000" cy="254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E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32E0213-B848-C15C-2611-045956556A3C}"/>
              </a:ext>
            </a:extLst>
          </p:cNvPr>
          <p:cNvSpPr txBox="1"/>
          <p:nvPr/>
        </p:nvSpPr>
        <p:spPr>
          <a:xfrm>
            <a:off x="4096004" y="4638835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AE600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9C792C6-3B9D-A410-8BCB-E549DC192BAD}"/>
              </a:ext>
            </a:extLst>
          </p:cNvPr>
          <p:cNvSpPr txBox="1"/>
          <p:nvPr/>
        </p:nvSpPr>
        <p:spPr>
          <a:xfrm>
            <a:off x="4477004" y="46261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10233A"/>
                </a:solidFill>
                <a:latin typeface="Aptos" panose="020B0004020202020204" pitchFamily="34" charset="0"/>
              </a:rPr>
              <a:t>AES-256-GCM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EC726590-5306-042C-5852-BCC6394D0A3E}"/>
              </a:ext>
            </a:extLst>
          </p:cNvPr>
          <p:cNvSpPr txBox="1"/>
          <p:nvPr/>
        </p:nvSpPr>
        <p:spPr>
          <a:xfrm>
            <a:off x="4477004" y="48293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26579"/>
                </a:solidFill>
                <a:latin typeface="Aptos" panose="020B0004020202020204" pitchFamily="34" charset="0"/>
              </a:rPr>
              <a:t>Protect model messages</a:t>
            </a:r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B032105-07F5-833F-8148-B149315C9DBA}"/>
              </a:ext>
            </a:extLst>
          </p:cNvPr>
          <p:cNvCxnSpPr/>
          <p:nvPr/>
        </p:nvCxnSpPr>
        <p:spPr>
          <a:xfrm>
            <a:off x="4070604" y="5299235"/>
            <a:ext cx="2667000" cy="0"/>
          </a:xfrm>
          <a:prstGeom prst="line">
            <a:avLst/>
          </a:prstGeom>
          <a:ln w="12700" cap="flat" cmpd="sng" algn="ctr">
            <a:solidFill>
              <a:srgbClr val="94A3B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B88E827F-E332-4142-BD6D-3570FFF69870}"/>
              </a:ext>
            </a:extLst>
          </p:cNvPr>
          <p:cNvSpPr txBox="1"/>
          <p:nvPr/>
        </p:nvSpPr>
        <p:spPr>
          <a:xfrm>
            <a:off x="3987800" y="539131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 b="1" dirty="0">
                <a:solidFill>
                  <a:srgbClr val="AE6000"/>
                </a:solidFill>
                <a:latin typeface="Aptos" panose="020B0004020202020204" pitchFamily="34" charset="0"/>
              </a:rPr>
              <a:t>Tamper and replay checks happen before model decoding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3279F8F1-C2A7-D13E-352F-C0D54F7FBDA0}"/>
              </a:ext>
            </a:extLst>
          </p:cNvPr>
          <p:cNvSpPr/>
          <p:nvPr/>
        </p:nvSpPr>
        <p:spPr>
          <a:xfrm>
            <a:off x="8559800" y="2063136"/>
            <a:ext cx="3073400" cy="3860800"/>
          </a:xfrm>
          <a:prstGeom prst="roundRect">
            <a:avLst/>
          </a:prstGeom>
          <a:solidFill>
            <a:srgbClr val="EEF4F8"/>
          </a:solidFill>
          <a:ln w="19050">
            <a:solidFill>
              <a:srgbClr val="24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E0FAC999-A83B-2597-B259-B9746FD65ED7}"/>
              </a:ext>
            </a:extLst>
          </p:cNvPr>
          <p:cNvSpPr/>
          <p:nvPr/>
        </p:nvSpPr>
        <p:spPr>
          <a:xfrm>
            <a:off x="9804400" y="2355236"/>
            <a:ext cx="502920" cy="1143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24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BAB026EF-3699-06E1-965B-E76EC52EA10B}"/>
              </a:ext>
            </a:extLst>
          </p:cNvPr>
          <p:cNvSpPr/>
          <p:nvPr/>
        </p:nvSpPr>
        <p:spPr>
          <a:xfrm>
            <a:off x="9861550" y="2389526"/>
            <a:ext cx="45720" cy="45720"/>
          </a:xfrm>
          <a:prstGeom prst="ellipse">
            <a:avLst/>
          </a:prstGeom>
          <a:solidFill>
            <a:srgbClr val="2467B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F5935408-E29C-0296-C29E-CFE4B8BF9A7E}"/>
              </a:ext>
            </a:extLst>
          </p:cNvPr>
          <p:cNvSpPr/>
          <p:nvPr/>
        </p:nvSpPr>
        <p:spPr>
          <a:xfrm>
            <a:off x="9804400" y="2515256"/>
            <a:ext cx="502920" cy="1143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24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C00EA829-267D-1960-1AD9-2C02C4984633}"/>
              </a:ext>
            </a:extLst>
          </p:cNvPr>
          <p:cNvSpPr/>
          <p:nvPr/>
        </p:nvSpPr>
        <p:spPr>
          <a:xfrm>
            <a:off x="9861550" y="2549546"/>
            <a:ext cx="45720" cy="45720"/>
          </a:xfrm>
          <a:prstGeom prst="ellipse">
            <a:avLst/>
          </a:prstGeom>
          <a:solidFill>
            <a:srgbClr val="2467B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08FCD85F-29E6-D828-7478-B0590C97D6A5}"/>
              </a:ext>
            </a:extLst>
          </p:cNvPr>
          <p:cNvSpPr/>
          <p:nvPr/>
        </p:nvSpPr>
        <p:spPr>
          <a:xfrm>
            <a:off x="9804400" y="2675276"/>
            <a:ext cx="502920" cy="1143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24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462F206A-0F72-A001-4EE8-CA85A753B30C}"/>
              </a:ext>
            </a:extLst>
          </p:cNvPr>
          <p:cNvSpPr/>
          <p:nvPr/>
        </p:nvSpPr>
        <p:spPr>
          <a:xfrm>
            <a:off x="9861550" y="2709566"/>
            <a:ext cx="45720" cy="45720"/>
          </a:xfrm>
          <a:prstGeom prst="ellipse">
            <a:avLst/>
          </a:prstGeom>
          <a:solidFill>
            <a:srgbClr val="2467B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83CE21EA-E529-1731-0F19-0037CA82E141}"/>
              </a:ext>
            </a:extLst>
          </p:cNvPr>
          <p:cNvSpPr txBox="1"/>
          <p:nvPr/>
        </p:nvSpPr>
        <p:spPr>
          <a:xfrm>
            <a:off x="8890000" y="3053736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10233A"/>
                </a:solidFill>
                <a:latin typeface="Aptos" panose="020B0004020202020204" pitchFamily="34" charset="0"/>
              </a:rPr>
              <a:t>CONTROL CENTER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905A3685-06C2-95F8-2E5B-DBBA0D3D8958}"/>
              </a:ext>
            </a:extLst>
          </p:cNvPr>
          <p:cNvSpPr/>
          <p:nvPr/>
        </p:nvSpPr>
        <p:spPr>
          <a:xfrm>
            <a:off x="8928100" y="3561736"/>
            <a:ext cx="215900" cy="215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6077D371-6700-4C07-4850-C9469A09F1F3}"/>
              </a:ext>
            </a:extLst>
          </p:cNvPr>
          <p:cNvSpPr txBox="1"/>
          <p:nvPr/>
        </p:nvSpPr>
        <p:spPr>
          <a:xfrm>
            <a:off x="8925719" y="3537536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2467B2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C66BFA4B-EC17-8E35-EA3B-51EAD064B90C}"/>
              </a:ext>
            </a:extLst>
          </p:cNvPr>
          <p:cNvSpPr txBox="1"/>
          <p:nvPr/>
        </p:nvSpPr>
        <p:spPr>
          <a:xfrm>
            <a:off x="9271000" y="3588336"/>
            <a:ext cx="1993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 dirty="0">
                <a:solidFill>
                  <a:srgbClr val="10233A"/>
                </a:solidFill>
                <a:latin typeface="Aptos" panose="020B0004020202020204" pitchFamily="34" charset="0"/>
              </a:rPr>
              <a:t>Authenticate</a:t>
            </a: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D78853E7-E5C9-974A-5A72-42CAF0379699}"/>
              </a:ext>
            </a:extLst>
          </p:cNvPr>
          <p:cNvSpPr/>
          <p:nvPr/>
        </p:nvSpPr>
        <p:spPr>
          <a:xfrm>
            <a:off x="8928100" y="3955436"/>
            <a:ext cx="215900" cy="215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79FC7385-4845-CD3A-0446-B394F0ACD93B}"/>
              </a:ext>
            </a:extLst>
          </p:cNvPr>
          <p:cNvSpPr txBox="1"/>
          <p:nvPr/>
        </p:nvSpPr>
        <p:spPr>
          <a:xfrm>
            <a:off x="8930481" y="3932437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2467B2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ED6D74F3-8291-D48C-DA8B-A63F06B4920C}"/>
              </a:ext>
            </a:extLst>
          </p:cNvPr>
          <p:cNvSpPr txBox="1"/>
          <p:nvPr/>
        </p:nvSpPr>
        <p:spPr>
          <a:xfrm>
            <a:off x="9259094" y="3980836"/>
            <a:ext cx="1993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 dirty="0">
                <a:solidFill>
                  <a:srgbClr val="10233A"/>
                </a:solidFill>
                <a:latin typeface="Aptos" panose="020B0004020202020204" pitchFamily="34" charset="0"/>
              </a:rPr>
              <a:t>Reject invalid / replayed</a:t>
            </a: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C87C1908-A15E-CED7-253C-1D75E27ED7FD}"/>
              </a:ext>
            </a:extLst>
          </p:cNvPr>
          <p:cNvSpPr/>
          <p:nvPr/>
        </p:nvSpPr>
        <p:spPr>
          <a:xfrm>
            <a:off x="8928100" y="4349136"/>
            <a:ext cx="215900" cy="215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655A592C-EC96-E99F-93D2-A58FEDEDE1B1}"/>
              </a:ext>
            </a:extLst>
          </p:cNvPr>
          <p:cNvSpPr txBox="1"/>
          <p:nvPr/>
        </p:nvSpPr>
        <p:spPr>
          <a:xfrm>
            <a:off x="8928100" y="4317386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2467B2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481F5403-D2A4-5ED8-1715-EAF3949B3D7B}"/>
              </a:ext>
            </a:extLst>
          </p:cNvPr>
          <p:cNvSpPr txBox="1"/>
          <p:nvPr/>
        </p:nvSpPr>
        <p:spPr>
          <a:xfrm>
            <a:off x="9263857" y="4383108"/>
            <a:ext cx="1993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 dirty="0">
                <a:solidFill>
                  <a:srgbClr val="10233A"/>
                </a:solidFill>
                <a:latin typeface="Aptos" panose="020B0004020202020204" pitchFamily="34" charset="0"/>
              </a:rPr>
              <a:t>Decrypt + validate</a:t>
            </a: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F5C9C90F-D5CB-F8E0-68BF-09C6D9A90425}"/>
              </a:ext>
            </a:extLst>
          </p:cNvPr>
          <p:cNvSpPr/>
          <p:nvPr/>
        </p:nvSpPr>
        <p:spPr>
          <a:xfrm>
            <a:off x="8928100" y="4742836"/>
            <a:ext cx="215900" cy="215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BA82E9EB-6228-DF5C-336C-9314D64F26B4}"/>
              </a:ext>
            </a:extLst>
          </p:cNvPr>
          <p:cNvSpPr txBox="1"/>
          <p:nvPr/>
        </p:nvSpPr>
        <p:spPr>
          <a:xfrm>
            <a:off x="8925718" y="4726187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2467B2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323BFA0-9A3A-D1EE-184D-F6C662477D5B}"/>
              </a:ext>
            </a:extLst>
          </p:cNvPr>
          <p:cNvSpPr txBox="1"/>
          <p:nvPr/>
        </p:nvSpPr>
        <p:spPr>
          <a:xfrm>
            <a:off x="9263856" y="4770637"/>
            <a:ext cx="1993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 dirty="0">
                <a:solidFill>
                  <a:srgbClr val="10233A"/>
                </a:solidFill>
                <a:latin typeface="Aptos" panose="020B0004020202020204" pitchFamily="34" charset="0"/>
              </a:rPr>
              <a:t>Sample-weighted </a:t>
            </a:r>
            <a:r>
              <a:rPr lang="en-US" sz="1050" b="1" dirty="0" err="1">
                <a:solidFill>
                  <a:srgbClr val="10233A"/>
                </a:solidFill>
                <a:latin typeface="Aptos" panose="020B0004020202020204" pitchFamily="34" charset="0"/>
              </a:rPr>
              <a:t>FedAvg</a:t>
            </a:r>
            <a:endParaRPr lang="en-US" sz="1050" b="1" dirty="0">
              <a:solidFill>
                <a:srgbClr val="10233A"/>
              </a:solidFill>
              <a:latin typeface="Aptos" panose="020B0004020202020204" pitchFamily="34" charset="0"/>
            </a:endParaRP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C3A2B88C-C82C-A3EA-AC46-50A697FD0EF4}"/>
              </a:ext>
            </a:extLst>
          </p:cNvPr>
          <p:cNvSpPr/>
          <p:nvPr/>
        </p:nvSpPr>
        <p:spPr>
          <a:xfrm>
            <a:off x="8928100" y="5136536"/>
            <a:ext cx="215900" cy="215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84B968B-95A0-DAFC-5AED-55462EFDE79A}"/>
              </a:ext>
            </a:extLst>
          </p:cNvPr>
          <p:cNvSpPr txBox="1"/>
          <p:nvPr/>
        </p:nvSpPr>
        <p:spPr>
          <a:xfrm>
            <a:off x="8930481" y="5111136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2467B2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F0EC428F-1C04-8C54-C150-138016C657D0}"/>
              </a:ext>
            </a:extLst>
          </p:cNvPr>
          <p:cNvSpPr txBox="1"/>
          <p:nvPr/>
        </p:nvSpPr>
        <p:spPr>
          <a:xfrm>
            <a:off x="9271000" y="5158761"/>
            <a:ext cx="1993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 dirty="0">
                <a:solidFill>
                  <a:srgbClr val="10233A"/>
                </a:solidFill>
                <a:latin typeface="Aptos" panose="020B0004020202020204" pitchFamily="34" charset="0"/>
              </a:rPr>
              <a:t>Distribute next model</a:t>
            </a:r>
          </a:p>
        </p:txBody>
      </p: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F3702BB0-DA9C-01A0-33C2-76332FC35F9C}"/>
              </a:ext>
            </a:extLst>
          </p:cNvPr>
          <p:cNvCxnSpPr/>
          <p:nvPr/>
        </p:nvCxnSpPr>
        <p:spPr>
          <a:xfrm>
            <a:off x="2946400" y="2444136"/>
            <a:ext cx="787400" cy="0"/>
          </a:xfrm>
          <a:prstGeom prst="line">
            <a:avLst/>
          </a:prstGeom>
          <a:ln w="25400" cap="flat" cmpd="sng" algn="ctr">
            <a:solidFill>
              <a:srgbClr val="00806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C7CC3551-280E-178F-2F01-D67D2D96DACC}"/>
              </a:ext>
            </a:extLst>
          </p:cNvPr>
          <p:cNvSpPr txBox="1"/>
          <p:nvPr/>
        </p:nvSpPr>
        <p:spPr>
          <a:xfrm>
            <a:off x="2959100" y="2164736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526579"/>
                </a:solidFill>
                <a:latin typeface="Aptos" panose="020B0004020202020204" pitchFamily="34" charset="0"/>
              </a:rPr>
              <a:t>Local updates</a:t>
            </a:r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0A2D310D-2C49-1BEC-EE09-5F763AFD53C9}"/>
              </a:ext>
            </a:extLst>
          </p:cNvPr>
          <p:cNvCxnSpPr/>
          <p:nvPr/>
        </p:nvCxnSpPr>
        <p:spPr>
          <a:xfrm>
            <a:off x="6908800" y="2444136"/>
            <a:ext cx="1651000" cy="0"/>
          </a:xfrm>
          <a:prstGeom prst="line">
            <a:avLst/>
          </a:prstGeom>
          <a:ln w="25400" cap="flat" cmpd="sng" algn="ctr">
            <a:solidFill>
              <a:srgbClr val="00806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54699058-2456-53C0-AE45-CD0C7E88438B}"/>
              </a:ext>
            </a:extLst>
          </p:cNvPr>
          <p:cNvCxnSpPr/>
          <p:nvPr/>
        </p:nvCxnSpPr>
        <p:spPr>
          <a:xfrm flipH="1">
            <a:off x="6908800" y="5492136"/>
            <a:ext cx="1651000" cy="0"/>
          </a:xfrm>
          <a:prstGeom prst="line">
            <a:avLst/>
          </a:prstGeom>
          <a:ln w="25400" cap="flat" cmpd="sng" algn="ctr">
            <a:solidFill>
              <a:srgbClr val="2467B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CF8A93E-9C78-E340-6A37-E956205ED077}"/>
              </a:ext>
            </a:extLst>
          </p:cNvPr>
          <p:cNvCxnSpPr/>
          <p:nvPr/>
        </p:nvCxnSpPr>
        <p:spPr>
          <a:xfrm flipH="1">
            <a:off x="2946400" y="5492136"/>
            <a:ext cx="787400" cy="0"/>
          </a:xfrm>
          <a:prstGeom prst="line">
            <a:avLst/>
          </a:prstGeom>
          <a:ln w="25400" cap="flat" cmpd="sng" algn="ctr">
            <a:solidFill>
              <a:srgbClr val="2467B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325FD5D5-BDD7-9183-F4B8-73DF92DC254A}"/>
              </a:ext>
            </a:extLst>
          </p:cNvPr>
          <p:cNvSpPr txBox="1"/>
          <p:nvPr/>
        </p:nvSpPr>
        <p:spPr>
          <a:xfrm>
            <a:off x="6959600" y="5555636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526579"/>
                </a:solidFill>
                <a:latin typeface="Aptos" panose="020B0004020202020204" pitchFamily="34" charset="0"/>
              </a:rPr>
              <a:t>Protected global model</a:t>
            </a:r>
          </a:p>
        </p:txBody>
      </p:sp>
    </p:spTree>
    <p:extLst>
      <p:ext uri="{BB962C8B-B14F-4D97-AF65-F5344CB8AC3E}">
        <p14:creationId xmlns:p14="http://schemas.microsoft.com/office/powerpoint/2010/main" val="1557566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21646-74D8-78FD-DF48-586424D5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E5833A39-BF1D-5B40-8FFC-FCE1492CD39D}"/>
              </a:ext>
            </a:extLst>
          </p:cNvPr>
          <p:cNvSpPr txBox="1"/>
          <p:nvPr/>
        </p:nvSpPr>
        <p:spPr>
          <a:xfrm>
            <a:off x="438912" y="384048"/>
            <a:ext cx="1413207" cy="5232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 dirty="0">
                <a:solidFill>
                  <a:srgbClr val="10233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F4A261-82E8-32CF-DCB6-DD0DA0EA144D}"/>
              </a:ext>
            </a:extLst>
          </p:cNvPr>
          <p:cNvSpPr txBox="1"/>
          <p:nvPr/>
        </p:nvSpPr>
        <p:spPr>
          <a:xfrm>
            <a:off x="2029968" y="384048"/>
            <a:ext cx="3720570" cy="5232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 dirty="0">
                <a:solidFill>
                  <a:srgbClr val="10233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Model Performance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75612F-FCDB-1E06-B1AE-6A4FF9F2E0E6}"/>
              </a:ext>
            </a:extLst>
          </p:cNvPr>
          <p:cNvSpPr/>
          <p:nvPr/>
        </p:nvSpPr>
        <p:spPr>
          <a:xfrm>
            <a:off x="457200" y="1325880"/>
            <a:ext cx="11283696" cy="27432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ounded Rectangle 6">
            <a:extLst>
              <a:ext uri="{FF2B5EF4-FFF2-40B4-BE49-F238E27FC236}">
                <a16:creationId xmlns:a16="http://schemas.microsoft.com/office/drawing/2014/main" id="{391D80F3-2237-ECC3-44FB-0E26A8A873B2}"/>
              </a:ext>
            </a:extLst>
          </p:cNvPr>
          <p:cNvSpPr/>
          <p:nvPr/>
        </p:nvSpPr>
        <p:spPr>
          <a:xfrm>
            <a:off x="542592" y="1719072"/>
            <a:ext cx="5257800" cy="4343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ounded Rectangle 7">
            <a:extLst>
              <a:ext uri="{FF2B5EF4-FFF2-40B4-BE49-F238E27FC236}">
                <a16:creationId xmlns:a16="http://schemas.microsoft.com/office/drawing/2014/main" id="{33E3E1EB-3261-2C1B-CE12-1ADD309BF965}"/>
              </a:ext>
            </a:extLst>
          </p:cNvPr>
          <p:cNvSpPr/>
          <p:nvPr/>
        </p:nvSpPr>
        <p:spPr>
          <a:xfrm>
            <a:off x="6144768" y="1719072"/>
            <a:ext cx="5596128" cy="4343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3A0766-967D-72BC-3AA8-F78B38D8F8CE}"/>
              </a:ext>
            </a:extLst>
          </p:cNvPr>
          <p:cNvSpPr txBox="1"/>
          <p:nvPr/>
        </p:nvSpPr>
        <p:spPr>
          <a:xfrm>
            <a:off x="822960" y="2011680"/>
            <a:ext cx="2994218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What the metrics mean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5DA8E7D-EAB8-AF15-C902-CD3123DDFF4B}"/>
              </a:ext>
            </a:extLst>
          </p:cNvPr>
          <p:cNvSpPr/>
          <p:nvPr/>
        </p:nvSpPr>
        <p:spPr>
          <a:xfrm>
            <a:off x="822960" y="2404872"/>
            <a:ext cx="1143000" cy="2286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070085F-B3DA-739A-7A2C-16FE27D4A835}"/>
              </a:ext>
            </a:extLst>
          </p:cNvPr>
          <p:cNvSpPr/>
          <p:nvPr/>
        </p:nvSpPr>
        <p:spPr>
          <a:xfrm>
            <a:off x="832104" y="2862072"/>
            <a:ext cx="68580" cy="68580"/>
          </a:xfrm>
          <a:prstGeom prst="ellipse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8E3D80-A3A5-0FB9-FA3E-DD146AC6CCA6}"/>
              </a:ext>
            </a:extLst>
          </p:cNvPr>
          <p:cNvSpPr txBox="1"/>
          <p:nvPr/>
        </p:nvSpPr>
        <p:spPr>
          <a:xfrm>
            <a:off x="1005840" y="2743200"/>
            <a:ext cx="86453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2C35F2-08C4-A0F7-4842-8C9A56C91E21}"/>
              </a:ext>
            </a:extLst>
          </p:cNvPr>
          <p:cNvSpPr txBox="1"/>
          <p:nvPr/>
        </p:nvSpPr>
        <p:spPr>
          <a:xfrm>
            <a:off x="2176272" y="2743200"/>
            <a:ext cx="337804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Overall correct predictions across all traffic.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1C99DFCF-12C1-7BA2-41BB-ABAC815CC7AD}"/>
              </a:ext>
            </a:extLst>
          </p:cNvPr>
          <p:cNvSpPr/>
          <p:nvPr/>
        </p:nvSpPr>
        <p:spPr>
          <a:xfrm>
            <a:off x="832104" y="3529584"/>
            <a:ext cx="68580" cy="68580"/>
          </a:xfrm>
          <a:prstGeom prst="ellipse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0C4829E-74A3-62DA-DECC-8276C9FD0381}"/>
              </a:ext>
            </a:extLst>
          </p:cNvPr>
          <p:cNvSpPr txBox="1"/>
          <p:nvPr/>
        </p:nvSpPr>
        <p:spPr>
          <a:xfrm>
            <a:off x="1005840" y="3410712"/>
            <a:ext cx="81201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E388F46-8FEB-5F00-ADF4-FDE12291CC1F}"/>
              </a:ext>
            </a:extLst>
          </p:cNvPr>
          <p:cNvSpPr txBox="1"/>
          <p:nvPr/>
        </p:nvSpPr>
        <p:spPr>
          <a:xfrm>
            <a:off x="2176272" y="3410712"/>
            <a:ext cx="367536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Balanced score combining precision and recall.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EF300672-3215-2CC7-9EC7-008717836032}"/>
              </a:ext>
            </a:extLst>
          </p:cNvPr>
          <p:cNvSpPr/>
          <p:nvPr/>
        </p:nvSpPr>
        <p:spPr>
          <a:xfrm>
            <a:off x="832104" y="4197096"/>
            <a:ext cx="68580" cy="68580"/>
          </a:xfrm>
          <a:prstGeom prst="ellipse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662ED56-3EDE-E347-F561-2EC42A320A6F}"/>
              </a:ext>
            </a:extLst>
          </p:cNvPr>
          <p:cNvSpPr txBox="1"/>
          <p:nvPr/>
        </p:nvSpPr>
        <p:spPr>
          <a:xfrm>
            <a:off x="1005840" y="4078224"/>
            <a:ext cx="87254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28E855E-CA60-E8D8-E92F-E95670856E3A}"/>
              </a:ext>
            </a:extLst>
          </p:cNvPr>
          <p:cNvSpPr txBox="1"/>
          <p:nvPr/>
        </p:nvSpPr>
        <p:spPr>
          <a:xfrm>
            <a:off x="2176272" y="4078224"/>
            <a:ext cx="358886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How often detected attacks were truly attacks.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48603D5B-A31B-CE8E-DD9C-03A2CC9AD6ED}"/>
              </a:ext>
            </a:extLst>
          </p:cNvPr>
          <p:cNvSpPr/>
          <p:nvPr/>
        </p:nvSpPr>
        <p:spPr>
          <a:xfrm>
            <a:off x="832104" y="4864608"/>
            <a:ext cx="68580" cy="68580"/>
          </a:xfrm>
          <a:prstGeom prst="ellipse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1AD1F95-98B1-0002-A179-A284AEDFB791}"/>
              </a:ext>
            </a:extLst>
          </p:cNvPr>
          <p:cNvSpPr txBox="1"/>
          <p:nvPr/>
        </p:nvSpPr>
        <p:spPr>
          <a:xfrm>
            <a:off x="1005840" y="4745736"/>
            <a:ext cx="58977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Recall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A12D9CB-00C7-EFF9-32BD-C9530D73D8BE}"/>
              </a:ext>
            </a:extLst>
          </p:cNvPr>
          <p:cNvSpPr txBox="1"/>
          <p:nvPr/>
        </p:nvSpPr>
        <p:spPr>
          <a:xfrm>
            <a:off x="2176272" y="4745736"/>
            <a:ext cx="3018964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47556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How many real attacks the model successfully detected.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7359A47-D1C2-5E14-72BE-B34A7D204EAB}"/>
              </a:ext>
            </a:extLst>
          </p:cNvPr>
          <p:cNvSpPr txBox="1"/>
          <p:nvPr/>
        </p:nvSpPr>
        <p:spPr>
          <a:xfrm>
            <a:off x="6431282" y="2011680"/>
            <a:ext cx="2651175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Evaluation Summary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23C1E59E-90A9-CDC1-421E-F30F2C230F8F}"/>
              </a:ext>
            </a:extLst>
          </p:cNvPr>
          <p:cNvSpPr/>
          <p:nvPr/>
        </p:nvSpPr>
        <p:spPr>
          <a:xfrm>
            <a:off x="6431282" y="2404872"/>
            <a:ext cx="1097280" cy="2286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E8981A0-4BF2-A431-0262-88CB7BD4349E}"/>
              </a:ext>
            </a:extLst>
          </p:cNvPr>
          <p:cNvSpPr txBox="1"/>
          <p:nvPr/>
        </p:nvSpPr>
        <p:spPr>
          <a:xfrm>
            <a:off x="6687314" y="2708403"/>
            <a:ext cx="66684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 dirty="0">
                <a:solidFill>
                  <a:srgbClr val="52657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Metric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6DFA414-DF09-94CC-6A3A-13294734F408}"/>
              </a:ext>
            </a:extLst>
          </p:cNvPr>
          <p:cNvSpPr txBox="1"/>
          <p:nvPr/>
        </p:nvSpPr>
        <p:spPr>
          <a:xfrm>
            <a:off x="10441963" y="2734056"/>
            <a:ext cx="588751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b="1" dirty="0">
                <a:solidFill>
                  <a:srgbClr val="52657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Value</a:t>
            </a:r>
            <a:endParaRPr sz="1300" b="1" dirty="0">
              <a:solidFill>
                <a:srgbClr val="526579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98DD3DD8-9BD5-60FB-1043-0DC05E05EFA9}"/>
              </a:ext>
            </a:extLst>
          </p:cNvPr>
          <p:cNvSpPr txBox="1"/>
          <p:nvPr/>
        </p:nvSpPr>
        <p:spPr>
          <a:xfrm>
            <a:off x="6687314" y="3364992"/>
            <a:ext cx="86453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190" name="Rounded Rectangle 31">
            <a:extLst>
              <a:ext uri="{FF2B5EF4-FFF2-40B4-BE49-F238E27FC236}">
                <a16:creationId xmlns:a16="http://schemas.microsoft.com/office/drawing/2014/main" id="{8BC52CF0-6B94-BAF8-C415-B87D5A2A456B}"/>
              </a:ext>
            </a:extLst>
          </p:cNvPr>
          <p:cNvSpPr/>
          <p:nvPr/>
        </p:nvSpPr>
        <p:spPr>
          <a:xfrm>
            <a:off x="8607554" y="3447288"/>
            <a:ext cx="1527048" cy="100584"/>
          </a:xfrm>
          <a:prstGeom prst="roundRect">
            <a:avLst/>
          </a:prstGeom>
          <a:solidFill>
            <a:srgbClr val="CF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Rounded Rectangle 32">
            <a:extLst>
              <a:ext uri="{FF2B5EF4-FFF2-40B4-BE49-F238E27FC236}">
                <a16:creationId xmlns:a16="http://schemas.microsoft.com/office/drawing/2014/main" id="{0F0334E7-1C95-59B5-A8A7-4B15043F4717}"/>
              </a:ext>
            </a:extLst>
          </p:cNvPr>
          <p:cNvSpPr/>
          <p:nvPr/>
        </p:nvSpPr>
        <p:spPr>
          <a:xfrm>
            <a:off x="8607554" y="3447288"/>
            <a:ext cx="1475739" cy="100584"/>
          </a:xfrm>
          <a:prstGeom prst="round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04A3587-85AD-411B-8D14-34ABA41DB57B}"/>
              </a:ext>
            </a:extLst>
          </p:cNvPr>
          <p:cNvSpPr txBox="1"/>
          <p:nvPr/>
        </p:nvSpPr>
        <p:spPr>
          <a:xfrm>
            <a:off x="10344517" y="3337560"/>
            <a:ext cx="75020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96.64%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434B137-935C-A630-93EC-8C3F93D9D20B}"/>
              </a:ext>
            </a:extLst>
          </p:cNvPr>
          <p:cNvSpPr txBox="1"/>
          <p:nvPr/>
        </p:nvSpPr>
        <p:spPr>
          <a:xfrm>
            <a:off x="6687314" y="4087367"/>
            <a:ext cx="81201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216" name="Rounded Rectangle 36">
            <a:extLst>
              <a:ext uri="{FF2B5EF4-FFF2-40B4-BE49-F238E27FC236}">
                <a16:creationId xmlns:a16="http://schemas.microsoft.com/office/drawing/2014/main" id="{E12C1610-B133-17D6-C007-F5AA7570EC7B}"/>
              </a:ext>
            </a:extLst>
          </p:cNvPr>
          <p:cNvSpPr/>
          <p:nvPr/>
        </p:nvSpPr>
        <p:spPr>
          <a:xfrm>
            <a:off x="8607554" y="4169663"/>
            <a:ext cx="1527048" cy="100584"/>
          </a:xfrm>
          <a:prstGeom prst="roundRect">
            <a:avLst/>
          </a:prstGeom>
          <a:solidFill>
            <a:srgbClr val="CF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Rounded Rectangle 37">
            <a:extLst>
              <a:ext uri="{FF2B5EF4-FFF2-40B4-BE49-F238E27FC236}">
                <a16:creationId xmlns:a16="http://schemas.microsoft.com/office/drawing/2014/main" id="{5E4245F9-3D14-9E3F-097F-9ABA8E1C1A16}"/>
              </a:ext>
            </a:extLst>
          </p:cNvPr>
          <p:cNvSpPr/>
          <p:nvPr/>
        </p:nvSpPr>
        <p:spPr>
          <a:xfrm>
            <a:off x="8607554" y="4169663"/>
            <a:ext cx="1493911" cy="100584"/>
          </a:xfrm>
          <a:prstGeom prst="round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D9729897-2B05-137C-069E-8D94F3FE5BB5}"/>
              </a:ext>
            </a:extLst>
          </p:cNvPr>
          <p:cNvSpPr txBox="1"/>
          <p:nvPr/>
        </p:nvSpPr>
        <p:spPr>
          <a:xfrm>
            <a:off x="10344517" y="4059936"/>
            <a:ext cx="75020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97.83%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226D0AF5-8250-060A-9ED2-9C245307E66E}"/>
              </a:ext>
            </a:extLst>
          </p:cNvPr>
          <p:cNvSpPr txBox="1"/>
          <p:nvPr/>
        </p:nvSpPr>
        <p:spPr>
          <a:xfrm>
            <a:off x="6687314" y="4809744"/>
            <a:ext cx="87254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226" name="Rounded Rectangle 41">
            <a:extLst>
              <a:ext uri="{FF2B5EF4-FFF2-40B4-BE49-F238E27FC236}">
                <a16:creationId xmlns:a16="http://schemas.microsoft.com/office/drawing/2014/main" id="{55789D17-6DB4-4346-10EF-C864F14303E4}"/>
              </a:ext>
            </a:extLst>
          </p:cNvPr>
          <p:cNvSpPr/>
          <p:nvPr/>
        </p:nvSpPr>
        <p:spPr>
          <a:xfrm>
            <a:off x="8607554" y="4892040"/>
            <a:ext cx="1527048" cy="100584"/>
          </a:xfrm>
          <a:prstGeom prst="roundRect">
            <a:avLst/>
          </a:prstGeom>
          <a:solidFill>
            <a:srgbClr val="CF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Rounded Rectangle 42">
            <a:extLst>
              <a:ext uri="{FF2B5EF4-FFF2-40B4-BE49-F238E27FC236}">
                <a16:creationId xmlns:a16="http://schemas.microsoft.com/office/drawing/2014/main" id="{8E76EFED-97F0-C07E-5460-5DF811BE277E}"/>
              </a:ext>
            </a:extLst>
          </p:cNvPr>
          <p:cNvSpPr/>
          <p:nvPr/>
        </p:nvSpPr>
        <p:spPr>
          <a:xfrm>
            <a:off x="8607554" y="4892040"/>
            <a:ext cx="1492078" cy="100584"/>
          </a:xfrm>
          <a:prstGeom prst="round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311DF5A-F654-F72D-3499-8B0AEA28E352}"/>
              </a:ext>
            </a:extLst>
          </p:cNvPr>
          <p:cNvSpPr txBox="1"/>
          <p:nvPr/>
        </p:nvSpPr>
        <p:spPr>
          <a:xfrm>
            <a:off x="10344517" y="4782312"/>
            <a:ext cx="75020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97.71%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AFD2784-A157-B2FE-0343-83DC9E0FF7D7}"/>
              </a:ext>
            </a:extLst>
          </p:cNvPr>
          <p:cNvSpPr txBox="1"/>
          <p:nvPr/>
        </p:nvSpPr>
        <p:spPr>
          <a:xfrm>
            <a:off x="6687314" y="5532119"/>
            <a:ext cx="58977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Recall</a:t>
            </a:r>
          </a:p>
        </p:txBody>
      </p:sp>
      <p:sp>
        <p:nvSpPr>
          <p:cNvPr id="236" name="Rounded Rectangle 46">
            <a:extLst>
              <a:ext uri="{FF2B5EF4-FFF2-40B4-BE49-F238E27FC236}">
                <a16:creationId xmlns:a16="http://schemas.microsoft.com/office/drawing/2014/main" id="{BBEEFEFB-4006-851D-46BF-EDF89F8E5042}"/>
              </a:ext>
            </a:extLst>
          </p:cNvPr>
          <p:cNvSpPr/>
          <p:nvPr/>
        </p:nvSpPr>
        <p:spPr>
          <a:xfrm>
            <a:off x="8607554" y="5614415"/>
            <a:ext cx="1527048" cy="100584"/>
          </a:xfrm>
          <a:prstGeom prst="roundRect">
            <a:avLst/>
          </a:prstGeom>
          <a:solidFill>
            <a:srgbClr val="CF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Rounded Rectangle 47">
            <a:extLst>
              <a:ext uri="{FF2B5EF4-FFF2-40B4-BE49-F238E27FC236}">
                <a16:creationId xmlns:a16="http://schemas.microsoft.com/office/drawing/2014/main" id="{66E8989D-20B8-05A9-12E1-ADD0CBFAE2C7}"/>
              </a:ext>
            </a:extLst>
          </p:cNvPr>
          <p:cNvSpPr/>
          <p:nvPr/>
        </p:nvSpPr>
        <p:spPr>
          <a:xfrm>
            <a:off x="8607554" y="5614415"/>
            <a:ext cx="1495743" cy="100584"/>
          </a:xfrm>
          <a:prstGeom prst="round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1CE2D4E-BB72-6D50-3D0A-1BEB3ABD895A}"/>
              </a:ext>
            </a:extLst>
          </p:cNvPr>
          <p:cNvSpPr txBox="1"/>
          <p:nvPr/>
        </p:nvSpPr>
        <p:spPr>
          <a:xfrm>
            <a:off x="10344517" y="5504688"/>
            <a:ext cx="75020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1">
                <a:solidFill>
                  <a:srgbClr val="008065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97.95%</a:t>
            </a:r>
          </a:p>
        </p:txBody>
      </p:sp>
    </p:spTree>
    <p:extLst>
      <p:ext uri="{BB962C8B-B14F-4D97-AF65-F5344CB8AC3E}">
        <p14:creationId xmlns:p14="http://schemas.microsoft.com/office/powerpoint/2010/main" val="3569971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554069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10233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1306789"/>
            <a:ext cx="42005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0233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Real-Time Threat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872" y="1961374"/>
            <a:ext cx="3524250" cy="284117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Initializing federated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872" y="2409049"/>
            <a:ext cx="3524250" cy="284117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Establishing quantum-safe tunnels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872" y="2856724"/>
            <a:ext cx="3524250" cy="284117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0233A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Monitoring aggregation rounds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72" y="2013762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72" y="2461437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72" y="2909112"/>
            <a:ext cx="190500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79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438</Words>
  <Application>Microsoft Office PowerPoint</Application>
  <PresentationFormat>Widescreen</PresentationFormat>
  <Paragraphs>130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anas AL_Shehry</dc:creator>
  <cp:keywords/>
  <dc:description>generated using python-pptx</dc:description>
  <cp:lastModifiedBy>anas AL_Shehry</cp:lastModifiedBy>
  <cp:revision>15</cp:revision>
  <dcterms:created xsi:type="dcterms:W3CDTF">2013-01-27T09:14:16Z</dcterms:created>
  <dcterms:modified xsi:type="dcterms:W3CDTF">2026-08-11T16:40:26Z</dcterms:modified>
  <cp:category/>
</cp:coreProperties>
</file>