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8"/>
  </p:notesMasterIdLst>
  <p:sldIdLst>
    <p:sldId id="256" r:id="rId2"/>
    <p:sldId id="257" r:id="rId3"/>
    <p:sldId id="258" r:id="rId4"/>
    <p:sldId id="259" r:id="rId5"/>
    <p:sldId id="260" r:id="rId6"/>
    <p:sldId id="261" r:id="rId7"/>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0"/>
    </p:ext>
    <p:ext uri="{FD5EFAAD-0ECE-453E-9831-46B23BE46B34}">
      <p15:chartTrackingRefBased xmlns:p15="http://schemas.microsoft.com/office/powerpoint/2012/main" val="0"/>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0EC6FF9A-6101-47F3-0B57-2635C6DCED1B}" v="10" dt="2026-08-08T17:55:52.700"/>
    <p1510:client id="{337BA3F0-9011-75D5-8CFB-A74070D1E833}" v="55" dt="2026-08-08T18:17:15.458"/>
    <p1510:client id="{F6B70286-CB10-64F7-3092-1AEE261F017F}" v="2" dt="2026-08-08T16:45:46.260"/>
  </p1510:revLst>
</p1510:revInfo>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3595" autoAdjust="0"/>
  </p:normalViewPr>
  <p:slideViewPr>
    <p:cSldViewPr snapToGrid="0" snapToObjects="1">
      <p:cViewPr>
        <p:scale>
          <a:sx n="66" d="100"/>
          <a:sy n="66" d="100"/>
        </p:scale>
        <p:origin x="1301" y="298"/>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notesMaster" Target="notesMasters/notesMaster1.xml"/><Relationship Id="rId13" Type="http://schemas.microsoft.com/office/2015/10/relationships/revisionInfo" Target="revisionInfo.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tableStyles" Target="tableStyles.xml"/><Relationship Id="rId2" Type="http://schemas.openxmlformats.org/officeDocument/2006/relationships/slide" Target="slides/slid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theme" Target="theme/theme1.xml"/><Relationship Id="rId5" Type="http://schemas.openxmlformats.org/officeDocument/2006/relationships/slide" Target="slides/slide4.xml"/><Relationship Id="rId10" Type="http://schemas.openxmlformats.org/officeDocument/2006/relationships/viewProps" Target="viewProps.xml"/><Relationship Id="rId4" Type="http://schemas.openxmlformats.org/officeDocument/2006/relationships/slide" Target="slides/slide3.xml"/><Relationship Id="rId9" Type="http://schemas.openxmlformats.org/officeDocument/2006/relationships/presProps" Target="presProp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D37253FF-1F7E-4E06-A9D5-9DBA10A66DD3}" type="datetimeFigureOut">
              <a:rPr lang="en-US" smtClean="0"/>
              <a:t>26/08/09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E709B7DD-660C-4B29-A2C1-2FCF2CBC76E4}" type="slidenum">
              <a:rPr lang="en-US" smtClean="0"/>
              <a:t>‹#›</a:t>
            </a:fld>
            <a:endParaRPr lang="en-US"/>
          </a:p>
        </p:txBody>
      </p:sp>
    </p:spTree>
    <p:extLst>
      <p:ext uri="{BB962C8B-B14F-4D97-AF65-F5344CB8AC3E}">
        <p14:creationId xmlns:p14="http://schemas.microsoft.com/office/powerpoint/2010/main" val="3177023880"/>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Timing: 20 seconds.
Opening: UAV nodes see different traffic, but they still need to learn from one another. Our project asks whether they can collaborate without uploading their raw training records - and whether the model exchange itself can be protected against tampering, impersonation, replay, and future quantum-capable attackers.</a:t>
            </a:r>
          </a:p>
        </p:txBody>
      </p:sp>
      <p:sp>
        <p:nvSpPr>
          <p:cNvPr id="4" name="Slide Number Placeholder 3"/>
          <p:cNvSpPr>
            <a:spLocks noGrp="1"/>
          </p:cNvSpPr>
          <p:nvPr>
            <p:ph type="sldNum" sz="quarter" idx="5"/>
          </p:nvPr>
        </p:nvSpPr>
        <p:spPr/>
        <p:txBody>
          <a:bodyPr/>
          <a:lstStyle/>
          <a:p>
            <a:fld id="{E709B7DD-660C-4B29-A2C1-2FCF2CBC76E4}" type="slidenum">
              <a:rPr lang="en-US" smtClean="0"/>
              <a:t>1</a:t>
            </a:fld>
            <a:endParaRPr lang="en-US"/>
          </a:p>
        </p:txBody>
      </p:sp>
    </p:spTree>
    <p:extLst>
      <p:ext uri="{BB962C8B-B14F-4D97-AF65-F5344CB8AC3E}">
        <p14:creationId xmlns:p14="http://schemas.microsoft.com/office/powerpoint/2010/main" val="1040125772"/>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Timing: 60 seconds.
The key tension is collaboration versus concentration. Local-only learning can be inconsistent because the five source partitions have very different attack prevalence. Central pooling is an accuracy reference, but it requires all training data in one place. Even if we federate the learning, the exchanged models become a new security target, so communication protection must be part of the architecture - not an afterthought.</a:t>
            </a:r>
          </a:p>
        </p:txBody>
      </p:sp>
      <p:sp>
        <p:nvSpPr>
          <p:cNvPr id="4" name="Slide Number Placeholder 3"/>
          <p:cNvSpPr>
            <a:spLocks noGrp="1"/>
          </p:cNvSpPr>
          <p:nvPr>
            <p:ph type="sldNum" sz="quarter" idx="5"/>
          </p:nvPr>
        </p:nvSpPr>
        <p:spPr/>
        <p:txBody>
          <a:bodyPr/>
          <a:lstStyle/>
          <a:p>
            <a:fld id="{E709B7DD-660C-4B29-A2C1-2FCF2CBC76E4}" type="slidenum">
              <a:rPr lang="en-US" smtClean="0"/>
              <a:t>2</a:t>
            </a:fld>
            <a:endParaRPr lang="en-US"/>
          </a:p>
        </p:txBody>
      </p:sp>
    </p:spTree>
    <p:extLst>
      <p:ext uri="{BB962C8B-B14F-4D97-AF65-F5344CB8AC3E}">
        <p14:creationId xmlns:p14="http://schemas.microsoft.com/office/powerpoint/2010/main" val="3054540747"/>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Timing: 70 seconds.
Federated learning means moving the model to the data rather than moving all data to the model. Each logical client trains locally, and only its learned update participates in Federated Averaging. Our secure mode then protects those application messages: post-quantum algorithms establish keys and authenticate identities, while AES-GCM protects the actual model payloads. The dashboard makes the detection, client participation, rounds and rejection events visible.</a:t>
            </a:r>
          </a:p>
        </p:txBody>
      </p:sp>
      <p:sp>
        <p:nvSpPr>
          <p:cNvPr id="4" name="Slide Number Placeholder 3"/>
          <p:cNvSpPr>
            <a:spLocks noGrp="1"/>
          </p:cNvSpPr>
          <p:nvPr>
            <p:ph type="sldNum" sz="quarter" idx="5"/>
          </p:nvPr>
        </p:nvSpPr>
        <p:spPr/>
        <p:txBody>
          <a:bodyPr/>
          <a:lstStyle/>
          <a:p>
            <a:fld id="{E709B7DD-660C-4B29-A2C1-2FCF2CBC76E4}" type="slidenum">
              <a:rPr lang="en-US" smtClean="0"/>
              <a:t>3</a:t>
            </a:fld>
            <a:endParaRPr lang="en-US"/>
          </a:p>
        </p:txBody>
      </p:sp>
    </p:spTree>
    <p:extLst>
      <p:ext uri="{BB962C8B-B14F-4D97-AF65-F5344CB8AC3E}">
        <p14:creationId xmlns:p14="http://schemas.microsoft.com/office/powerpoint/2010/main" val="576557572"/>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Timing: 120 seconds.
Walk from left to right. These are five source-based logical clients with naturally different attack prevalence. Each uses the same 15-feature preprocessing and binary MLP, trains for two local epochs, and produces an update. ML-KEM establishes shared material, HKDF derives directional AES keys, ML-DSA authenticates provisioned identities, and AES-GCM protects each model message. Bound metadata and strict sequences reject wrong-client, wrong-round and replayed messages before model decoding. The coordinator then validates and aggregates updates by sample count. Research used 30 rounds; the container demo deliberately uses three for presentation speed.
Important limitation: the shared preprocessor was fitted centrally on pooled training-client features, so do not claim private federated preprocessing.</a:t>
            </a:r>
          </a:p>
        </p:txBody>
      </p:sp>
      <p:sp>
        <p:nvSpPr>
          <p:cNvPr id="4" name="Slide Number Placeholder 3"/>
          <p:cNvSpPr>
            <a:spLocks noGrp="1"/>
          </p:cNvSpPr>
          <p:nvPr>
            <p:ph type="sldNum" sz="quarter" idx="5"/>
          </p:nvPr>
        </p:nvSpPr>
        <p:spPr/>
        <p:txBody>
          <a:bodyPr/>
          <a:lstStyle/>
          <a:p>
            <a:fld id="{E709B7DD-660C-4B29-A2C1-2FCF2CBC76E4}" type="slidenum">
              <a:rPr lang="en-US" smtClean="0"/>
              <a:t>4</a:t>
            </a:fld>
            <a:endParaRPr lang="en-US"/>
          </a:p>
        </p:txBody>
      </p:sp>
    </p:spTree>
    <p:extLst>
      <p:ext uri="{BB962C8B-B14F-4D97-AF65-F5344CB8AC3E}">
        <p14:creationId xmlns:p14="http://schemas.microsoft.com/office/powerpoint/2010/main" val="641358096"/>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Timing: 100 seconds.
Macro-F1 gives equal importance to the Normal and Attack classes, so it is more informative here than accuracy alone. FedAvg reached 95.02 percent on the locked unseen-source test - 5.33 percentage points above the average local-only model, although centralized pooling remained 2.73 points higher. The security layer did not alter learning: secure and plain aggregation matched exactly within the verifier's tolerance. Twelve controlled malformed, tampered, replayed, wrong-identity or wrong-context messages were safely rejected, and none entered aggregation. The 7.49 percent false-positive rate is a real limitation and should be stated openly.</a:t>
            </a:r>
          </a:p>
        </p:txBody>
      </p:sp>
      <p:sp>
        <p:nvSpPr>
          <p:cNvPr id="4" name="Slide Number Placeholder 3"/>
          <p:cNvSpPr>
            <a:spLocks noGrp="1"/>
          </p:cNvSpPr>
          <p:nvPr>
            <p:ph type="sldNum" sz="quarter" idx="5"/>
          </p:nvPr>
        </p:nvSpPr>
        <p:spPr/>
        <p:txBody>
          <a:bodyPr/>
          <a:lstStyle/>
          <a:p>
            <a:fld id="{E709B7DD-660C-4B29-A2C1-2FCF2CBC76E4}" type="slidenum">
              <a:rPr lang="en-US" smtClean="0"/>
              <a:t>5</a:t>
            </a:fld>
            <a:endParaRPr lang="en-US"/>
          </a:p>
        </p:txBody>
      </p:sp>
    </p:spTree>
    <p:extLst>
      <p:ext uri="{BB962C8B-B14F-4D97-AF65-F5344CB8AC3E}">
        <p14:creationId xmlns:p14="http://schemas.microsoft.com/office/powerpoint/2010/main" val="3031927623"/>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Timing: approximately 180 seconds, leaving around 50 seconds of buffer.
Demo sequence: first verify that the backend reports the real frozen model identifier. Start the nominal profile and point out the Normal verdict and counters. Move to Transitional to show that the detector has a real decision boundary rather than a rigged switch. Then select Sustained Flood and show the Attack verdict, confidence, alert and counters. Finally, scroll to the federated and security panels: five clients, round progress, secure mode, authenticated identities and any rejection events.
Be explicit that the injector produces internally consistent model-feature vectors; it is not live packet capture. The model is binary and does not name an attack family. If Docker telemetry fails, use verified recorded telemetry while keeping the replay indicator visible; real frozen-model inference should still remain active.</a:t>
            </a:r>
          </a:p>
        </p:txBody>
      </p:sp>
      <p:sp>
        <p:nvSpPr>
          <p:cNvPr id="4" name="Slide Number Placeholder 3"/>
          <p:cNvSpPr>
            <a:spLocks noGrp="1"/>
          </p:cNvSpPr>
          <p:nvPr>
            <p:ph type="sldNum" sz="quarter" idx="5"/>
          </p:nvPr>
        </p:nvSpPr>
        <p:spPr/>
        <p:txBody>
          <a:bodyPr/>
          <a:lstStyle/>
          <a:p>
            <a:fld id="{E709B7DD-660C-4B29-A2C1-2FCF2CBC76E4}" type="slidenum">
              <a:rPr lang="en-US" smtClean="0"/>
              <a:t>6</a:t>
            </a:fld>
            <a:endParaRPr lang="en-US"/>
          </a:p>
        </p:txBody>
      </p:sp>
    </p:spTree>
    <p:extLst>
      <p:ext uri="{BB962C8B-B14F-4D97-AF65-F5344CB8AC3E}">
        <p14:creationId xmlns:p14="http://schemas.microsoft.com/office/powerpoint/2010/main" val="951976266"/>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a:t>Click to edit Master title style</a:t>
            </a:r>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p>
        </p:txBody>
      </p:sp>
      <p:sp>
        <p:nvSpPr>
          <p:cNvPr id="4" name="Date Placeholder 3"/>
          <p:cNvSpPr>
            <a:spLocks noGrp="1"/>
          </p:cNvSpPr>
          <p:nvPr>
            <p:ph type="dt" sz="half" idx="10"/>
          </p:nvPr>
        </p:nvSpPr>
        <p:spPr/>
        <p:txBody>
          <a:bodyPr/>
          <a:lstStyle/>
          <a:p>
            <a:fld id="{5BCAD085-E8A6-8845-BD4E-CB4CCA059FC4}" type="datetimeFigureOut">
              <a:rPr lang="en-US" smtClean="0"/>
              <a:t>26/08/09</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5BCAD085-E8A6-8845-BD4E-CB4CCA059FC4}" type="datetimeFigureOut">
              <a:rPr lang="en-US" smtClean="0"/>
              <a:t>26/08/09</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a:t>Click to edit Master title style</a:t>
            </a:r>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26/08/09</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fld id="{5BCAD085-E8A6-8845-BD4E-CB4CCA059FC4}" type="datetimeFigureOut">
              <a:rPr lang="en-US" smtClean="0"/>
              <a:t>26/08/09</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fld id="{5BCAD085-E8A6-8845-BD4E-CB4CCA059FC4}" type="datetimeFigureOut">
              <a:rPr lang="en-US" smtClean="0"/>
              <a:t>26/08/09</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fld id="{5BCAD085-E8A6-8845-BD4E-CB4CCA059FC4}" type="datetimeFigureOut">
              <a:rPr lang="en-US" smtClean="0"/>
              <a:t>26/08/09</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26/08/09</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a:t>Click to edit Master title style</a:t>
            </a:r>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26/08/09</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a:t>Click to edit Master title style</a:t>
            </a:r>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26/08/09</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5BCAD085-E8A6-8845-BD4E-CB4CCA059FC4}" type="datetimeFigureOut">
              <a:rPr lang="en-US" smtClean="0"/>
              <a:t>26/08/09</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5BCAD085-E8A6-8845-BD4E-CB4CCA059FC4}" type="datetimeFigureOut">
              <a:rPr lang="en-US" smtClean="0"/>
              <a:t>26/08/09</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rgbClr val="0F172A"/>
        </a:solidFill>
        <a:effectLst/>
      </p:bgPr>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26/08/09</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xml"/><Relationship Id="rId1" Type="http://schemas.openxmlformats.org/officeDocument/2006/relationships/slideLayout" Target="../slideLayouts/slideLayout7.xml"/><Relationship Id="rId6" Type="http://schemas.openxmlformats.org/officeDocument/2006/relationships/image" Target="../media/image4.png"/><Relationship Id="rId5" Type="http://schemas.openxmlformats.org/officeDocument/2006/relationships/image" Target="../media/image3.png"/><Relationship Id="rId4" Type="http://schemas.openxmlformats.org/officeDocument/2006/relationships/image" Target="../media/image2.png"/></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7.xml"/></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rgbClr val="081422"/>
        </a:solidFill>
        <a:effectLst/>
      </p:bgPr>
    </p:bg>
    <p:spTree>
      <p:nvGrpSpPr>
        <p:cNvPr id="1" name=""/>
        <p:cNvGrpSpPr/>
        <p:nvPr/>
      </p:nvGrpSpPr>
      <p:grpSpPr>
        <a:xfrm>
          <a:off x="0" y="0"/>
          <a:ext cx="0" cy="0"/>
          <a:chOff x="0" y="0"/>
          <a:chExt cx="0" cy="0"/>
        </a:xfrm>
      </p:grpSpPr>
      <p:pic>
        <p:nvPicPr>
          <p:cNvPr id="7" name="Picture 6">
            <a:extLst>
              <a:ext uri="{FF2B5EF4-FFF2-40B4-BE49-F238E27FC236}">
                <a16:creationId xmlns:a16="http://schemas.microsoft.com/office/drawing/2014/main" id="{35A19C9A-75E8-6E78-F198-829C4DD976BF}"/>
              </a:ext>
            </a:extLst>
          </p:cNvPr>
          <p:cNvPicPr>
            <a:picLocks noChangeAspect="1"/>
          </p:cNvPicPr>
          <p:nvPr/>
        </p:nvPicPr>
        <p:blipFill>
          <a:blip r:embed="rId3"/>
          <a:stretch>
            <a:fillRect/>
          </a:stretch>
        </p:blipFill>
        <p:spPr>
          <a:xfrm>
            <a:off x="812800" y="5651500"/>
            <a:ext cx="914400" cy="903063"/>
          </a:xfrm>
          <a:prstGeom prst="rect">
            <a:avLst/>
          </a:prstGeom>
        </p:spPr>
      </p:pic>
      <p:pic>
        <p:nvPicPr>
          <p:cNvPr id="8" name="Picture 7">
            <a:extLst>
              <a:ext uri="{FF2B5EF4-FFF2-40B4-BE49-F238E27FC236}">
                <a16:creationId xmlns:a16="http://schemas.microsoft.com/office/drawing/2014/main" id="{0E6C13D0-6F1C-29BC-B48A-079A2DCCDA2A}"/>
              </a:ext>
            </a:extLst>
          </p:cNvPr>
          <p:cNvPicPr>
            <a:picLocks noChangeAspect="1"/>
          </p:cNvPicPr>
          <p:nvPr/>
        </p:nvPicPr>
        <p:blipFill>
          <a:blip r:embed="rId4"/>
          <a:stretch>
            <a:fillRect/>
          </a:stretch>
        </p:blipFill>
        <p:spPr>
          <a:xfrm>
            <a:off x="2349500" y="5676901"/>
            <a:ext cx="1587500" cy="922455"/>
          </a:xfrm>
          <a:prstGeom prst="rect">
            <a:avLst/>
          </a:prstGeom>
        </p:spPr>
      </p:pic>
      <p:pic>
        <p:nvPicPr>
          <p:cNvPr id="9" name="Picture 8">
            <a:extLst>
              <a:ext uri="{FF2B5EF4-FFF2-40B4-BE49-F238E27FC236}">
                <a16:creationId xmlns:a16="http://schemas.microsoft.com/office/drawing/2014/main" id="{A58CFB0A-48E2-8111-63F9-F2EEF90AADDC}"/>
              </a:ext>
            </a:extLst>
          </p:cNvPr>
          <p:cNvPicPr>
            <a:picLocks noChangeAspect="1"/>
          </p:cNvPicPr>
          <p:nvPr/>
        </p:nvPicPr>
        <p:blipFill>
          <a:blip r:embed="rId5"/>
          <a:stretch>
            <a:fillRect/>
          </a:stretch>
        </p:blipFill>
        <p:spPr>
          <a:xfrm>
            <a:off x="4635500" y="5676900"/>
            <a:ext cx="1828800" cy="903402"/>
          </a:xfrm>
          <a:prstGeom prst="rect">
            <a:avLst/>
          </a:prstGeom>
        </p:spPr>
      </p:pic>
      <p:pic>
        <p:nvPicPr>
          <p:cNvPr id="10" name="Picture 9">
            <a:extLst>
              <a:ext uri="{FF2B5EF4-FFF2-40B4-BE49-F238E27FC236}">
                <a16:creationId xmlns:a16="http://schemas.microsoft.com/office/drawing/2014/main" id="{75D7066C-438C-C02E-84FB-28A5E551A8DC}"/>
              </a:ext>
            </a:extLst>
          </p:cNvPr>
          <p:cNvPicPr>
            <a:picLocks noChangeAspect="1"/>
          </p:cNvPicPr>
          <p:nvPr/>
        </p:nvPicPr>
        <p:blipFill>
          <a:blip r:embed="rId6"/>
          <a:stretch>
            <a:fillRect/>
          </a:stretch>
        </p:blipFill>
        <p:spPr>
          <a:xfrm>
            <a:off x="7302500" y="5791201"/>
            <a:ext cx="2082800" cy="649857"/>
          </a:xfrm>
          <a:prstGeom prst="rect">
            <a:avLst/>
          </a:prstGeom>
        </p:spPr>
      </p:pic>
      <p:sp>
        <p:nvSpPr>
          <p:cNvPr id="11" name="Oval 10">
            <a:extLst>
              <a:ext uri="{FF2B5EF4-FFF2-40B4-BE49-F238E27FC236}">
                <a16:creationId xmlns:a16="http://schemas.microsoft.com/office/drawing/2014/main" id="{1A8F95C0-C759-B1A5-0B00-86386D09A598}"/>
              </a:ext>
            </a:extLst>
          </p:cNvPr>
          <p:cNvSpPr/>
          <p:nvPr/>
        </p:nvSpPr>
        <p:spPr>
          <a:xfrm>
            <a:off x="6642100" y="952500"/>
            <a:ext cx="3937000" cy="3937000"/>
          </a:xfrm>
          <a:prstGeom prst="ellipse">
            <a:avLst/>
          </a:prstGeom>
          <a:noFill/>
          <a:ln w="12700">
            <a:solidFill>
              <a:srgbClr val="3B82F6"/>
            </a:solidFill>
          </a:ln>
          <a:extLst>
            <a:ext uri="{909E8E84-426E-40DD-AFC4-6F175D3DCCD1}">
              <a14:hiddenFill xmlns:a14="http://schemas.microsoft.com/office/drawing/2010/main">
                <a:solidFill>
                  <a:srgbClr val="081422">
                    <a:alpha val="8000"/>
                  </a:srgbClr>
                </a:solidFill>
              </a14:hiddenFill>
            </a:ext>
          </a:ex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12" name="Oval 11">
            <a:extLst>
              <a:ext uri="{FF2B5EF4-FFF2-40B4-BE49-F238E27FC236}">
                <a16:creationId xmlns:a16="http://schemas.microsoft.com/office/drawing/2014/main" id="{5B1AF49A-DED2-1662-0A09-76396C8AED17}"/>
              </a:ext>
            </a:extLst>
          </p:cNvPr>
          <p:cNvSpPr/>
          <p:nvPr/>
        </p:nvSpPr>
        <p:spPr>
          <a:xfrm>
            <a:off x="7023100" y="1333500"/>
            <a:ext cx="3175000" cy="3175000"/>
          </a:xfrm>
          <a:prstGeom prst="ellipse">
            <a:avLst/>
          </a:prstGeom>
          <a:noFill/>
          <a:ln w="12700">
            <a:solidFill>
              <a:srgbClr val="3B82F6"/>
            </a:solidFill>
          </a:ln>
          <a:extLst>
            <a:ext uri="{909E8E84-426E-40DD-AFC4-6F175D3DCCD1}">
              <a14:hiddenFill xmlns:a14="http://schemas.microsoft.com/office/drawing/2010/main">
                <a:solidFill>
                  <a:srgbClr val="081422">
                    <a:alpha val="8000"/>
                  </a:srgbClr>
                </a:solidFill>
              </a14:hiddenFill>
            </a:ext>
          </a:ex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13" name="Oval 12">
            <a:extLst>
              <a:ext uri="{FF2B5EF4-FFF2-40B4-BE49-F238E27FC236}">
                <a16:creationId xmlns:a16="http://schemas.microsoft.com/office/drawing/2014/main" id="{2F0FBEC8-A9C8-41D0-4CC4-177009EFE0F7}"/>
              </a:ext>
            </a:extLst>
          </p:cNvPr>
          <p:cNvSpPr/>
          <p:nvPr/>
        </p:nvSpPr>
        <p:spPr>
          <a:xfrm>
            <a:off x="7404100" y="1714500"/>
            <a:ext cx="2413000" cy="2413000"/>
          </a:xfrm>
          <a:prstGeom prst="ellipse">
            <a:avLst/>
          </a:prstGeom>
          <a:noFill/>
          <a:ln w="12700">
            <a:solidFill>
              <a:srgbClr val="3B82F6"/>
            </a:solidFill>
          </a:ln>
          <a:extLst>
            <a:ext uri="{909E8E84-426E-40DD-AFC4-6F175D3DCCD1}">
              <a14:hiddenFill xmlns:a14="http://schemas.microsoft.com/office/drawing/2010/main">
                <a:solidFill>
                  <a:srgbClr val="081422">
                    <a:alpha val="8000"/>
                  </a:srgbClr>
                </a:solidFill>
              </a14:hiddenFill>
            </a:ext>
          </a:ex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cxnSp>
        <p:nvCxnSpPr>
          <p:cNvPr id="14" name="Straight Connector 13">
            <a:extLst>
              <a:ext uri="{FF2B5EF4-FFF2-40B4-BE49-F238E27FC236}">
                <a16:creationId xmlns:a16="http://schemas.microsoft.com/office/drawing/2014/main" id="{57A7F1A0-4590-55C0-3C2C-D7910B26893D}"/>
              </a:ext>
            </a:extLst>
          </p:cNvPr>
          <p:cNvCxnSpPr/>
          <p:nvPr/>
        </p:nvCxnSpPr>
        <p:spPr>
          <a:xfrm>
            <a:off x="8699500" y="1485900"/>
            <a:ext cx="914400" cy="1562100"/>
          </a:xfrm>
          <a:prstGeom prst="line">
            <a:avLst/>
          </a:prstGeom>
          <a:ln w="15240" cap="flat" cmpd="sng" algn="ctr">
            <a:solidFill>
              <a:srgbClr val="3B82F6">
                <a:alpha val="42000"/>
              </a:srgbClr>
            </a:solidFill>
            <a:prstDash val="solid"/>
            <a:round/>
            <a:headEnd type="none" w="med" len="med"/>
            <a:tailEnd type="none" w="med" len="med"/>
          </a:ln>
        </p:spPr>
        <p:style>
          <a:lnRef idx="2">
            <a:schemeClr val="accent1"/>
          </a:lnRef>
          <a:fillRef idx="0">
            <a:schemeClr val="accent1"/>
          </a:fillRef>
          <a:effectRef idx="1">
            <a:schemeClr val="accent1"/>
          </a:effectRef>
          <a:fontRef idx="minor">
            <a:schemeClr val="tx1"/>
          </a:fontRef>
        </p:style>
      </p:cxnSp>
      <p:sp>
        <p:nvSpPr>
          <p:cNvPr id="15" name="Oval 14">
            <a:extLst>
              <a:ext uri="{FF2B5EF4-FFF2-40B4-BE49-F238E27FC236}">
                <a16:creationId xmlns:a16="http://schemas.microsoft.com/office/drawing/2014/main" id="{B6B7A422-C351-7753-5C66-8FB53D6A786A}"/>
              </a:ext>
            </a:extLst>
          </p:cNvPr>
          <p:cNvSpPr/>
          <p:nvPr/>
        </p:nvSpPr>
        <p:spPr>
          <a:xfrm>
            <a:off x="8509000" y="1295400"/>
            <a:ext cx="381000" cy="381000"/>
          </a:xfrm>
          <a:prstGeom prst="ellipse">
            <a:avLst/>
          </a:prstGeom>
          <a:solidFill>
            <a:srgbClr val="0D1E31"/>
          </a:solidFill>
          <a:ln w="20320">
            <a:solidFill>
              <a:srgbClr val="10C58B"/>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cxnSp>
        <p:nvCxnSpPr>
          <p:cNvPr id="16" name="Straight Connector 15">
            <a:extLst>
              <a:ext uri="{FF2B5EF4-FFF2-40B4-BE49-F238E27FC236}">
                <a16:creationId xmlns:a16="http://schemas.microsoft.com/office/drawing/2014/main" id="{33200808-BE71-CCCC-213D-020D5368E2B2}"/>
              </a:ext>
            </a:extLst>
          </p:cNvPr>
          <p:cNvCxnSpPr/>
          <p:nvPr/>
        </p:nvCxnSpPr>
        <p:spPr>
          <a:xfrm>
            <a:off x="8624824" y="1443228"/>
            <a:ext cx="149352" cy="85344"/>
          </a:xfrm>
          <a:prstGeom prst="line">
            <a:avLst/>
          </a:prstGeom>
          <a:ln w="8001" cap="flat" cmpd="sng" algn="ctr">
            <a:solidFill>
              <a:srgbClr val="10C58B"/>
            </a:solidFill>
            <a:prstDash val="solid"/>
            <a:round/>
            <a:headEnd type="none" w="med" len="med"/>
            <a:tailEnd type="none" w="med" len="med"/>
          </a:ln>
        </p:spPr>
        <p:style>
          <a:lnRef idx="2">
            <a:schemeClr val="accent1"/>
          </a:lnRef>
          <a:fillRef idx="0">
            <a:schemeClr val="accent1"/>
          </a:fillRef>
          <a:effectRef idx="1">
            <a:schemeClr val="accent1"/>
          </a:effectRef>
          <a:fontRef idx="minor">
            <a:schemeClr val="tx1"/>
          </a:fontRef>
        </p:style>
      </p:cxnSp>
      <p:cxnSp>
        <p:nvCxnSpPr>
          <p:cNvPr id="17" name="Straight Connector 16">
            <a:extLst>
              <a:ext uri="{FF2B5EF4-FFF2-40B4-BE49-F238E27FC236}">
                <a16:creationId xmlns:a16="http://schemas.microsoft.com/office/drawing/2014/main" id="{44A063B6-2C1C-E946-9854-92E0C20149AC}"/>
              </a:ext>
            </a:extLst>
          </p:cNvPr>
          <p:cNvCxnSpPr/>
          <p:nvPr/>
        </p:nvCxnSpPr>
        <p:spPr>
          <a:xfrm flipV="1">
            <a:off x="8624824" y="1443228"/>
            <a:ext cx="149352" cy="85344"/>
          </a:xfrm>
          <a:prstGeom prst="line">
            <a:avLst/>
          </a:prstGeom>
          <a:ln w="8001" cap="flat" cmpd="sng" algn="ctr">
            <a:solidFill>
              <a:srgbClr val="10C58B"/>
            </a:solidFill>
            <a:prstDash val="solid"/>
            <a:round/>
            <a:headEnd type="none" w="med" len="med"/>
            <a:tailEnd type="none" w="med" len="med"/>
          </a:ln>
        </p:spPr>
        <p:style>
          <a:lnRef idx="2">
            <a:schemeClr val="accent1"/>
          </a:lnRef>
          <a:fillRef idx="0">
            <a:schemeClr val="accent1"/>
          </a:fillRef>
          <a:effectRef idx="1">
            <a:schemeClr val="accent1"/>
          </a:effectRef>
          <a:fontRef idx="minor">
            <a:schemeClr val="tx1"/>
          </a:fontRef>
        </p:style>
      </p:cxnSp>
      <p:sp>
        <p:nvSpPr>
          <p:cNvPr id="18" name="Rectangle: Rounded Corners 17">
            <a:extLst>
              <a:ext uri="{FF2B5EF4-FFF2-40B4-BE49-F238E27FC236}">
                <a16:creationId xmlns:a16="http://schemas.microsoft.com/office/drawing/2014/main" id="{09F4ADFB-5CE0-3378-3689-63A5498D909D}"/>
              </a:ext>
            </a:extLst>
          </p:cNvPr>
          <p:cNvSpPr/>
          <p:nvPr/>
        </p:nvSpPr>
        <p:spPr>
          <a:xfrm>
            <a:off x="8656828" y="1464564"/>
            <a:ext cx="85344" cy="42672"/>
          </a:xfrm>
          <a:prstGeom prst="roundRect">
            <a:avLst/>
          </a:prstGeom>
          <a:solidFill>
            <a:srgbClr val="10C58B"/>
          </a:solidFill>
          <a:ln w="9525" cap="flat" cmpd="sng" algn="ctr">
            <a:noFill/>
            <a:prstDash val="solid"/>
          </a:ln>
          <a:effectLst>
            <a:outerShdw blurRad="40000" dist="23000" dir="5400000" rotWithShape="0">
              <a:srgbClr val="000000">
                <a:alpha val="35000"/>
              </a:srgbClr>
            </a:outerShdw>
          </a:effectLst>
          <a:extLst>
            <a:ext uri="{91240B29-F687-4F45-9708-019B960494DF}">
              <a14:hiddenLine xmlns:a14="http://schemas.microsoft.com/office/drawing/2010/main" w="9525" cap="flat" cmpd="sng" algn="ctr">
                <a:solidFill>
                  <a:schemeClr val="accent1">
                    <a:shade val="95000"/>
                    <a:satMod val="105000"/>
                  </a:schemeClr>
                </a:solidFill>
                <a:prstDash val="solid"/>
              </a14:hiddenLine>
            </a:ext>
          </a:ex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19" name="Oval 18">
            <a:extLst>
              <a:ext uri="{FF2B5EF4-FFF2-40B4-BE49-F238E27FC236}">
                <a16:creationId xmlns:a16="http://schemas.microsoft.com/office/drawing/2014/main" id="{298AA341-E91C-D956-02E7-9845637DFF37}"/>
              </a:ext>
            </a:extLst>
          </p:cNvPr>
          <p:cNvSpPr/>
          <p:nvPr/>
        </p:nvSpPr>
        <p:spPr>
          <a:xfrm>
            <a:off x="8608822" y="1427226"/>
            <a:ext cx="42672" cy="42672"/>
          </a:xfrm>
          <a:prstGeom prst="ellipse">
            <a:avLst/>
          </a:prstGeom>
          <a:solidFill>
            <a:srgbClr val="081422"/>
          </a:solidFill>
          <a:ln w="6401">
            <a:solidFill>
              <a:srgbClr val="10C58B"/>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20" name="Oval 19">
            <a:extLst>
              <a:ext uri="{FF2B5EF4-FFF2-40B4-BE49-F238E27FC236}">
                <a16:creationId xmlns:a16="http://schemas.microsoft.com/office/drawing/2014/main" id="{B60287EE-0FEC-5830-17F8-DC7F0EF7995E}"/>
              </a:ext>
            </a:extLst>
          </p:cNvPr>
          <p:cNvSpPr/>
          <p:nvPr/>
        </p:nvSpPr>
        <p:spPr>
          <a:xfrm>
            <a:off x="8768842" y="1427226"/>
            <a:ext cx="42672" cy="42672"/>
          </a:xfrm>
          <a:prstGeom prst="ellipse">
            <a:avLst/>
          </a:prstGeom>
          <a:solidFill>
            <a:srgbClr val="081422"/>
          </a:solidFill>
          <a:ln w="6401">
            <a:solidFill>
              <a:srgbClr val="10C58B"/>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21" name="Oval 20">
            <a:extLst>
              <a:ext uri="{FF2B5EF4-FFF2-40B4-BE49-F238E27FC236}">
                <a16:creationId xmlns:a16="http://schemas.microsoft.com/office/drawing/2014/main" id="{DD97A7C1-3C54-9B70-4F66-713B46920452}"/>
              </a:ext>
            </a:extLst>
          </p:cNvPr>
          <p:cNvSpPr/>
          <p:nvPr/>
        </p:nvSpPr>
        <p:spPr>
          <a:xfrm>
            <a:off x="8608822" y="1523238"/>
            <a:ext cx="42672" cy="42672"/>
          </a:xfrm>
          <a:prstGeom prst="ellipse">
            <a:avLst/>
          </a:prstGeom>
          <a:solidFill>
            <a:srgbClr val="081422"/>
          </a:solidFill>
          <a:ln w="6401">
            <a:solidFill>
              <a:srgbClr val="10C58B"/>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22" name="Oval 21">
            <a:extLst>
              <a:ext uri="{FF2B5EF4-FFF2-40B4-BE49-F238E27FC236}">
                <a16:creationId xmlns:a16="http://schemas.microsoft.com/office/drawing/2014/main" id="{08ECDE7B-4368-631A-829E-3A6AACE8D50E}"/>
              </a:ext>
            </a:extLst>
          </p:cNvPr>
          <p:cNvSpPr/>
          <p:nvPr/>
        </p:nvSpPr>
        <p:spPr>
          <a:xfrm>
            <a:off x="8768842" y="1523238"/>
            <a:ext cx="42672" cy="42672"/>
          </a:xfrm>
          <a:prstGeom prst="ellipse">
            <a:avLst/>
          </a:prstGeom>
          <a:solidFill>
            <a:srgbClr val="081422"/>
          </a:solidFill>
          <a:ln w="6401">
            <a:solidFill>
              <a:srgbClr val="10C58B"/>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cxnSp>
        <p:nvCxnSpPr>
          <p:cNvPr id="23" name="Straight Connector 22">
            <a:extLst>
              <a:ext uri="{FF2B5EF4-FFF2-40B4-BE49-F238E27FC236}">
                <a16:creationId xmlns:a16="http://schemas.microsoft.com/office/drawing/2014/main" id="{EB2DA8D9-EE97-17E9-C366-59445E0E8FA5}"/>
              </a:ext>
            </a:extLst>
          </p:cNvPr>
          <p:cNvCxnSpPr/>
          <p:nvPr/>
        </p:nvCxnSpPr>
        <p:spPr>
          <a:xfrm flipH="1">
            <a:off x="9613900" y="2146300"/>
            <a:ext cx="1041400" cy="901700"/>
          </a:xfrm>
          <a:prstGeom prst="line">
            <a:avLst/>
          </a:prstGeom>
          <a:ln w="15240" cap="flat" cmpd="sng" algn="ctr">
            <a:solidFill>
              <a:srgbClr val="3B82F6">
                <a:alpha val="42000"/>
              </a:srgbClr>
            </a:solidFill>
            <a:prstDash val="solid"/>
            <a:round/>
            <a:headEnd type="none" w="med" len="med"/>
            <a:tailEnd type="none" w="med" len="med"/>
          </a:ln>
        </p:spPr>
        <p:style>
          <a:lnRef idx="2">
            <a:schemeClr val="accent1"/>
          </a:lnRef>
          <a:fillRef idx="0">
            <a:schemeClr val="accent1"/>
          </a:fillRef>
          <a:effectRef idx="1">
            <a:schemeClr val="accent1"/>
          </a:effectRef>
          <a:fontRef idx="minor">
            <a:schemeClr val="tx1"/>
          </a:fontRef>
        </p:style>
      </p:cxnSp>
      <p:sp>
        <p:nvSpPr>
          <p:cNvPr id="24" name="Oval 23">
            <a:extLst>
              <a:ext uri="{FF2B5EF4-FFF2-40B4-BE49-F238E27FC236}">
                <a16:creationId xmlns:a16="http://schemas.microsoft.com/office/drawing/2014/main" id="{BF5A7171-0E55-4E46-F2B9-7E1D0E5446BC}"/>
              </a:ext>
            </a:extLst>
          </p:cNvPr>
          <p:cNvSpPr/>
          <p:nvPr/>
        </p:nvSpPr>
        <p:spPr>
          <a:xfrm>
            <a:off x="10464800" y="1955800"/>
            <a:ext cx="381000" cy="381000"/>
          </a:xfrm>
          <a:prstGeom prst="ellipse">
            <a:avLst/>
          </a:prstGeom>
          <a:solidFill>
            <a:srgbClr val="0D1E31"/>
          </a:solidFill>
          <a:ln w="20320">
            <a:solidFill>
              <a:srgbClr val="10C58B"/>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cxnSp>
        <p:nvCxnSpPr>
          <p:cNvPr id="25" name="Straight Connector 24">
            <a:extLst>
              <a:ext uri="{FF2B5EF4-FFF2-40B4-BE49-F238E27FC236}">
                <a16:creationId xmlns:a16="http://schemas.microsoft.com/office/drawing/2014/main" id="{942EC4D3-4B50-BA84-8333-5EC78948E1D3}"/>
              </a:ext>
            </a:extLst>
          </p:cNvPr>
          <p:cNvCxnSpPr/>
          <p:nvPr/>
        </p:nvCxnSpPr>
        <p:spPr>
          <a:xfrm>
            <a:off x="10580624" y="2103628"/>
            <a:ext cx="149352" cy="85344"/>
          </a:xfrm>
          <a:prstGeom prst="line">
            <a:avLst/>
          </a:prstGeom>
          <a:ln w="8001" cap="flat" cmpd="sng" algn="ctr">
            <a:solidFill>
              <a:srgbClr val="10C58B"/>
            </a:solidFill>
            <a:prstDash val="solid"/>
            <a:round/>
            <a:headEnd type="none" w="med" len="med"/>
            <a:tailEnd type="none" w="med" len="med"/>
          </a:ln>
        </p:spPr>
        <p:style>
          <a:lnRef idx="2">
            <a:schemeClr val="accent1"/>
          </a:lnRef>
          <a:fillRef idx="0">
            <a:schemeClr val="accent1"/>
          </a:fillRef>
          <a:effectRef idx="1">
            <a:schemeClr val="accent1"/>
          </a:effectRef>
          <a:fontRef idx="minor">
            <a:schemeClr val="tx1"/>
          </a:fontRef>
        </p:style>
      </p:cxnSp>
      <p:cxnSp>
        <p:nvCxnSpPr>
          <p:cNvPr id="26" name="Straight Connector 25">
            <a:extLst>
              <a:ext uri="{FF2B5EF4-FFF2-40B4-BE49-F238E27FC236}">
                <a16:creationId xmlns:a16="http://schemas.microsoft.com/office/drawing/2014/main" id="{2298436B-C051-CD5A-3AB5-95BC19C45C7F}"/>
              </a:ext>
            </a:extLst>
          </p:cNvPr>
          <p:cNvCxnSpPr/>
          <p:nvPr/>
        </p:nvCxnSpPr>
        <p:spPr>
          <a:xfrm flipV="1">
            <a:off x="10580624" y="2103628"/>
            <a:ext cx="149352" cy="85344"/>
          </a:xfrm>
          <a:prstGeom prst="line">
            <a:avLst/>
          </a:prstGeom>
          <a:ln w="8001" cap="flat" cmpd="sng" algn="ctr">
            <a:solidFill>
              <a:srgbClr val="10C58B"/>
            </a:solidFill>
            <a:prstDash val="solid"/>
            <a:round/>
            <a:headEnd type="none" w="med" len="med"/>
            <a:tailEnd type="none" w="med" len="med"/>
          </a:ln>
        </p:spPr>
        <p:style>
          <a:lnRef idx="2">
            <a:schemeClr val="accent1"/>
          </a:lnRef>
          <a:fillRef idx="0">
            <a:schemeClr val="accent1"/>
          </a:fillRef>
          <a:effectRef idx="1">
            <a:schemeClr val="accent1"/>
          </a:effectRef>
          <a:fontRef idx="minor">
            <a:schemeClr val="tx1"/>
          </a:fontRef>
        </p:style>
      </p:cxnSp>
      <p:sp>
        <p:nvSpPr>
          <p:cNvPr id="27" name="Rectangle: Rounded Corners 26">
            <a:extLst>
              <a:ext uri="{FF2B5EF4-FFF2-40B4-BE49-F238E27FC236}">
                <a16:creationId xmlns:a16="http://schemas.microsoft.com/office/drawing/2014/main" id="{4F5336DE-C75D-F25B-33F4-7A0A24261F50}"/>
              </a:ext>
            </a:extLst>
          </p:cNvPr>
          <p:cNvSpPr/>
          <p:nvPr/>
        </p:nvSpPr>
        <p:spPr>
          <a:xfrm>
            <a:off x="10612628" y="2124964"/>
            <a:ext cx="85344" cy="42672"/>
          </a:xfrm>
          <a:prstGeom prst="roundRect">
            <a:avLst/>
          </a:prstGeom>
          <a:solidFill>
            <a:srgbClr val="10C58B"/>
          </a:solidFill>
          <a:ln w="9525" cap="flat" cmpd="sng" algn="ctr">
            <a:noFill/>
            <a:prstDash val="solid"/>
          </a:ln>
          <a:effectLst>
            <a:outerShdw blurRad="40000" dist="23000" dir="5400000" rotWithShape="0">
              <a:srgbClr val="000000">
                <a:alpha val="35000"/>
              </a:srgbClr>
            </a:outerShdw>
          </a:effectLst>
          <a:extLst>
            <a:ext uri="{91240B29-F687-4F45-9708-019B960494DF}">
              <a14:hiddenLine xmlns:a14="http://schemas.microsoft.com/office/drawing/2010/main" w="9525" cap="flat" cmpd="sng" algn="ctr">
                <a:solidFill>
                  <a:schemeClr val="accent1">
                    <a:shade val="95000"/>
                    <a:satMod val="105000"/>
                  </a:schemeClr>
                </a:solidFill>
                <a:prstDash val="solid"/>
              </a14:hiddenLine>
            </a:ext>
          </a:ex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28" name="Oval 27">
            <a:extLst>
              <a:ext uri="{FF2B5EF4-FFF2-40B4-BE49-F238E27FC236}">
                <a16:creationId xmlns:a16="http://schemas.microsoft.com/office/drawing/2014/main" id="{CD093EED-6D05-9AAD-3909-63AEE4471B64}"/>
              </a:ext>
            </a:extLst>
          </p:cNvPr>
          <p:cNvSpPr/>
          <p:nvPr/>
        </p:nvSpPr>
        <p:spPr>
          <a:xfrm>
            <a:off x="10564622" y="2087626"/>
            <a:ext cx="42672" cy="42672"/>
          </a:xfrm>
          <a:prstGeom prst="ellipse">
            <a:avLst/>
          </a:prstGeom>
          <a:solidFill>
            <a:srgbClr val="081422"/>
          </a:solidFill>
          <a:ln w="6401">
            <a:solidFill>
              <a:srgbClr val="10C58B"/>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29" name="Oval 28">
            <a:extLst>
              <a:ext uri="{FF2B5EF4-FFF2-40B4-BE49-F238E27FC236}">
                <a16:creationId xmlns:a16="http://schemas.microsoft.com/office/drawing/2014/main" id="{E148066B-CE8B-5D0B-D96F-F0B8381C2F89}"/>
              </a:ext>
            </a:extLst>
          </p:cNvPr>
          <p:cNvSpPr/>
          <p:nvPr/>
        </p:nvSpPr>
        <p:spPr>
          <a:xfrm>
            <a:off x="10724642" y="2087626"/>
            <a:ext cx="42672" cy="42672"/>
          </a:xfrm>
          <a:prstGeom prst="ellipse">
            <a:avLst/>
          </a:prstGeom>
          <a:solidFill>
            <a:srgbClr val="081422"/>
          </a:solidFill>
          <a:ln w="6401">
            <a:solidFill>
              <a:srgbClr val="10C58B"/>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30" name="Oval 29">
            <a:extLst>
              <a:ext uri="{FF2B5EF4-FFF2-40B4-BE49-F238E27FC236}">
                <a16:creationId xmlns:a16="http://schemas.microsoft.com/office/drawing/2014/main" id="{ACA80300-E99C-460B-BFB1-A1D2BEEAF42F}"/>
              </a:ext>
            </a:extLst>
          </p:cNvPr>
          <p:cNvSpPr/>
          <p:nvPr/>
        </p:nvSpPr>
        <p:spPr>
          <a:xfrm>
            <a:off x="10564622" y="2183638"/>
            <a:ext cx="42672" cy="42672"/>
          </a:xfrm>
          <a:prstGeom prst="ellipse">
            <a:avLst/>
          </a:prstGeom>
          <a:solidFill>
            <a:srgbClr val="081422"/>
          </a:solidFill>
          <a:ln w="6401">
            <a:solidFill>
              <a:srgbClr val="10C58B"/>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31" name="Oval 30">
            <a:extLst>
              <a:ext uri="{FF2B5EF4-FFF2-40B4-BE49-F238E27FC236}">
                <a16:creationId xmlns:a16="http://schemas.microsoft.com/office/drawing/2014/main" id="{F332F3E0-CBE3-2B2B-6C9C-AF21394EA77A}"/>
              </a:ext>
            </a:extLst>
          </p:cNvPr>
          <p:cNvSpPr/>
          <p:nvPr/>
        </p:nvSpPr>
        <p:spPr>
          <a:xfrm>
            <a:off x="10724642" y="2183638"/>
            <a:ext cx="42672" cy="42672"/>
          </a:xfrm>
          <a:prstGeom prst="ellipse">
            <a:avLst/>
          </a:prstGeom>
          <a:solidFill>
            <a:srgbClr val="081422"/>
          </a:solidFill>
          <a:ln w="6401">
            <a:solidFill>
              <a:srgbClr val="10C58B"/>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cxnSp>
        <p:nvCxnSpPr>
          <p:cNvPr id="32" name="Straight Connector 31">
            <a:extLst>
              <a:ext uri="{FF2B5EF4-FFF2-40B4-BE49-F238E27FC236}">
                <a16:creationId xmlns:a16="http://schemas.microsoft.com/office/drawing/2014/main" id="{4AB80FF9-861E-8CDC-4DF7-235F0764A9CF}"/>
              </a:ext>
            </a:extLst>
          </p:cNvPr>
          <p:cNvCxnSpPr/>
          <p:nvPr/>
        </p:nvCxnSpPr>
        <p:spPr>
          <a:xfrm flipH="1" flipV="1">
            <a:off x="9613900" y="3048000"/>
            <a:ext cx="1295400" cy="990600"/>
          </a:xfrm>
          <a:prstGeom prst="line">
            <a:avLst/>
          </a:prstGeom>
          <a:ln w="15240" cap="flat" cmpd="sng" algn="ctr">
            <a:solidFill>
              <a:srgbClr val="3B82F6">
                <a:alpha val="42000"/>
              </a:srgbClr>
            </a:solidFill>
            <a:prstDash val="solid"/>
            <a:round/>
            <a:headEnd type="none" w="med" len="med"/>
            <a:tailEnd type="none" w="med" len="med"/>
          </a:ln>
        </p:spPr>
        <p:style>
          <a:lnRef idx="2">
            <a:schemeClr val="accent1"/>
          </a:lnRef>
          <a:fillRef idx="0">
            <a:schemeClr val="accent1"/>
          </a:fillRef>
          <a:effectRef idx="1">
            <a:schemeClr val="accent1"/>
          </a:effectRef>
          <a:fontRef idx="minor">
            <a:schemeClr val="tx1"/>
          </a:fontRef>
        </p:style>
      </p:cxnSp>
      <p:sp>
        <p:nvSpPr>
          <p:cNvPr id="33" name="Oval 32">
            <a:extLst>
              <a:ext uri="{FF2B5EF4-FFF2-40B4-BE49-F238E27FC236}">
                <a16:creationId xmlns:a16="http://schemas.microsoft.com/office/drawing/2014/main" id="{E460FEFB-6CED-DEBF-493E-08C578B238A0}"/>
              </a:ext>
            </a:extLst>
          </p:cNvPr>
          <p:cNvSpPr/>
          <p:nvPr/>
        </p:nvSpPr>
        <p:spPr>
          <a:xfrm>
            <a:off x="10718800" y="3848100"/>
            <a:ext cx="381000" cy="381000"/>
          </a:xfrm>
          <a:prstGeom prst="ellipse">
            <a:avLst/>
          </a:prstGeom>
          <a:solidFill>
            <a:srgbClr val="0D1E31"/>
          </a:solidFill>
          <a:ln w="20320">
            <a:solidFill>
              <a:srgbClr val="10C58B"/>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cxnSp>
        <p:nvCxnSpPr>
          <p:cNvPr id="34" name="Straight Connector 33">
            <a:extLst>
              <a:ext uri="{FF2B5EF4-FFF2-40B4-BE49-F238E27FC236}">
                <a16:creationId xmlns:a16="http://schemas.microsoft.com/office/drawing/2014/main" id="{1F4AAB7D-7349-FE50-2F41-73887FDA3200}"/>
              </a:ext>
            </a:extLst>
          </p:cNvPr>
          <p:cNvCxnSpPr/>
          <p:nvPr/>
        </p:nvCxnSpPr>
        <p:spPr>
          <a:xfrm>
            <a:off x="10834624" y="3995928"/>
            <a:ext cx="149352" cy="85344"/>
          </a:xfrm>
          <a:prstGeom prst="line">
            <a:avLst/>
          </a:prstGeom>
          <a:ln w="8001" cap="flat" cmpd="sng" algn="ctr">
            <a:solidFill>
              <a:srgbClr val="10C58B"/>
            </a:solidFill>
            <a:prstDash val="solid"/>
            <a:round/>
            <a:headEnd type="none" w="med" len="med"/>
            <a:tailEnd type="none" w="med" len="med"/>
          </a:ln>
        </p:spPr>
        <p:style>
          <a:lnRef idx="2">
            <a:schemeClr val="accent1"/>
          </a:lnRef>
          <a:fillRef idx="0">
            <a:schemeClr val="accent1"/>
          </a:fillRef>
          <a:effectRef idx="1">
            <a:schemeClr val="accent1"/>
          </a:effectRef>
          <a:fontRef idx="minor">
            <a:schemeClr val="tx1"/>
          </a:fontRef>
        </p:style>
      </p:cxnSp>
      <p:cxnSp>
        <p:nvCxnSpPr>
          <p:cNvPr id="35" name="Straight Connector 34">
            <a:extLst>
              <a:ext uri="{FF2B5EF4-FFF2-40B4-BE49-F238E27FC236}">
                <a16:creationId xmlns:a16="http://schemas.microsoft.com/office/drawing/2014/main" id="{2A6C77B8-031D-EC3B-E4D4-630956D1C08D}"/>
              </a:ext>
            </a:extLst>
          </p:cNvPr>
          <p:cNvCxnSpPr/>
          <p:nvPr/>
        </p:nvCxnSpPr>
        <p:spPr>
          <a:xfrm flipV="1">
            <a:off x="10834624" y="3995928"/>
            <a:ext cx="149352" cy="85344"/>
          </a:xfrm>
          <a:prstGeom prst="line">
            <a:avLst/>
          </a:prstGeom>
          <a:ln w="8001" cap="flat" cmpd="sng" algn="ctr">
            <a:solidFill>
              <a:srgbClr val="10C58B"/>
            </a:solidFill>
            <a:prstDash val="solid"/>
            <a:round/>
            <a:headEnd type="none" w="med" len="med"/>
            <a:tailEnd type="none" w="med" len="med"/>
          </a:ln>
        </p:spPr>
        <p:style>
          <a:lnRef idx="2">
            <a:schemeClr val="accent1"/>
          </a:lnRef>
          <a:fillRef idx="0">
            <a:schemeClr val="accent1"/>
          </a:fillRef>
          <a:effectRef idx="1">
            <a:schemeClr val="accent1"/>
          </a:effectRef>
          <a:fontRef idx="minor">
            <a:schemeClr val="tx1"/>
          </a:fontRef>
        </p:style>
      </p:cxnSp>
      <p:sp>
        <p:nvSpPr>
          <p:cNvPr id="36" name="Rectangle: Rounded Corners 35">
            <a:extLst>
              <a:ext uri="{FF2B5EF4-FFF2-40B4-BE49-F238E27FC236}">
                <a16:creationId xmlns:a16="http://schemas.microsoft.com/office/drawing/2014/main" id="{6345C4DF-6C76-FBE6-7C56-15FD87F1FFAE}"/>
              </a:ext>
            </a:extLst>
          </p:cNvPr>
          <p:cNvSpPr/>
          <p:nvPr/>
        </p:nvSpPr>
        <p:spPr>
          <a:xfrm>
            <a:off x="10866628" y="4017264"/>
            <a:ext cx="85344" cy="42672"/>
          </a:xfrm>
          <a:prstGeom prst="roundRect">
            <a:avLst/>
          </a:prstGeom>
          <a:solidFill>
            <a:srgbClr val="10C58B"/>
          </a:solidFill>
          <a:ln w="9525" cap="flat" cmpd="sng" algn="ctr">
            <a:noFill/>
            <a:prstDash val="solid"/>
          </a:ln>
          <a:effectLst>
            <a:outerShdw blurRad="40000" dist="23000" dir="5400000" rotWithShape="0">
              <a:srgbClr val="000000">
                <a:alpha val="35000"/>
              </a:srgbClr>
            </a:outerShdw>
          </a:effectLst>
          <a:extLst>
            <a:ext uri="{91240B29-F687-4F45-9708-019B960494DF}">
              <a14:hiddenLine xmlns:a14="http://schemas.microsoft.com/office/drawing/2010/main" w="9525" cap="flat" cmpd="sng" algn="ctr">
                <a:solidFill>
                  <a:schemeClr val="accent1">
                    <a:shade val="95000"/>
                    <a:satMod val="105000"/>
                  </a:schemeClr>
                </a:solidFill>
                <a:prstDash val="solid"/>
              </a14:hiddenLine>
            </a:ext>
          </a:ex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37" name="Oval 36">
            <a:extLst>
              <a:ext uri="{FF2B5EF4-FFF2-40B4-BE49-F238E27FC236}">
                <a16:creationId xmlns:a16="http://schemas.microsoft.com/office/drawing/2014/main" id="{6BED5DD3-39DD-7772-4C11-8F07FB9C97C4}"/>
              </a:ext>
            </a:extLst>
          </p:cNvPr>
          <p:cNvSpPr/>
          <p:nvPr/>
        </p:nvSpPr>
        <p:spPr>
          <a:xfrm>
            <a:off x="10818622" y="3979926"/>
            <a:ext cx="42672" cy="42672"/>
          </a:xfrm>
          <a:prstGeom prst="ellipse">
            <a:avLst/>
          </a:prstGeom>
          <a:solidFill>
            <a:srgbClr val="081422"/>
          </a:solidFill>
          <a:ln w="6401">
            <a:solidFill>
              <a:srgbClr val="10C58B"/>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38" name="Oval 37">
            <a:extLst>
              <a:ext uri="{FF2B5EF4-FFF2-40B4-BE49-F238E27FC236}">
                <a16:creationId xmlns:a16="http://schemas.microsoft.com/office/drawing/2014/main" id="{F6F45718-3D90-CC9C-DE67-AE0B3C10C69F}"/>
              </a:ext>
            </a:extLst>
          </p:cNvPr>
          <p:cNvSpPr/>
          <p:nvPr/>
        </p:nvSpPr>
        <p:spPr>
          <a:xfrm>
            <a:off x="10978642" y="3979926"/>
            <a:ext cx="42672" cy="42672"/>
          </a:xfrm>
          <a:prstGeom prst="ellipse">
            <a:avLst/>
          </a:prstGeom>
          <a:solidFill>
            <a:srgbClr val="081422"/>
          </a:solidFill>
          <a:ln w="6401">
            <a:solidFill>
              <a:srgbClr val="10C58B"/>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39" name="Oval 38">
            <a:extLst>
              <a:ext uri="{FF2B5EF4-FFF2-40B4-BE49-F238E27FC236}">
                <a16:creationId xmlns:a16="http://schemas.microsoft.com/office/drawing/2014/main" id="{5BFC8A33-8658-6FE3-917F-EBD02D2B05A2}"/>
              </a:ext>
            </a:extLst>
          </p:cNvPr>
          <p:cNvSpPr/>
          <p:nvPr/>
        </p:nvSpPr>
        <p:spPr>
          <a:xfrm>
            <a:off x="10818622" y="4075938"/>
            <a:ext cx="42672" cy="42672"/>
          </a:xfrm>
          <a:prstGeom prst="ellipse">
            <a:avLst/>
          </a:prstGeom>
          <a:solidFill>
            <a:srgbClr val="081422"/>
          </a:solidFill>
          <a:ln w="6401">
            <a:solidFill>
              <a:srgbClr val="10C58B"/>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40" name="Oval 39">
            <a:extLst>
              <a:ext uri="{FF2B5EF4-FFF2-40B4-BE49-F238E27FC236}">
                <a16:creationId xmlns:a16="http://schemas.microsoft.com/office/drawing/2014/main" id="{E811B5F0-37A6-97D1-0894-04B200D40051}"/>
              </a:ext>
            </a:extLst>
          </p:cNvPr>
          <p:cNvSpPr/>
          <p:nvPr/>
        </p:nvSpPr>
        <p:spPr>
          <a:xfrm>
            <a:off x="10978642" y="4075938"/>
            <a:ext cx="42672" cy="42672"/>
          </a:xfrm>
          <a:prstGeom prst="ellipse">
            <a:avLst/>
          </a:prstGeom>
          <a:solidFill>
            <a:srgbClr val="081422"/>
          </a:solidFill>
          <a:ln w="6401">
            <a:solidFill>
              <a:srgbClr val="10C58B"/>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cxnSp>
        <p:nvCxnSpPr>
          <p:cNvPr id="41" name="Straight Connector 40">
            <a:extLst>
              <a:ext uri="{FF2B5EF4-FFF2-40B4-BE49-F238E27FC236}">
                <a16:creationId xmlns:a16="http://schemas.microsoft.com/office/drawing/2014/main" id="{90088D7E-A5E4-4590-F886-D59AC147DEA7}"/>
              </a:ext>
            </a:extLst>
          </p:cNvPr>
          <p:cNvCxnSpPr/>
          <p:nvPr/>
        </p:nvCxnSpPr>
        <p:spPr>
          <a:xfrm flipV="1">
            <a:off x="8978900" y="3048000"/>
            <a:ext cx="635000" cy="1587500"/>
          </a:xfrm>
          <a:prstGeom prst="line">
            <a:avLst/>
          </a:prstGeom>
          <a:ln w="15240" cap="flat" cmpd="sng" algn="ctr">
            <a:solidFill>
              <a:srgbClr val="3B82F6">
                <a:alpha val="42000"/>
              </a:srgbClr>
            </a:solidFill>
            <a:prstDash val="solid"/>
            <a:round/>
            <a:headEnd type="none" w="med" len="med"/>
            <a:tailEnd type="none" w="med" len="med"/>
          </a:ln>
        </p:spPr>
        <p:style>
          <a:lnRef idx="2">
            <a:schemeClr val="accent1"/>
          </a:lnRef>
          <a:fillRef idx="0">
            <a:schemeClr val="accent1"/>
          </a:fillRef>
          <a:effectRef idx="1">
            <a:schemeClr val="accent1"/>
          </a:effectRef>
          <a:fontRef idx="minor">
            <a:schemeClr val="tx1"/>
          </a:fontRef>
        </p:style>
      </p:cxnSp>
      <p:sp>
        <p:nvSpPr>
          <p:cNvPr id="42" name="Oval 41">
            <a:extLst>
              <a:ext uri="{FF2B5EF4-FFF2-40B4-BE49-F238E27FC236}">
                <a16:creationId xmlns:a16="http://schemas.microsoft.com/office/drawing/2014/main" id="{35D61614-4B23-6C52-BBE4-651D191D9DD4}"/>
              </a:ext>
            </a:extLst>
          </p:cNvPr>
          <p:cNvSpPr/>
          <p:nvPr/>
        </p:nvSpPr>
        <p:spPr>
          <a:xfrm>
            <a:off x="8788400" y="4445000"/>
            <a:ext cx="381000" cy="381000"/>
          </a:xfrm>
          <a:prstGeom prst="ellipse">
            <a:avLst/>
          </a:prstGeom>
          <a:solidFill>
            <a:srgbClr val="0D1E31"/>
          </a:solidFill>
          <a:ln w="20320">
            <a:solidFill>
              <a:srgbClr val="10C58B"/>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cxnSp>
        <p:nvCxnSpPr>
          <p:cNvPr id="43" name="Straight Connector 42">
            <a:extLst>
              <a:ext uri="{FF2B5EF4-FFF2-40B4-BE49-F238E27FC236}">
                <a16:creationId xmlns:a16="http://schemas.microsoft.com/office/drawing/2014/main" id="{4A73160B-BE5C-C9B9-C75B-3F74CA301DC5}"/>
              </a:ext>
            </a:extLst>
          </p:cNvPr>
          <p:cNvCxnSpPr/>
          <p:nvPr/>
        </p:nvCxnSpPr>
        <p:spPr>
          <a:xfrm>
            <a:off x="8904224" y="4592828"/>
            <a:ext cx="149352" cy="85344"/>
          </a:xfrm>
          <a:prstGeom prst="line">
            <a:avLst/>
          </a:prstGeom>
          <a:ln w="8001" cap="flat" cmpd="sng" algn="ctr">
            <a:solidFill>
              <a:srgbClr val="10C58B"/>
            </a:solidFill>
            <a:prstDash val="solid"/>
            <a:round/>
            <a:headEnd type="none" w="med" len="med"/>
            <a:tailEnd type="none" w="med" len="med"/>
          </a:ln>
        </p:spPr>
        <p:style>
          <a:lnRef idx="2">
            <a:schemeClr val="accent1"/>
          </a:lnRef>
          <a:fillRef idx="0">
            <a:schemeClr val="accent1"/>
          </a:fillRef>
          <a:effectRef idx="1">
            <a:schemeClr val="accent1"/>
          </a:effectRef>
          <a:fontRef idx="minor">
            <a:schemeClr val="tx1"/>
          </a:fontRef>
        </p:style>
      </p:cxnSp>
      <p:cxnSp>
        <p:nvCxnSpPr>
          <p:cNvPr id="44" name="Straight Connector 43">
            <a:extLst>
              <a:ext uri="{FF2B5EF4-FFF2-40B4-BE49-F238E27FC236}">
                <a16:creationId xmlns:a16="http://schemas.microsoft.com/office/drawing/2014/main" id="{71A9000C-3678-08BA-57AB-1E32380483BE}"/>
              </a:ext>
            </a:extLst>
          </p:cNvPr>
          <p:cNvCxnSpPr/>
          <p:nvPr/>
        </p:nvCxnSpPr>
        <p:spPr>
          <a:xfrm flipV="1">
            <a:off x="8904224" y="4592828"/>
            <a:ext cx="149352" cy="85344"/>
          </a:xfrm>
          <a:prstGeom prst="line">
            <a:avLst/>
          </a:prstGeom>
          <a:ln w="8001" cap="flat" cmpd="sng" algn="ctr">
            <a:solidFill>
              <a:srgbClr val="10C58B"/>
            </a:solidFill>
            <a:prstDash val="solid"/>
            <a:round/>
            <a:headEnd type="none" w="med" len="med"/>
            <a:tailEnd type="none" w="med" len="med"/>
          </a:ln>
        </p:spPr>
        <p:style>
          <a:lnRef idx="2">
            <a:schemeClr val="accent1"/>
          </a:lnRef>
          <a:fillRef idx="0">
            <a:schemeClr val="accent1"/>
          </a:fillRef>
          <a:effectRef idx="1">
            <a:schemeClr val="accent1"/>
          </a:effectRef>
          <a:fontRef idx="minor">
            <a:schemeClr val="tx1"/>
          </a:fontRef>
        </p:style>
      </p:cxnSp>
      <p:sp>
        <p:nvSpPr>
          <p:cNvPr id="45" name="Rectangle: Rounded Corners 44">
            <a:extLst>
              <a:ext uri="{FF2B5EF4-FFF2-40B4-BE49-F238E27FC236}">
                <a16:creationId xmlns:a16="http://schemas.microsoft.com/office/drawing/2014/main" id="{784A9B67-3743-A747-92DB-0D4BF9967B98}"/>
              </a:ext>
            </a:extLst>
          </p:cNvPr>
          <p:cNvSpPr/>
          <p:nvPr/>
        </p:nvSpPr>
        <p:spPr>
          <a:xfrm>
            <a:off x="8936228" y="4614164"/>
            <a:ext cx="85344" cy="42672"/>
          </a:xfrm>
          <a:prstGeom prst="roundRect">
            <a:avLst/>
          </a:prstGeom>
          <a:solidFill>
            <a:srgbClr val="10C58B"/>
          </a:solidFill>
          <a:ln w="9525" cap="flat" cmpd="sng" algn="ctr">
            <a:noFill/>
            <a:prstDash val="solid"/>
          </a:ln>
          <a:effectLst>
            <a:outerShdw blurRad="40000" dist="23000" dir="5400000" rotWithShape="0">
              <a:srgbClr val="000000">
                <a:alpha val="35000"/>
              </a:srgbClr>
            </a:outerShdw>
          </a:effectLst>
          <a:extLst>
            <a:ext uri="{91240B29-F687-4F45-9708-019B960494DF}">
              <a14:hiddenLine xmlns:a14="http://schemas.microsoft.com/office/drawing/2010/main" w="9525" cap="flat" cmpd="sng" algn="ctr">
                <a:solidFill>
                  <a:schemeClr val="accent1">
                    <a:shade val="95000"/>
                    <a:satMod val="105000"/>
                  </a:schemeClr>
                </a:solidFill>
                <a:prstDash val="solid"/>
              </a14:hiddenLine>
            </a:ext>
          </a:ex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46" name="Oval 45">
            <a:extLst>
              <a:ext uri="{FF2B5EF4-FFF2-40B4-BE49-F238E27FC236}">
                <a16:creationId xmlns:a16="http://schemas.microsoft.com/office/drawing/2014/main" id="{A779DCD6-4D38-56C4-3642-2BD6AA599A5B}"/>
              </a:ext>
            </a:extLst>
          </p:cNvPr>
          <p:cNvSpPr/>
          <p:nvPr/>
        </p:nvSpPr>
        <p:spPr>
          <a:xfrm>
            <a:off x="8888222" y="4576826"/>
            <a:ext cx="42672" cy="42672"/>
          </a:xfrm>
          <a:prstGeom prst="ellipse">
            <a:avLst/>
          </a:prstGeom>
          <a:solidFill>
            <a:srgbClr val="081422"/>
          </a:solidFill>
          <a:ln w="6401">
            <a:solidFill>
              <a:srgbClr val="10C58B"/>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47" name="Oval 46">
            <a:extLst>
              <a:ext uri="{FF2B5EF4-FFF2-40B4-BE49-F238E27FC236}">
                <a16:creationId xmlns:a16="http://schemas.microsoft.com/office/drawing/2014/main" id="{7FEB3347-BF2F-DC30-DC9D-6705E97130A4}"/>
              </a:ext>
            </a:extLst>
          </p:cNvPr>
          <p:cNvSpPr/>
          <p:nvPr/>
        </p:nvSpPr>
        <p:spPr>
          <a:xfrm>
            <a:off x="9048242" y="4576826"/>
            <a:ext cx="42672" cy="42672"/>
          </a:xfrm>
          <a:prstGeom prst="ellipse">
            <a:avLst/>
          </a:prstGeom>
          <a:solidFill>
            <a:srgbClr val="081422"/>
          </a:solidFill>
          <a:ln w="6401">
            <a:solidFill>
              <a:srgbClr val="10C58B"/>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48" name="Oval 47">
            <a:extLst>
              <a:ext uri="{FF2B5EF4-FFF2-40B4-BE49-F238E27FC236}">
                <a16:creationId xmlns:a16="http://schemas.microsoft.com/office/drawing/2014/main" id="{4992E4C1-B13A-E16A-A9F9-24C8630D9A14}"/>
              </a:ext>
            </a:extLst>
          </p:cNvPr>
          <p:cNvSpPr/>
          <p:nvPr/>
        </p:nvSpPr>
        <p:spPr>
          <a:xfrm>
            <a:off x="8888222" y="4672838"/>
            <a:ext cx="42672" cy="42672"/>
          </a:xfrm>
          <a:prstGeom prst="ellipse">
            <a:avLst/>
          </a:prstGeom>
          <a:solidFill>
            <a:srgbClr val="081422"/>
          </a:solidFill>
          <a:ln w="6401">
            <a:solidFill>
              <a:srgbClr val="10C58B"/>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49" name="Oval 48">
            <a:extLst>
              <a:ext uri="{FF2B5EF4-FFF2-40B4-BE49-F238E27FC236}">
                <a16:creationId xmlns:a16="http://schemas.microsoft.com/office/drawing/2014/main" id="{0C284C69-3AD4-B019-FE6C-42DC08B7D39E}"/>
              </a:ext>
            </a:extLst>
          </p:cNvPr>
          <p:cNvSpPr/>
          <p:nvPr/>
        </p:nvSpPr>
        <p:spPr>
          <a:xfrm>
            <a:off x="9048242" y="4672838"/>
            <a:ext cx="42672" cy="42672"/>
          </a:xfrm>
          <a:prstGeom prst="ellipse">
            <a:avLst/>
          </a:prstGeom>
          <a:solidFill>
            <a:srgbClr val="081422"/>
          </a:solidFill>
          <a:ln w="6401">
            <a:solidFill>
              <a:srgbClr val="10C58B"/>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cxnSp>
        <p:nvCxnSpPr>
          <p:cNvPr id="50" name="Straight Connector 49">
            <a:extLst>
              <a:ext uri="{FF2B5EF4-FFF2-40B4-BE49-F238E27FC236}">
                <a16:creationId xmlns:a16="http://schemas.microsoft.com/office/drawing/2014/main" id="{2F77F3F2-3323-3552-6A95-2CE987426C6A}"/>
              </a:ext>
            </a:extLst>
          </p:cNvPr>
          <p:cNvCxnSpPr/>
          <p:nvPr/>
        </p:nvCxnSpPr>
        <p:spPr>
          <a:xfrm flipV="1">
            <a:off x="7505700" y="3048000"/>
            <a:ext cx="2108200" cy="139700"/>
          </a:xfrm>
          <a:prstGeom prst="line">
            <a:avLst/>
          </a:prstGeom>
          <a:ln w="15240" cap="flat" cmpd="sng" algn="ctr">
            <a:solidFill>
              <a:srgbClr val="3B82F6">
                <a:alpha val="42000"/>
              </a:srgbClr>
            </a:solidFill>
            <a:prstDash val="solid"/>
            <a:round/>
            <a:headEnd type="none" w="med" len="med"/>
            <a:tailEnd type="none" w="med" len="med"/>
          </a:ln>
        </p:spPr>
        <p:style>
          <a:lnRef idx="2">
            <a:schemeClr val="accent1"/>
          </a:lnRef>
          <a:fillRef idx="0">
            <a:schemeClr val="accent1"/>
          </a:fillRef>
          <a:effectRef idx="1">
            <a:schemeClr val="accent1"/>
          </a:effectRef>
          <a:fontRef idx="minor">
            <a:schemeClr val="tx1"/>
          </a:fontRef>
        </p:style>
      </p:cxnSp>
      <p:sp>
        <p:nvSpPr>
          <p:cNvPr id="51" name="Oval 50">
            <a:extLst>
              <a:ext uri="{FF2B5EF4-FFF2-40B4-BE49-F238E27FC236}">
                <a16:creationId xmlns:a16="http://schemas.microsoft.com/office/drawing/2014/main" id="{CA720894-E616-C10F-19A4-57DA923B26A3}"/>
              </a:ext>
            </a:extLst>
          </p:cNvPr>
          <p:cNvSpPr/>
          <p:nvPr/>
        </p:nvSpPr>
        <p:spPr>
          <a:xfrm>
            <a:off x="7315200" y="2997200"/>
            <a:ext cx="381000" cy="381000"/>
          </a:xfrm>
          <a:prstGeom prst="ellipse">
            <a:avLst/>
          </a:prstGeom>
          <a:solidFill>
            <a:srgbClr val="0D1E31"/>
          </a:solidFill>
          <a:ln w="20320">
            <a:solidFill>
              <a:srgbClr val="10C58B"/>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cxnSp>
        <p:nvCxnSpPr>
          <p:cNvPr id="52" name="Straight Connector 51">
            <a:extLst>
              <a:ext uri="{FF2B5EF4-FFF2-40B4-BE49-F238E27FC236}">
                <a16:creationId xmlns:a16="http://schemas.microsoft.com/office/drawing/2014/main" id="{810EBC1C-1475-8EEC-73D5-B0FDA73E7766}"/>
              </a:ext>
            </a:extLst>
          </p:cNvPr>
          <p:cNvCxnSpPr/>
          <p:nvPr/>
        </p:nvCxnSpPr>
        <p:spPr>
          <a:xfrm>
            <a:off x="7431024" y="3145028"/>
            <a:ext cx="149352" cy="85344"/>
          </a:xfrm>
          <a:prstGeom prst="line">
            <a:avLst/>
          </a:prstGeom>
          <a:ln w="8001" cap="flat" cmpd="sng" algn="ctr">
            <a:solidFill>
              <a:srgbClr val="10C58B"/>
            </a:solidFill>
            <a:prstDash val="solid"/>
            <a:round/>
            <a:headEnd type="none" w="med" len="med"/>
            <a:tailEnd type="none" w="med" len="med"/>
          </a:ln>
        </p:spPr>
        <p:style>
          <a:lnRef idx="2">
            <a:schemeClr val="accent1"/>
          </a:lnRef>
          <a:fillRef idx="0">
            <a:schemeClr val="accent1"/>
          </a:fillRef>
          <a:effectRef idx="1">
            <a:schemeClr val="accent1"/>
          </a:effectRef>
          <a:fontRef idx="minor">
            <a:schemeClr val="tx1"/>
          </a:fontRef>
        </p:style>
      </p:cxnSp>
      <p:cxnSp>
        <p:nvCxnSpPr>
          <p:cNvPr id="53" name="Straight Connector 52">
            <a:extLst>
              <a:ext uri="{FF2B5EF4-FFF2-40B4-BE49-F238E27FC236}">
                <a16:creationId xmlns:a16="http://schemas.microsoft.com/office/drawing/2014/main" id="{C515DD4A-0C18-16C1-F469-1D80E59C99BC}"/>
              </a:ext>
            </a:extLst>
          </p:cNvPr>
          <p:cNvCxnSpPr/>
          <p:nvPr/>
        </p:nvCxnSpPr>
        <p:spPr>
          <a:xfrm flipV="1">
            <a:off x="7431024" y="3145028"/>
            <a:ext cx="149352" cy="85344"/>
          </a:xfrm>
          <a:prstGeom prst="line">
            <a:avLst/>
          </a:prstGeom>
          <a:ln w="8001" cap="flat" cmpd="sng" algn="ctr">
            <a:solidFill>
              <a:srgbClr val="10C58B"/>
            </a:solidFill>
            <a:prstDash val="solid"/>
            <a:round/>
            <a:headEnd type="none" w="med" len="med"/>
            <a:tailEnd type="none" w="med" len="med"/>
          </a:ln>
        </p:spPr>
        <p:style>
          <a:lnRef idx="2">
            <a:schemeClr val="accent1"/>
          </a:lnRef>
          <a:fillRef idx="0">
            <a:schemeClr val="accent1"/>
          </a:fillRef>
          <a:effectRef idx="1">
            <a:schemeClr val="accent1"/>
          </a:effectRef>
          <a:fontRef idx="minor">
            <a:schemeClr val="tx1"/>
          </a:fontRef>
        </p:style>
      </p:cxnSp>
      <p:sp>
        <p:nvSpPr>
          <p:cNvPr id="54" name="Rectangle: Rounded Corners 53">
            <a:extLst>
              <a:ext uri="{FF2B5EF4-FFF2-40B4-BE49-F238E27FC236}">
                <a16:creationId xmlns:a16="http://schemas.microsoft.com/office/drawing/2014/main" id="{1E2D4FAA-0B2A-9289-6CA7-3C1478E0812C}"/>
              </a:ext>
            </a:extLst>
          </p:cNvPr>
          <p:cNvSpPr/>
          <p:nvPr/>
        </p:nvSpPr>
        <p:spPr>
          <a:xfrm>
            <a:off x="7463028" y="3166364"/>
            <a:ext cx="85344" cy="42672"/>
          </a:xfrm>
          <a:prstGeom prst="roundRect">
            <a:avLst/>
          </a:prstGeom>
          <a:solidFill>
            <a:srgbClr val="10C58B"/>
          </a:solidFill>
          <a:ln w="9525" cap="flat" cmpd="sng" algn="ctr">
            <a:noFill/>
            <a:prstDash val="solid"/>
          </a:ln>
          <a:effectLst>
            <a:outerShdw blurRad="40000" dist="23000" dir="5400000" rotWithShape="0">
              <a:srgbClr val="000000">
                <a:alpha val="35000"/>
              </a:srgbClr>
            </a:outerShdw>
          </a:effectLst>
          <a:extLst>
            <a:ext uri="{91240B29-F687-4F45-9708-019B960494DF}">
              <a14:hiddenLine xmlns:a14="http://schemas.microsoft.com/office/drawing/2010/main" w="9525" cap="flat" cmpd="sng" algn="ctr">
                <a:solidFill>
                  <a:schemeClr val="accent1">
                    <a:shade val="95000"/>
                    <a:satMod val="105000"/>
                  </a:schemeClr>
                </a:solidFill>
                <a:prstDash val="solid"/>
              </a14:hiddenLine>
            </a:ext>
          </a:ex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55" name="Oval 54">
            <a:extLst>
              <a:ext uri="{FF2B5EF4-FFF2-40B4-BE49-F238E27FC236}">
                <a16:creationId xmlns:a16="http://schemas.microsoft.com/office/drawing/2014/main" id="{435D5C18-44F9-47B9-F289-D4712F29CCEF}"/>
              </a:ext>
            </a:extLst>
          </p:cNvPr>
          <p:cNvSpPr/>
          <p:nvPr/>
        </p:nvSpPr>
        <p:spPr>
          <a:xfrm>
            <a:off x="7415022" y="3129026"/>
            <a:ext cx="42672" cy="42672"/>
          </a:xfrm>
          <a:prstGeom prst="ellipse">
            <a:avLst/>
          </a:prstGeom>
          <a:solidFill>
            <a:srgbClr val="081422"/>
          </a:solidFill>
          <a:ln w="6401">
            <a:solidFill>
              <a:srgbClr val="10C58B"/>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56" name="Oval 55">
            <a:extLst>
              <a:ext uri="{FF2B5EF4-FFF2-40B4-BE49-F238E27FC236}">
                <a16:creationId xmlns:a16="http://schemas.microsoft.com/office/drawing/2014/main" id="{3E24FBD6-9F45-56DA-AE62-D0F0A8970327}"/>
              </a:ext>
            </a:extLst>
          </p:cNvPr>
          <p:cNvSpPr/>
          <p:nvPr/>
        </p:nvSpPr>
        <p:spPr>
          <a:xfrm>
            <a:off x="7575042" y="3129026"/>
            <a:ext cx="42672" cy="42672"/>
          </a:xfrm>
          <a:prstGeom prst="ellipse">
            <a:avLst/>
          </a:prstGeom>
          <a:solidFill>
            <a:srgbClr val="081422"/>
          </a:solidFill>
          <a:ln w="6401">
            <a:solidFill>
              <a:srgbClr val="10C58B"/>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57" name="Oval 56">
            <a:extLst>
              <a:ext uri="{FF2B5EF4-FFF2-40B4-BE49-F238E27FC236}">
                <a16:creationId xmlns:a16="http://schemas.microsoft.com/office/drawing/2014/main" id="{0F5343C5-2EC3-113B-4224-2E6719E4466E}"/>
              </a:ext>
            </a:extLst>
          </p:cNvPr>
          <p:cNvSpPr/>
          <p:nvPr/>
        </p:nvSpPr>
        <p:spPr>
          <a:xfrm>
            <a:off x="7415022" y="3225038"/>
            <a:ext cx="42672" cy="42672"/>
          </a:xfrm>
          <a:prstGeom prst="ellipse">
            <a:avLst/>
          </a:prstGeom>
          <a:solidFill>
            <a:srgbClr val="081422"/>
          </a:solidFill>
          <a:ln w="6401">
            <a:solidFill>
              <a:srgbClr val="10C58B"/>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58" name="Oval 57">
            <a:extLst>
              <a:ext uri="{FF2B5EF4-FFF2-40B4-BE49-F238E27FC236}">
                <a16:creationId xmlns:a16="http://schemas.microsoft.com/office/drawing/2014/main" id="{4D4B322D-A82E-D69E-3FA0-9E7DB7108926}"/>
              </a:ext>
            </a:extLst>
          </p:cNvPr>
          <p:cNvSpPr/>
          <p:nvPr/>
        </p:nvSpPr>
        <p:spPr>
          <a:xfrm>
            <a:off x="7575042" y="3225038"/>
            <a:ext cx="42672" cy="42672"/>
          </a:xfrm>
          <a:prstGeom prst="ellipse">
            <a:avLst/>
          </a:prstGeom>
          <a:solidFill>
            <a:srgbClr val="081422"/>
          </a:solidFill>
          <a:ln w="6401">
            <a:solidFill>
              <a:srgbClr val="10C58B"/>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59" name="Oval 58">
            <a:extLst>
              <a:ext uri="{FF2B5EF4-FFF2-40B4-BE49-F238E27FC236}">
                <a16:creationId xmlns:a16="http://schemas.microsoft.com/office/drawing/2014/main" id="{ACF57A4F-3577-BDBE-D971-C0877167E432}"/>
              </a:ext>
            </a:extLst>
          </p:cNvPr>
          <p:cNvSpPr/>
          <p:nvPr/>
        </p:nvSpPr>
        <p:spPr>
          <a:xfrm>
            <a:off x="8978900" y="2413000"/>
            <a:ext cx="1270000" cy="1270000"/>
          </a:xfrm>
          <a:prstGeom prst="ellipse">
            <a:avLst/>
          </a:prstGeom>
          <a:solidFill>
            <a:srgbClr val="0D1E31"/>
          </a:solidFill>
          <a:ln w="25400">
            <a:solidFill>
              <a:srgbClr val="F59E0B"/>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60" name="Rectangle: Rounded Corners 59">
            <a:extLst>
              <a:ext uri="{FF2B5EF4-FFF2-40B4-BE49-F238E27FC236}">
                <a16:creationId xmlns:a16="http://schemas.microsoft.com/office/drawing/2014/main" id="{96F720B9-B5C2-FE8A-C06D-E070D008EC83}"/>
              </a:ext>
            </a:extLst>
          </p:cNvPr>
          <p:cNvSpPr/>
          <p:nvPr/>
        </p:nvSpPr>
        <p:spPr>
          <a:xfrm>
            <a:off x="9334500" y="2679700"/>
            <a:ext cx="402336" cy="91440"/>
          </a:xfrm>
          <a:prstGeom prst="roundRect">
            <a:avLst/>
          </a:prstGeom>
          <a:solidFill>
            <a:srgbClr val="081422"/>
          </a:solidFill>
          <a:ln w="12700">
            <a:solidFill>
              <a:srgbClr val="F8FAFC"/>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61" name="Oval 60">
            <a:extLst>
              <a:ext uri="{FF2B5EF4-FFF2-40B4-BE49-F238E27FC236}">
                <a16:creationId xmlns:a16="http://schemas.microsoft.com/office/drawing/2014/main" id="{111A9794-62C0-D043-5D2C-5E5E2CA7D047}"/>
              </a:ext>
            </a:extLst>
          </p:cNvPr>
          <p:cNvSpPr/>
          <p:nvPr/>
        </p:nvSpPr>
        <p:spPr>
          <a:xfrm>
            <a:off x="9380220" y="2707132"/>
            <a:ext cx="36576" cy="36576"/>
          </a:xfrm>
          <a:prstGeom prst="ellipse">
            <a:avLst/>
          </a:prstGeom>
          <a:solidFill>
            <a:srgbClr val="F8FAFC"/>
          </a:solidFill>
          <a:ln w="9525" cap="flat" cmpd="sng" algn="ctr">
            <a:noFill/>
            <a:prstDash val="solid"/>
          </a:ln>
          <a:effectLst>
            <a:outerShdw blurRad="40000" dist="23000" dir="5400000" rotWithShape="0">
              <a:srgbClr val="000000">
                <a:alpha val="35000"/>
              </a:srgbClr>
            </a:outerShdw>
          </a:effectLst>
          <a:extLst>
            <a:ext uri="{91240B29-F687-4F45-9708-019B960494DF}">
              <a14:hiddenLine xmlns:a14="http://schemas.microsoft.com/office/drawing/2010/main" w="9525" cap="flat" cmpd="sng" algn="ctr">
                <a:solidFill>
                  <a:schemeClr val="accent1">
                    <a:shade val="95000"/>
                    <a:satMod val="105000"/>
                  </a:schemeClr>
                </a:solidFill>
                <a:prstDash val="solid"/>
              </a14:hiddenLine>
            </a:ext>
          </a:ex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62" name="Rectangle: Rounded Corners 61">
            <a:extLst>
              <a:ext uri="{FF2B5EF4-FFF2-40B4-BE49-F238E27FC236}">
                <a16:creationId xmlns:a16="http://schemas.microsoft.com/office/drawing/2014/main" id="{5A3A5B51-B35F-82D7-5C8F-4B17DC87D2C8}"/>
              </a:ext>
            </a:extLst>
          </p:cNvPr>
          <p:cNvSpPr/>
          <p:nvPr/>
        </p:nvSpPr>
        <p:spPr>
          <a:xfrm>
            <a:off x="9334500" y="2807716"/>
            <a:ext cx="402336" cy="91440"/>
          </a:xfrm>
          <a:prstGeom prst="roundRect">
            <a:avLst/>
          </a:prstGeom>
          <a:solidFill>
            <a:srgbClr val="081422"/>
          </a:solidFill>
          <a:ln w="12700">
            <a:solidFill>
              <a:srgbClr val="F8FAFC"/>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63" name="Oval 62">
            <a:extLst>
              <a:ext uri="{FF2B5EF4-FFF2-40B4-BE49-F238E27FC236}">
                <a16:creationId xmlns:a16="http://schemas.microsoft.com/office/drawing/2014/main" id="{3B0C7812-AB79-DC85-F820-E5F43C4E5D18}"/>
              </a:ext>
            </a:extLst>
          </p:cNvPr>
          <p:cNvSpPr/>
          <p:nvPr/>
        </p:nvSpPr>
        <p:spPr>
          <a:xfrm>
            <a:off x="9380220" y="2835148"/>
            <a:ext cx="36576" cy="36576"/>
          </a:xfrm>
          <a:prstGeom prst="ellipse">
            <a:avLst/>
          </a:prstGeom>
          <a:solidFill>
            <a:srgbClr val="F8FAFC"/>
          </a:solidFill>
          <a:ln w="9525" cap="flat" cmpd="sng" algn="ctr">
            <a:noFill/>
            <a:prstDash val="solid"/>
          </a:ln>
          <a:effectLst>
            <a:outerShdw blurRad="40000" dist="23000" dir="5400000" rotWithShape="0">
              <a:srgbClr val="000000">
                <a:alpha val="35000"/>
              </a:srgbClr>
            </a:outerShdw>
          </a:effectLst>
          <a:extLst>
            <a:ext uri="{91240B29-F687-4F45-9708-019B960494DF}">
              <a14:hiddenLine xmlns:a14="http://schemas.microsoft.com/office/drawing/2010/main" w="9525" cap="flat" cmpd="sng" algn="ctr">
                <a:solidFill>
                  <a:schemeClr val="accent1">
                    <a:shade val="95000"/>
                    <a:satMod val="105000"/>
                  </a:schemeClr>
                </a:solidFill>
                <a:prstDash val="solid"/>
              </a14:hiddenLine>
            </a:ext>
          </a:ex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64" name="Rectangle: Rounded Corners 63">
            <a:extLst>
              <a:ext uri="{FF2B5EF4-FFF2-40B4-BE49-F238E27FC236}">
                <a16:creationId xmlns:a16="http://schemas.microsoft.com/office/drawing/2014/main" id="{1D73802B-DD95-5846-0E78-EC9045E14A70}"/>
              </a:ext>
            </a:extLst>
          </p:cNvPr>
          <p:cNvSpPr/>
          <p:nvPr/>
        </p:nvSpPr>
        <p:spPr>
          <a:xfrm>
            <a:off x="9334500" y="2935732"/>
            <a:ext cx="402336" cy="91440"/>
          </a:xfrm>
          <a:prstGeom prst="roundRect">
            <a:avLst/>
          </a:prstGeom>
          <a:solidFill>
            <a:srgbClr val="081422"/>
          </a:solidFill>
          <a:ln w="12700">
            <a:solidFill>
              <a:srgbClr val="F8FAFC"/>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65" name="Oval 64">
            <a:extLst>
              <a:ext uri="{FF2B5EF4-FFF2-40B4-BE49-F238E27FC236}">
                <a16:creationId xmlns:a16="http://schemas.microsoft.com/office/drawing/2014/main" id="{92221753-17E0-3706-008F-32D3BFF13370}"/>
              </a:ext>
            </a:extLst>
          </p:cNvPr>
          <p:cNvSpPr/>
          <p:nvPr/>
        </p:nvSpPr>
        <p:spPr>
          <a:xfrm>
            <a:off x="9380220" y="2963164"/>
            <a:ext cx="36576" cy="36576"/>
          </a:xfrm>
          <a:prstGeom prst="ellipse">
            <a:avLst/>
          </a:prstGeom>
          <a:solidFill>
            <a:srgbClr val="F8FAFC"/>
          </a:solidFill>
          <a:ln w="9525" cap="flat" cmpd="sng" algn="ctr">
            <a:noFill/>
            <a:prstDash val="solid"/>
          </a:ln>
          <a:effectLst>
            <a:outerShdw blurRad="40000" dist="23000" dir="5400000" rotWithShape="0">
              <a:srgbClr val="000000">
                <a:alpha val="35000"/>
              </a:srgbClr>
            </a:outerShdw>
          </a:effectLst>
          <a:extLst>
            <a:ext uri="{91240B29-F687-4F45-9708-019B960494DF}">
              <a14:hiddenLine xmlns:a14="http://schemas.microsoft.com/office/drawing/2010/main" w="9525" cap="flat" cmpd="sng" algn="ctr">
                <a:solidFill>
                  <a:schemeClr val="accent1">
                    <a:shade val="95000"/>
                    <a:satMod val="105000"/>
                  </a:schemeClr>
                </a:solidFill>
                <a:prstDash val="solid"/>
              </a14:hiddenLine>
            </a:ext>
          </a:ex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66" name="Rectangle: Rounded Corners 65">
            <a:extLst>
              <a:ext uri="{FF2B5EF4-FFF2-40B4-BE49-F238E27FC236}">
                <a16:creationId xmlns:a16="http://schemas.microsoft.com/office/drawing/2014/main" id="{5EC1721F-646E-09B9-3FF8-899B301B5013}"/>
              </a:ext>
            </a:extLst>
          </p:cNvPr>
          <p:cNvSpPr/>
          <p:nvPr/>
        </p:nvSpPr>
        <p:spPr>
          <a:xfrm>
            <a:off x="9029700" y="3352800"/>
            <a:ext cx="1168400" cy="228600"/>
          </a:xfrm>
          <a:prstGeom prst="roundRect">
            <a:avLst/>
          </a:prstGeom>
          <a:solidFill>
            <a:srgbClr val="F59E0B"/>
          </a:solidFill>
          <a:ln w="9525" cap="flat" cmpd="sng" algn="ctr">
            <a:noFill/>
            <a:prstDash val="solid"/>
          </a:ln>
          <a:effectLst>
            <a:outerShdw blurRad="40000" dist="23000" dir="5400000" rotWithShape="0">
              <a:srgbClr val="000000">
                <a:alpha val="35000"/>
              </a:srgbClr>
            </a:outerShdw>
          </a:effectLst>
          <a:extLst>
            <a:ext uri="{91240B29-F687-4F45-9708-019B960494DF}">
              <a14:hiddenLine xmlns:a14="http://schemas.microsoft.com/office/drawing/2010/main" w="9525" cap="flat" cmpd="sng" algn="ctr">
                <a:solidFill>
                  <a:schemeClr val="accent1">
                    <a:shade val="95000"/>
                    <a:satMod val="105000"/>
                  </a:schemeClr>
                </a:solidFill>
                <a:prstDash val="solid"/>
              </a14:hiddenLine>
            </a:ext>
          </a:ex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67" name="TextBox 66">
            <a:extLst>
              <a:ext uri="{FF2B5EF4-FFF2-40B4-BE49-F238E27FC236}">
                <a16:creationId xmlns:a16="http://schemas.microsoft.com/office/drawing/2014/main" id="{519A0930-0CBB-4EB8-DC29-F9B9F66598CF}"/>
              </a:ext>
            </a:extLst>
          </p:cNvPr>
          <p:cNvSpPr txBox="1"/>
          <p:nvPr/>
        </p:nvSpPr>
        <p:spPr>
          <a:xfrm>
            <a:off x="9029700" y="3352800"/>
            <a:ext cx="1168400" cy="276999"/>
          </a:xfrm>
          <a:prstGeom prst="rect">
            <a:avLst/>
          </a:prstGeom>
          <a:noFill/>
        </p:spPr>
        <p:txBody>
          <a:bodyPr vert="horz" wrap="square" lIns="0" tIns="0" rIns="0" bIns="0" rtlCol="0" anchor="ctr">
            <a:noAutofit/>
          </a:bodyPr>
          <a:lstStyle/>
          <a:p>
            <a:pPr algn="ctr"/>
            <a:r>
              <a:rPr lang="en-US" sz="850" b="1">
                <a:solidFill>
                  <a:srgbClr val="081422"/>
                </a:solidFill>
                <a:latin typeface="Aptos" panose="020B0004020202020204" pitchFamily="34" charset="0"/>
              </a:rPr>
              <a:t>SECURE FEDAVG</a:t>
            </a:r>
          </a:p>
        </p:txBody>
      </p:sp>
      <p:sp>
        <p:nvSpPr>
          <p:cNvPr id="68" name="Rectangle: Rounded Corners 67">
            <a:extLst>
              <a:ext uri="{FF2B5EF4-FFF2-40B4-BE49-F238E27FC236}">
                <a16:creationId xmlns:a16="http://schemas.microsoft.com/office/drawing/2014/main" id="{5883F680-18F0-33C9-C46F-2B0CFD36C55D}"/>
              </a:ext>
            </a:extLst>
          </p:cNvPr>
          <p:cNvSpPr/>
          <p:nvPr/>
        </p:nvSpPr>
        <p:spPr>
          <a:xfrm>
            <a:off x="711200" y="609600"/>
            <a:ext cx="3352800" cy="304800"/>
          </a:xfrm>
          <a:prstGeom prst="roundRect">
            <a:avLst/>
          </a:prstGeom>
          <a:solidFill>
            <a:srgbClr val="193047"/>
          </a:solidFill>
          <a:ln w="9525" cap="flat" cmpd="sng" algn="ctr">
            <a:noFill/>
            <a:prstDash val="solid"/>
          </a:ln>
          <a:effectLst>
            <a:outerShdw blurRad="40000" dist="23000" dir="5400000" rotWithShape="0">
              <a:srgbClr val="000000">
                <a:alpha val="35000"/>
              </a:srgbClr>
            </a:outerShdw>
          </a:effectLst>
          <a:extLst>
            <a:ext uri="{91240B29-F687-4F45-9708-019B960494DF}">
              <a14:hiddenLine xmlns:a14="http://schemas.microsoft.com/office/drawing/2010/main" w="9525" cap="flat" cmpd="sng" algn="ctr">
                <a:solidFill>
                  <a:schemeClr val="accent1">
                    <a:shade val="95000"/>
                    <a:satMod val="105000"/>
                  </a:schemeClr>
                </a:solidFill>
                <a:prstDash val="solid"/>
              </a14:hiddenLine>
            </a:ext>
          </a:ex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69" name="TextBox 68">
            <a:extLst>
              <a:ext uri="{FF2B5EF4-FFF2-40B4-BE49-F238E27FC236}">
                <a16:creationId xmlns:a16="http://schemas.microsoft.com/office/drawing/2014/main" id="{29500E46-3B25-696A-0368-B10AD08E4255}"/>
              </a:ext>
            </a:extLst>
          </p:cNvPr>
          <p:cNvSpPr txBox="1"/>
          <p:nvPr/>
        </p:nvSpPr>
        <p:spPr>
          <a:xfrm>
            <a:off x="711200" y="609600"/>
            <a:ext cx="3352800" cy="276999"/>
          </a:xfrm>
          <a:prstGeom prst="rect">
            <a:avLst/>
          </a:prstGeom>
          <a:noFill/>
        </p:spPr>
        <p:txBody>
          <a:bodyPr vert="horz" wrap="square" lIns="0" tIns="0" rIns="0" bIns="0" rtlCol="0" anchor="ctr">
            <a:noAutofit/>
          </a:bodyPr>
          <a:lstStyle/>
          <a:p>
            <a:pPr algn="ctr"/>
            <a:r>
              <a:rPr lang="en-US" sz="900" b="1">
                <a:solidFill>
                  <a:srgbClr val="10C58B"/>
                </a:solidFill>
                <a:latin typeface="Aptos" panose="020B0004020202020204" pitchFamily="34" charset="0"/>
              </a:rPr>
              <a:t>CYBERSECURITY PROGRESS PRESENTATION</a:t>
            </a:r>
          </a:p>
        </p:txBody>
      </p:sp>
      <p:sp>
        <p:nvSpPr>
          <p:cNvPr id="70" name="TextBox 69">
            <a:extLst>
              <a:ext uri="{FF2B5EF4-FFF2-40B4-BE49-F238E27FC236}">
                <a16:creationId xmlns:a16="http://schemas.microsoft.com/office/drawing/2014/main" id="{8C1D2949-7456-D056-CABE-7638E5709A49}"/>
              </a:ext>
            </a:extLst>
          </p:cNvPr>
          <p:cNvSpPr txBox="1"/>
          <p:nvPr/>
        </p:nvSpPr>
        <p:spPr>
          <a:xfrm>
            <a:off x="711200" y="1219200"/>
            <a:ext cx="6858000" cy="276999"/>
          </a:xfrm>
          <a:prstGeom prst="rect">
            <a:avLst/>
          </a:prstGeom>
          <a:noFill/>
        </p:spPr>
        <p:txBody>
          <a:bodyPr vert="horz" wrap="square" lIns="0" tIns="0" rIns="0" bIns="0" rtlCol="0" anchor="t">
            <a:noAutofit/>
          </a:bodyPr>
          <a:lstStyle/>
          <a:p>
            <a:r>
              <a:rPr lang="en-US" sz="1700" b="1">
                <a:solidFill>
                  <a:srgbClr val="10C58B"/>
                </a:solidFill>
                <a:latin typeface="Aptos" panose="020B0004020202020204" pitchFamily="34" charset="0"/>
              </a:rPr>
              <a:t>QUANTUM-SECURE</a:t>
            </a:r>
          </a:p>
        </p:txBody>
      </p:sp>
      <p:sp>
        <p:nvSpPr>
          <p:cNvPr id="71" name="TextBox 70">
            <a:extLst>
              <a:ext uri="{FF2B5EF4-FFF2-40B4-BE49-F238E27FC236}">
                <a16:creationId xmlns:a16="http://schemas.microsoft.com/office/drawing/2014/main" id="{A0452B4D-110C-02EE-2697-586AA5EFAA7D}"/>
              </a:ext>
            </a:extLst>
          </p:cNvPr>
          <p:cNvSpPr txBox="1"/>
          <p:nvPr/>
        </p:nvSpPr>
        <p:spPr>
          <a:xfrm>
            <a:off x="711200" y="1676400"/>
            <a:ext cx="7239000" cy="276999"/>
          </a:xfrm>
          <a:prstGeom prst="rect">
            <a:avLst/>
          </a:prstGeom>
          <a:noFill/>
        </p:spPr>
        <p:txBody>
          <a:bodyPr vert="horz" wrap="square" lIns="0" tIns="0" rIns="0" bIns="0" rtlCol="0" anchor="t">
            <a:noAutofit/>
          </a:bodyPr>
          <a:lstStyle/>
          <a:p>
            <a:r>
              <a:rPr lang="en-US" sz="3400" b="1">
                <a:solidFill>
                  <a:srgbClr val="F8FAFC"/>
                </a:solidFill>
                <a:latin typeface="Aptos Display" panose="020B0004020202020204" pitchFamily="34" charset="0"/>
              </a:rPr>
              <a:t>Federated Intrusion Detection</a:t>
            </a:r>
          </a:p>
        </p:txBody>
      </p:sp>
      <p:sp>
        <p:nvSpPr>
          <p:cNvPr id="72" name="TextBox 71">
            <a:extLst>
              <a:ext uri="{FF2B5EF4-FFF2-40B4-BE49-F238E27FC236}">
                <a16:creationId xmlns:a16="http://schemas.microsoft.com/office/drawing/2014/main" id="{1AD04E39-C119-6FF7-9168-61ACF53D3735}"/>
              </a:ext>
            </a:extLst>
          </p:cNvPr>
          <p:cNvSpPr txBox="1"/>
          <p:nvPr/>
        </p:nvSpPr>
        <p:spPr>
          <a:xfrm>
            <a:off x="711200" y="2387600"/>
            <a:ext cx="6604000" cy="276999"/>
          </a:xfrm>
          <a:prstGeom prst="rect">
            <a:avLst/>
          </a:prstGeom>
          <a:noFill/>
        </p:spPr>
        <p:txBody>
          <a:bodyPr vert="horz" wrap="square" lIns="0" tIns="0" rIns="0" bIns="0" rtlCol="0" anchor="t">
            <a:noAutofit/>
          </a:bodyPr>
          <a:lstStyle/>
          <a:p>
            <a:r>
              <a:rPr lang="en-US" sz="3100" b="1">
                <a:solidFill>
                  <a:srgbClr val="F8FAFC"/>
                </a:solidFill>
                <a:latin typeface="Aptos Display" panose="020B0004020202020204" pitchFamily="34" charset="0"/>
              </a:rPr>
              <a:t>for UAV Networks</a:t>
            </a:r>
          </a:p>
        </p:txBody>
      </p:sp>
      <p:sp>
        <p:nvSpPr>
          <p:cNvPr id="73" name="TextBox 72">
            <a:extLst>
              <a:ext uri="{FF2B5EF4-FFF2-40B4-BE49-F238E27FC236}">
                <a16:creationId xmlns:a16="http://schemas.microsoft.com/office/drawing/2014/main" id="{2629776B-4A48-D5C0-1F86-A4249BDFF2E1}"/>
              </a:ext>
            </a:extLst>
          </p:cNvPr>
          <p:cNvSpPr txBox="1"/>
          <p:nvPr/>
        </p:nvSpPr>
        <p:spPr>
          <a:xfrm>
            <a:off x="736600" y="3200400"/>
            <a:ext cx="6604000" cy="276999"/>
          </a:xfrm>
          <a:prstGeom prst="rect">
            <a:avLst/>
          </a:prstGeom>
          <a:noFill/>
        </p:spPr>
        <p:txBody>
          <a:bodyPr vert="horz" wrap="square" lIns="0" tIns="0" rIns="0" bIns="0" rtlCol="0" anchor="t">
            <a:noAutofit/>
          </a:bodyPr>
          <a:lstStyle/>
          <a:p>
            <a:r>
              <a:rPr lang="en-US" sz="1500">
                <a:solidFill>
                  <a:srgbClr val="A4B4C7"/>
                </a:solidFill>
                <a:latin typeface="Aptos" panose="020B0004020202020204" pitchFamily="34" charset="0"/>
              </a:rPr>
              <a:t>Collaborative threat detection without centralizing raw training data</a:t>
            </a:r>
          </a:p>
        </p:txBody>
      </p:sp>
      <p:cxnSp>
        <p:nvCxnSpPr>
          <p:cNvPr id="74" name="Straight Connector 73">
            <a:extLst>
              <a:ext uri="{FF2B5EF4-FFF2-40B4-BE49-F238E27FC236}">
                <a16:creationId xmlns:a16="http://schemas.microsoft.com/office/drawing/2014/main" id="{5E5DC536-1E57-29AF-BA38-5A9BEC347B19}"/>
              </a:ext>
            </a:extLst>
          </p:cNvPr>
          <p:cNvCxnSpPr/>
          <p:nvPr/>
        </p:nvCxnSpPr>
        <p:spPr>
          <a:xfrm>
            <a:off x="736600" y="4013200"/>
            <a:ext cx="6375400" cy="0"/>
          </a:xfrm>
          <a:prstGeom prst="line">
            <a:avLst/>
          </a:prstGeom>
          <a:ln w="12700" cap="flat" cmpd="sng" algn="ctr">
            <a:solidFill>
              <a:srgbClr val="2F4962"/>
            </a:solidFill>
            <a:prstDash val="solid"/>
            <a:round/>
            <a:headEnd type="none" w="med" len="med"/>
            <a:tailEnd type="none" w="med" len="med"/>
          </a:ln>
        </p:spPr>
        <p:style>
          <a:lnRef idx="2">
            <a:schemeClr val="accent1"/>
          </a:lnRef>
          <a:fillRef idx="0">
            <a:schemeClr val="accent1"/>
          </a:fillRef>
          <a:effectRef idx="1">
            <a:schemeClr val="accent1"/>
          </a:effectRef>
          <a:fontRef idx="minor">
            <a:schemeClr val="tx1"/>
          </a:fontRef>
        </p:style>
      </p:cxnSp>
      <p:sp>
        <p:nvSpPr>
          <p:cNvPr id="75" name="TextBox 74">
            <a:extLst>
              <a:ext uri="{FF2B5EF4-FFF2-40B4-BE49-F238E27FC236}">
                <a16:creationId xmlns:a16="http://schemas.microsoft.com/office/drawing/2014/main" id="{344BEC46-4E6C-B7A0-A150-5ABAD717DC40}"/>
              </a:ext>
            </a:extLst>
          </p:cNvPr>
          <p:cNvSpPr txBox="1"/>
          <p:nvPr/>
        </p:nvSpPr>
        <p:spPr>
          <a:xfrm>
            <a:off x="736600" y="4229100"/>
            <a:ext cx="6604000" cy="276999"/>
          </a:xfrm>
          <a:prstGeom prst="rect">
            <a:avLst/>
          </a:prstGeom>
          <a:noFill/>
        </p:spPr>
        <p:txBody>
          <a:bodyPr vert="horz" wrap="square" lIns="0" tIns="0" rIns="0" bIns="0" rtlCol="0" anchor="t">
            <a:noAutofit/>
          </a:bodyPr>
          <a:lstStyle/>
          <a:p>
            <a:r>
              <a:rPr lang="en-US" sz="1150">
                <a:solidFill>
                  <a:srgbClr val="F8FAFC"/>
                </a:solidFill>
                <a:latin typeface="Aptos" panose="020B0004020202020204" pitchFamily="34" charset="0"/>
              </a:rPr>
              <a:t>Khalid Alkhaldi  |  Anas Alshehri  |  Feras Aloufi</a:t>
            </a:r>
          </a:p>
          <a:p>
            <a:r>
              <a:rPr lang="en-US" sz="1150">
                <a:solidFill>
                  <a:srgbClr val="F8FAFC"/>
                </a:solidFill>
                <a:latin typeface="Aptos" panose="020B0004020202020204" pitchFamily="34" charset="0"/>
              </a:rPr>
              <a:t>Meshal Alshawi  |  Ammar Alkayyal</a:t>
            </a:r>
          </a:p>
        </p:txBody>
      </p:sp>
      <p:sp>
        <p:nvSpPr>
          <p:cNvPr id="76" name="TextBox 75">
            <a:extLst>
              <a:ext uri="{FF2B5EF4-FFF2-40B4-BE49-F238E27FC236}">
                <a16:creationId xmlns:a16="http://schemas.microsoft.com/office/drawing/2014/main" id="{000DDEE5-E37B-DE12-0655-3EBAC0701B51}"/>
              </a:ext>
            </a:extLst>
          </p:cNvPr>
          <p:cNvSpPr txBox="1"/>
          <p:nvPr/>
        </p:nvSpPr>
        <p:spPr>
          <a:xfrm>
            <a:off x="736600" y="4940300"/>
            <a:ext cx="5842000" cy="276999"/>
          </a:xfrm>
          <a:prstGeom prst="rect">
            <a:avLst/>
          </a:prstGeom>
          <a:noFill/>
        </p:spPr>
        <p:txBody>
          <a:bodyPr vert="horz" wrap="square" lIns="0" tIns="0" rIns="0" bIns="0" rtlCol="0" anchor="t">
            <a:noAutofit/>
          </a:bodyPr>
          <a:lstStyle/>
          <a:p>
            <a:r>
              <a:rPr lang="en-US" sz="1050">
                <a:solidFill>
                  <a:srgbClr val="A4B4C7"/>
                </a:solidFill>
                <a:latin typeface="Aptos" panose="020B0004020202020204" pitchFamily="34" charset="0"/>
              </a:rPr>
              <a:t>Supervised by Dr. Muhammad Shahbaz Khan</a:t>
            </a: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bg>
      <p:bgPr>
        <a:solidFill>
          <a:srgbClr val="081422"/>
        </a:solidFill>
        <a:effectLst/>
      </p:bgPr>
    </p:bg>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4D66005E-D975-0265-BEBC-E055916D611F}"/>
              </a:ext>
            </a:extLst>
          </p:cNvPr>
          <p:cNvSpPr txBox="1"/>
          <p:nvPr/>
        </p:nvSpPr>
        <p:spPr>
          <a:xfrm>
            <a:off x="558800" y="304800"/>
            <a:ext cx="4445000" cy="276999"/>
          </a:xfrm>
          <a:prstGeom prst="rect">
            <a:avLst/>
          </a:prstGeom>
          <a:noFill/>
        </p:spPr>
        <p:txBody>
          <a:bodyPr vert="horz" wrap="square" lIns="0" tIns="0" rIns="0" bIns="0" rtlCol="0" anchor="t">
            <a:noAutofit/>
          </a:bodyPr>
          <a:lstStyle/>
          <a:p>
            <a:r>
              <a:rPr lang="en-US" sz="1000" b="1">
                <a:solidFill>
                  <a:srgbClr val="10C58B"/>
                </a:solidFill>
                <a:latin typeface="Aptos" panose="020B0004020202020204" pitchFamily="34" charset="0"/>
              </a:rPr>
              <a:t>THE CHALLENGE</a:t>
            </a:r>
          </a:p>
        </p:txBody>
      </p:sp>
      <p:sp>
        <p:nvSpPr>
          <p:cNvPr id="3" name="TextBox 2">
            <a:extLst>
              <a:ext uri="{FF2B5EF4-FFF2-40B4-BE49-F238E27FC236}">
                <a16:creationId xmlns:a16="http://schemas.microsoft.com/office/drawing/2014/main" id="{1DD9AF88-E335-3A2F-EA98-F8C0EF758BE5}"/>
              </a:ext>
            </a:extLst>
          </p:cNvPr>
          <p:cNvSpPr txBox="1"/>
          <p:nvPr/>
        </p:nvSpPr>
        <p:spPr>
          <a:xfrm>
            <a:off x="558800" y="571500"/>
            <a:ext cx="9906000" cy="276999"/>
          </a:xfrm>
          <a:prstGeom prst="rect">
            <a:avLst/>
          </a:prstGeom>
          <a:noFill/>
        </p:spPr>
        <p:txBody>
          <a:bodyPr vert="horz" wrap="square" lIns="0" tIns="0" rIns="0" bIns="0" rtlCol="0" anchor="t">
            <a:noAutofit/>
          </a:bodyPr>
          <a:lstStyle/>
          <a:p>
            <a:r>
              <a:rPr lang="en-US" sz="2800" b="1">
                <a:solidFill>
                  <a:srgbClr val="F8FAFC"/>
                </a:solidFill>
                <a:latin typeface="Aptos Display" panose="020B0004020202020204" pitchFamily="34" charset="0"/>
              </a:rPr>
              <a:t>UAV fleets need shared intelligence - without centralized logs</a:t>
            </a:r>
          </a:p>
        </p:txBody>
      </p:sp>
      <p:sp>
        <p:nvSpPr>
          <p:cNvPr id="4" name="TextBox 3">
            <a:extLst>
              <a:ext uri="{FF2B5EF4-FFF2-40B4-BE49-F238E27FC236}">
                <a16:creationId xmlns:a16="http://schemas.microsoft.com/office/drawing/2014/main" id="{2CD2DB84-8E79-27D1-DD32-1EB8DB2F9EDD}"/>
              </a:ext>
            </a:extLst>
          </p:cNvPr>
          <p:cNvSpPr txBox="1"/>
          <p:nvPr/>
        </p:nvSpPr>
        <p:spPr>
          <a:xfrm>
            <a:off x="10998200" y="355600"/>
            <a:ext cx="635000" cy="276999"/>
          </a:xfrm>
          <a:prstGeom prst="rect">
            <a:avLst/>
          </a:prstGeom>
          <a:noFill/>
        </p:spPr>
        <p:txBody>
          <a:bodyPr vert="horz" wrap="square" lIns="0" tIns="0" rIns="0" bIns="0" rtlCol="0" anchor="t">
            <a:noAutofit/>
          </a:bodyPr>
          <a:lstStyle/>
          <a:p>
            <a:pPr algn="r"/>
            <a:r>
              <a:rPr lang="en-US" sz="1000" b="1">
                <a:solidFill>
                  <a:srgbClr val="778CA3"/>
                </a:solidFill>
                <a:latin typeface="Aptos" panose="020B0004020202020204" pitchFamily="34" charset="0"/>
              </a:rPr>
              <a:t>01</a:t>
            </a:r>
          </a:p>
        </p:txBody>
      </p:sp>
      <p:cxnSp>
        <p:nvCxnSpPr>
          <p:cNvPr id="5" name="Straight Connector 4">
            <a:extLst>
              <a:ext uri="{FF2B5EF4-FFF2-40B4-BE49-F238E27FC236}">
                <a16:creationId xmlns:a16="http://schemas.microsoft.com/office/drawing/2014/main" id="{D44DC433-9559-DAE6-A10A-06719A96B2F8}"/>
              </a:ext>
            </a:extLst>
          </p:cNvPr>
          <p:cNvCxnSpPr/>
          <p:nvPr/>
        </p:nvCxnSpPr>
        <p:spPr>
          <a:xfrm>
            <a:off x="558800" y="1193800"/>
            <a:ext cx="11074400" cy="0"/>
          </a:xfrm>
          <a:prstGeom prst="line">
            <a:avLst/>
          </a:prstGeom>
          <a:ln w="12700" cap="flat" cmpd="sng" algn="ctr">
            <a:solidFill>
              <a:srgbClr val="2F4962">
                <a:alpha val="80000"/>
              </a:srgbClr>
            </a:solidFill>
            <a:prstDash val="solid"/>
            <a:round/>
            <a:headEnd type="none" w="med" len="med"/>
            <a:tailEnd type="none" w="med" len="med"/>
          </a:ln>
        </p:spPr>
        <p:style>
          <a:lnRef idx="2">
            <a:schemeClr val="accent1"/>
          </a:lnRef>
          <a:fillRef idx="0">
            <a:schemeClr val="accent1"/>
          </a:fillRef>
          <a:effectRef idx="1">
            <a:schemeClr val="accent1"/>
          </a:effectRef>
          <a:fontRef idx="minor">
            <a:schemeClr val="tx1"/>
          </a:fontRef>
        </p:style>
      </p:cxnSp>
      <p:sp>
        <p:nvSpPr>
          <p:cNvPr id="6" name="TextBox 5">
            <a:extLst>
              <a:ext uri="{FF2B5EF4-FFF2-40B4-BE49-F238E27FC236}">
                <a16:creationId xmlns:a16="http://schemas.microsoft.com/office/drawing/2014/main" id="{AD1E325C-AF37-4A99-52E9-8E7A0B02F96B}"/>
              </a:ext>
            </a:extLst>
          </p:cNvPr>
          <p:cNvSpPr txBox="1"/>
          <p:nvPr/>
        </p:nvSpPr>
        <p:spPr>
          <a:xfrm>
            <a:off x="558800" y="6553200"/>
            <a:ext cx="5334000" cy="276999"/>
          </a:xfrm>
          <a:prstGeom prst="rect">
            <a:avLst/>
          </a:prstGeom>
          <a:noFill/>
        </p:spPr>
        <p:txBody>
          <a:bodyPr vert="horz" wrap="square" lIns="0" tIns="0" rIns="0" bIns="0" rtlCol="0" anchor="t">
            <a:noAutofit/>
          </a:bodyPr>
          <a:lstStyle/>
          <a:p>
            <a:r>
              <a:rPr lang="en-US" sz="850">
                <a:solidFill>
                  <a:srgbClr val="778CA3"/>
                </a:solidFill>
                <a:latin typeface="Aptos" panose="020B0004020202020204" pitchFamily="34" charset="0"/>
              </a:rPr>
              <a:t>KAUST Academy  |  Cybersecurity Specialization</a:t>
            </a:r>
          </a:p>
        </p:txBody>
      </p:sp>
      <p:sp>
        <p:nvSpPr>
          <p:cNvPr id="7" name="Oval 6">
            <a:extLst>
              <a:ext uri="{FF2B5EF4-FFF2-40B4-BE49-F238E27FC236}">
                <a16:creationId xmlns:a16="http://schemas.microsoft.com/office/drawing/2014/main" id="{B17307C2-23CA-D0D7-9F6D-749B88CF849E}"/>
              </a:ext>
            </a:extLst>
          </p:cNvPr>
          <p:cNvSpPr/>
          <p:nvPr/>
        </p:nvSpPr>
        <p:spPr>
          <a:xfrm>
            <a:off x="635000" y="1651000"/>
            <a:ext cx="355600" cy="355600"/>
          </a:xfrm>
          <a:prstGeom prst="ellipse">
            <a:avLst/>
          </a:prstGeom>
          <a:solidFill>
            <a:srgbClr val="10C58B"/>
          </a:solidFill>
          <a:ln w="9525" cap="flat" cmpd="sng" algn="ctr">
            <a:noFill/>
            <a:prstDash val="solid"/>
          </a:ln>
          <a:effectLst>
            <a:outerShdw blurRad="40000" dist="23000" dir="5400000" rotWithShape="0">
              <a:srgbClr val="000000">
                <a:alpha val="35000"/>
              </a:srgbClr>
            </a:outerShdw>
          </a:effectLst>
          <a:extLst>
            <a:ext uri="{91240B29-F687-4F45-9708-019B960494DF}">
              <a14:hiddenLine xmlns:a14="http://schemas.microsoft.com/office/drawing/2010/main" w="9525" cap="flat" cmpd="sng" algn="ctr">
                <a:solidFill>
                  <a:schemeClr val="accent1">
                    <a:shade val="95000"/>
                    <a:satMod val="105000"/>
                  </a:schemeClr>
                </a:solidFill>
                <a:prstDash val="solid"/>
              </a14:hiddenLine>
            </a:ext>
          </a:ex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8" name="TextBox 7">
            <a:extLst>
              <a:ext uri="{FF2B5EF4-FFF2-40B4-BE49-F238E27FC236}">
                <a16:creationId xmlns:a16="http://schemas.microsoft.com/office/drawing/2014/main" id="{BEE413E2-87C6-07A3-F8DF-6A74F72F4420}"/>
              </a:ext>
            </a:extLst>
          </p:cNvPr>
          <p:cNvSpPr txBox="1"/>
          <p:nvPr/>
        </p:nvSpPr>
        <p:spPr>
          <a:xfrm>
            <a:off x="635000" y="1651000"/>
            <a:ext cx="355600" cy="276999"/>
          </a:xfrm>
          <a:prstGeom prst="rect">
            <a:avLst/>
          </a:prstGeom>
          <a:noFill/>
        </p:spPr>
        <p:txBody>
          <a:bodyPr vert="horz" wrap="square" lIns="0" tIns="0" rIns="0" bIns="0" rtlCol="0" anchor="ctr">
            <a:noAutofit/>
          </a:bodyPr>
          <a:lstStyle/>
          <a:p>
            <a:pPr algn="ctr"/>
            <a:r>
              <a:rPr lang="en-US" sz="1100" b="1">
                <a:solidFill>
                  <a:srgbClr val="081422"/>
                </a:solidFill>
                <a:latin typeface="Aptos" panose="020B0004020202020204" pitchFamily="34" charset="0"/>
              </a:rPr>
              <a:t>1</a:t>
            </a:r>
          </a:p>
        </p:txBody>
      </p:sp>
      <p:sp>
        <p:nvSpPr>
          <p:cNvPr id="9" name="TextBox 8">
            <a:extLst>
              <a:ext uri="{FF2B5EF4-FFF2-40B4-BE49-F238E27FC236}">
                <a16:creationId xmlns:a16="http://schemas.microsoft.com/office/drawing/2014/main" id="{82ECA00C-175C-08E4-0A91-F3729154DB2B}"/>
              </a:ext>
            </a:extLst>
          </p:cNvPr>
          <p:cNvSpPr txBox="1"/>
          <p:nvPr/>
        </p:nvSpPr>
        <p:spPr>
          <a:xfrm>
            <a:off x="1168400" y="1638300"/>
            <a:ext cx="5207000" cy="276999"/>
          </a:xfrm>
          <a:prstGeom prst="rect">
            <a:avLst/>
          </a:prstGeom>
          <a:noFill/>
        </p:spPr>
        <p:txBody>
          <a:bodyPr vert="horz" wrap="square" lIns="0" tIns="0" rIns="0" bIns="0" rtlCol="0" anchor="t">
            <a:noAutofit/>
          </a:bodyPr>
          <a:lstStyle/>
          <a:p>
            <a:r>
              <a:rPr lang="en-US" sz="1600" b="1">
                <a:solidFill>
                  <a:srgbClr val="F8FAFC"/>
                </a:solidFill>
                <a:latin typeface="Aptos" panose="020B0004020202020204" pitchFamily="34" charset="0"/>
              </a:rPr>
              <a:t>Uneven local knowledge</a:t>
            </a:r>
          </a:p>
        </p:txBody>
      </p:sp>
      <p:sp>
        <p:nvSpPr>
          <p:cNvPr id="10" name="TextBox 9">
            <a:extLst>
              <a:ext uri="{FF2B5EF4-FFF2-40B4-BE49-F238E27FC236}">
                <a16:creationId xmlns:a16="http://schemas.microsoft.com/office/drawing/2014/main" id="{014419CE-8AAB-D3AD-CC85-CA5D7EF3F96F}"/>
              </a:ext>
            </a:extLst>
          </p:cNvPr>
          <p:cNvSpPr txBox="1"/>
          <p:nvPr/>
        </p:nvSpPr>
        <p:spPr>
          <a:xfrm>
            <a:off x="1168400" y="1930400"/>
            <a:ext cx="5334000" cy="276999"/>
          </a:xfrm>
          <a:prstGeom prst="rect">
            <a:avLst/>
          </a:prstGeom>
          <a:noFill/>
        </p:spPr>
        <p:txBody>
          <a:bodyPr vert="horz" wrap="square" lIns="0" tIns="0" rIns="0" bIns="0" rtlCol="0" anchor="t">
            <a:noAutofit/>
          </a:bodyPr>
          <a:lstStyle/>
          <a:p>
            <a:r>
              <a:rPr lang="en-US" sz="1150">
                <a:solidFill>
                  <a:srgbClr val="A4B4C7"/>
                </a:solidFill>
                <a:latin typeface="Aptos" panose="020B0004020202020204" pitchFamily="34" charset="0"/>
              </a:rPr>
              <a:t>Each node can observe a different mix of normal and malicious behaviour.</a:t>
            </a:r>
          </a:p>
        </p:txBody>
      </p:sp>
      <p:sp>
        <p:nvSpPr>
          <p:cNvPr id="11" name="Oval 10">
            <a:extLst>
              <a:ext uri="{FF2B5EF4-FFF2-40B4-BE49-F238E27FC236}">
                <a16:creationId xmlns:a16="http://schemas.microsoft.com/office/drawing/2014/main" id="{D78B32FB-165B-204E-FE81-338E6DD98933}"/>
              </a:ext>
            </a:extLst>
          </p:cNvPr>
          <p:cNvSpPr/>
          <p:nvPr/>
        </p:nvSpPr>
        <p:spPr>
          <a:xfrm>
            <a:off x="635000" y="2743200"/>
            <a:ext cx="355600" cy="355600"/>
          </a:xfrm>
          <a:prstGeom prst="ellipse">
            <a:avLst/>
          </a:prstGeom>
          <a:solidFill>
            <a:srgbClr val="3B82F6"/>
          </a:solidFill>
          <a:ln w="9525" cap="flat" cmpd="sng" algn="ctr">
            <a:noFill/>
            <a:prstDash val="solid"/>
          </a:ln>
          <a:effectLst>
            <a:outerShdw blurRad="40000" dist="23000" dir="5400000" rotWithShape="0">
              <a:srgbClr val="000000">
                <a:alpha val="35000"/>
              </a:srgbClr>
            </a:outerShdw>
          </a:effectLst>
          <a:extLst>
            <a:ext uri="{91240B29-F687-4F45-9708-019B960494DF}">
              <a14:hiddenLine xmlns:a14="http://schemas.microsoft.com/office/drawing/2010/main" w="9525" cap="flat" cmpd="sng" algn="ctr">
                <a:solidFill>
                  <a:schemeClr val="accent1">
                    <a:shade val="95000"/>
                    <a:satMod val="105000"/>
                  </a:schemeClr>
                </a:solidFill>
                <a:prstDash val="solid"/>
              </a14:hiddenLine>
            </a:ext>
          </a:ex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12" name="TextBox 11">
            <a:extLst>
              <a:ext uri="{FF2B5EF4-FFF2-40B4-BE49-F238E27FC236}">
                <a16:creationId xmlns:a16="http://schemas.microsoft.com/office/drawing/2014/main" id="{5131CD0E-FB43-50FD-AB66-5368E6ECF5FE}"/>
              </a:ext>
            </a:extLst>
          </p:cNvPr>
          <p:cNvSpPr txBox="1"/>
          <p:nvPr/>
        </p:nvSpPr>
        <p:spPr>
          <a:xfrm>
            <a:off x="635000" y="2743200"/>
            <a:ext cx="355600" cy="276999"/>
          </a:xfrm>
          <a:prstGeom prst="rect">
            <a:avLst/>
          </a:prstGeom>
          <a:noFill/>
        </p:spPr>
        <p:txBody>
          <a:bodyPr vert="horz" wrap="square" lIns="0" tIns="0" rIns="0" bIns="0" rtlCol="0" anchor="ctr">
            <a:noAutofit/>
          </a:bodyPr>
          <a:lstStyle/>
          <a:p>
            <a:pPr algn="ctr"/>
            <a:r>
              <a:rPr lang="en-US" sz="1100" b="1">
                <a:solidFill>
                  <a:srgbClr val="081422"/>
                </a:solidFill>
                <a:latin typeface="Aptos" panose="020B0004020202020204" pitchFamily="34" charset="0"/>
              </a:rPr>
              <a:t>2</a:t>
            </a:r>
          </a:p>
        </p:txBody>
      </p:sp>
      <p:sp>
        <p:nvSpPr>
          <p:cNvPr id="13" name="TextBox 12">
            <a:extLst>
              <a:ext uri="{FF2B5EF4-FFF2-40B4-BE49-F238E27FC236}">
                <a16:creationId xmlns:a16="http://schemas.microsoft.com/office/drawing/2014/main" id="{B463D593-64AB-B57F-FFEE-3910A3331DA2}"/>
              </a:ext>
            </a:extLst>
          </p:cNvPr>
          <p:cNvSpPr txBox="1"/>
          <p:nvPr/>
        </p:nvSpPr>
        <p:spPr>
          <a:xfrm>
            <a:off x="1168400" y="2730500"/>
            <a:ext cx="5207000" cy="276999"/>
          </a:xfrm>
          <a:prstGeom prst="rect">
            <a:avLst/>
          </a:prstGeom>
          <a:noFill/>
        </p:spPr>
        <p:txBody>
          <a:bodyPr vert="horz" wrap="square" lIns="0" tIns="0" rIns="0" bIns="0" rtlCol="0" anchor="t">
            <a:noAutofit/>
          </a:bodyPr>
          <a:lstStyle/>
          <a:p>
            <a:r>
              <a:rPr lang="en-US" sz="1600" b="1">
                <a:solidFill>
                  <a:srgbClr val="F8FAFC"/>
                </a:solidFill>
                <a:latin typeface="Aptos" panose="020B0004020202020204" pitchFamily="34" charset="0"/>
              </a:rPr>
              <a:t>Centralization creates exposure</a:t>
            </a:r>
          </a:p>
        </p:txBody>
      </p:sp>
      <p:sp>
        <p:nvSpPr>
          <p:cNvPr id="14" name="TextBox 13">
            <a:extLst>
              <a:ext uri="{FF2B5EF4-FFF2-40B4-BE49-F238E27FC236}">
                <a16:creationId xmlns:a16="http://schemas.microsoft.com/office/drawing/2014/main" id="{F601F35C-A973-006E-8A4A-0315B16E7952}"/>
              </a:ext>
            </a:extLst>
          </p:cNvPr>
          <p:cNvSpPr txBox="1"/>
          <p:nvPr/>
        </p:nvSpPr>
        <p:spPr>
          <a:xfrm>
            <a:off x="1168400" y="3022600"/>
            <a:ext cx="5334000" cy="276999"/>
          </a:xfrm>
          <a:prstGeom prst="rect">
            <a:avLst/>
          </a:prstGeom>
          <a:noFill/>
        </p:spPr>
        <p:txBody>
          <a:bodyPr vert="horz" wrap="square" lIns="0" tIns="0" rIns="0" bIns="0" rtlCol="0" anchor="t">
            <a:noAutofit/>
          </a:bodyPr>
          <a:lstStyle/>
          <a:p>
            <a:r>
              <a:rPr lang="en-US" sz="1150">
                <a:solidFill>
                  <a:srgbClr val="A4B4C7"/>
                </a:solidFill>
                <a:latin typeface="Aptos" panose="020B0004020202020204" pitchFamily="34" charset="0"/>
              </a:rPr>
              <a:t>Uploading all records increases data concentration and dependence on one hub.</a:t>
            </a:r>
          </a:p>
        </p:txBody>
      </p:sp>
      <p:sp>
        <p:nvSpPr>
          <p:cNvPr id="15" name="Oval 14">
            <a:extLst>
              <a:ext uri="{FF2B5EF4-FFF2-40B4-BE49-F238E27FC236}">
                <a16:creationId xmlns:a16="http://schemas.microsoft.com/office/drawing/2014/main" id="{841444B9-666B-0348-4872-ECF27D308D0B}"/>
              </a:ext>
            </a:extLst>
          </p:cNvPr>
          <p:cNvSpPr/>
          <p:nvPr/>
        </p:nvSpPr>
        <p:spPr>
          <a:xfrm>
            <a:off x="635000" y="3835400"/>
            <a:ext cx="355600" cy="355600"/>
          </a:xfrm>
          <a:prstGeom prst="ellipse">
            <a:avLst/>
          </a:prstGeom>
          <a:solidFill>
            <a:srgbClr val="F59E0B"/>
          </a:solidFill>
          <a:ln w="9525" cap="flat" cmpd="sng" algn="ctr">
            <a:noFill/>
            <a:prstDash val="solid"/>
          </a:ln>
          <a:effectLst>
            <a:outerShdw blurRad="40000" dist="23000" dir="5400000" rotWithShape="0">
              <a:srgbClr val="000000">
                <a:alpha val="35000"/>
              </a:srgbClr>
            </a:outerShdw>
          </a:effectLst>
          <a:extLst>
            <a:ext uri="{91240B29-F687-4F45-9708-019B960494DF}">
              <a14:hiddenLine xmlns:a14="http://schemas.microsoft.com/office/drawing/2010/main" w="9525" cap="flat" cmpd="sng" algn="ctr">
                <a:solidFill>
                  <a:schemeClr val="accent1">
                    <a:shade val="95000"/>
                    <a:satMod val="105000"/>
                  </a:schemeClr>
                </a:solidFill>
                <a:prstDash val="solid"/>
              </a14:hiddenLine>
            </a:ext>
          </a:ex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16" name="TextBox 15">
            <a:extLst>
              <a:ext uri="{FF2B5EF4-FFF2-40B4-BE49-F238E27FC236}">
                <a16:creationId xmlns:a16="http://schemas.microsoft.com/office/drawing/2014/main" id="{DB4D18AA-BBCC-9FB0-0E93-6B610A028C7C}"/>
              </a:ext>
            </a:extLst>
          </p:cNvPr>
          <p:cNvSpPr txBox="1"/>
          <p:nvPr/>
        </p:nvSpPr>
        <p:spPr>
          <a:xfrm>
            <a:off x="635000" y="3835400"/>
            <a:ext cx="355600" cy="276999"/>
          </a:xfrm>
          <a:prstGeom prst="rect">
            <a:avLst/>
          </a:prstGeom>
          <a:noFill/>
        </p:spPr>
        <p:txBody>
          <a:bodyPr vert="horz" wrap="square" lIns="0" tIns="0" rIns="0" bIns="0" rtlCol="0" anchor="ctr">
            <a:noAutofit/>
          </a:bodyPr>
          <a:lstStyle/>
          <a:p>
            <a:pPr algn="ctr"/>
            <a:r>
              <a:rPr lang="en-US" sz="1100" b="1">
                <a:solidFill>
                  <a:srgbClr val="081422"/>
                </a:solidFill>
                <a:latin typeface="Aptos" panose="020B0004020202020204" pitchFamily="34" charset="0"/>
              </a:rPr>
              <a:t>3</a:t>
            </a:r>
          </a:p>
        </p:txBody>
      </p:sp>
      <p:sp>
        <p:nvSpPr>
          <p:cNvPr id="17" name="TextBox 16">
            <a:extLst>
              <a:ext uri="{FF2B5EF4-FFF2-40B4-BE49-F238E27FC236}">
                <a16:creationId xmlns:a16="http://schemas.microsoft.com/office/drawing/2014/main" id="{0EE5707B-02CF-910D-0F60-CD3F5CC5268C}"/>
              </a:ext>
            </a:extLst>
          </p:cNvPr>
          <p:cNvSpPr txBox="1"/>
          <p:nvPr/>
        </p:nvSpPr>
        <p:spPr>
          <a:xfrm>
            <a:off x="1168400" y="3822700"/>
            <a:ext cx="5207000" cy="276999"/>
          </a:xfrm>
          <a:prstGeom prst="rect">
            <a:avLst/>
          </a:prstGeom>
          <a:noFill/>
        </p:spPr>
        <p:txBody>
          <a:bodyPr vert="horz" wrap="square" lIns="0" tIns="0" rIns="0" bIns="0" rtlCol="0" anchor="t">
            <a:noAutofit/>
          </a:bodyPr>
          <a:lstStyle/>
          <a:p>
            <a:r>
              <a:rPr lang="en-US" sz="1600" b="1">
                <a:solidFill>
                  <a:srgbClr val="F8FAFC"/>
                </a:solidFill>
                <a:latin typeface="Aptos" panose="020B0004020202020204" pitchFamily="34" charset="0"/>
              </a:rPr>
              <a:t>The learning channel is a target</a:t>
            </a:r>
          </a:p>
        </p:txBody>
      </p:sp>
      <p:sp>
        <p:nvSpPr>
          <p:cNvPr id="18" name="TextBox 17">
            <a:extLst>
              <a:ext uri="{FF2B5EF4-FFF2-40B4-BE49-F238E27FC236}">
                <a16:creationId xmlns:a16="http://schemas.microsoft.com/office/drawing/2014/main" id="{887C87A9-249A-7305-1219-C34D104310E2}"/>
              </a:ext>
            </a:extLst>
          </p:cNvPr>
          <p:cNvSpPr txBox="1"/>
          <p:nvPr/>
        </p:nvSpPr>
        <p:spPr>
          <a:xfrm>
            <a:off x="1168400" y="4114800"/>
            <a:ext cx="5334000" cy="276999"/>
          </a:xfrm>
          <a:prstGeom prst="rect">
            <a:avLst/>
          </a:prstGeom>
          <a:noFill/>
        </p:spPr>
        <p:txBody>
          <a:bodyPr vert="horz" wrap="square" lIns="0" tIns="0" rIns="0" bIns="0" rtlCol="0" anchor="t">
            <a:noAutofit/>
          </a:bodyPr>
          <a:lstStyle/>
          <a:p>
            <a:r>
              <a:rPr lang="en-US" sz="1150">
                <a:solidFill>
                  <a:srgbClr val="A4B4C7"/>
                </a:solidFill>
                <a:latin typeface="Aptos" panose="020B0004020202020204" pitchFamily="34" charset="0"/>
              </a:rPr>
              <a:t>Updates can be copied, altered, replayed, or submitted under a false identity.</a:t>
            </a:r>
          </a:p>
        </p:txBody>
      </p:sp>
      <p:sp>
        <p:nvSpPr>
          <p:cNvPr id="19" name="TextBox 18">
            <a:extLst>
              <a:ext uri="{FF2B5EF4-FFF2-40B4-BE49-F238E27FC236}">
                <a16:creationId xmlns:a16="http://schemas.microsoft.com/office/drawing/2014/main" id="{0B4558D2-AD64-1B85-FD9D-BE143B7FE791}"/>
              </a:ext>
            </a:extLst>
          </p:cNvPr>
          <p:cNvSpPr txBox="1"/>
          <p:nvPr/>
        </p:nvSpPr>
        <p:spPr>
          <a:xfrm>
            <a:off x="7416800" y="1600200"/>
            <a:ext cx="3937000" cy="276999"/>
          </a:xfrm>
          <a:prstGeom prst="rect">
            <a:avLst/>
          </a:prstGeom>
          <a:noFill/>
        </p:spPr>
        <p:txBody>
          <a:bodyPr vert="horz" wrap="square" lIns="0" tIns="0" rIns="0" bIns="0" rtlCol="0" anchor="t">
            <a:noAutofit/>
          </a:bodyPr>
          <a:lstStyle/>
          <a:p>
            <a:pPr algn="ctr"/>
            <a:r>
              <a:rPr lang="en-US" sz="950" b="1">
                <a:solidFill>
                  <a:srgbClr val="778CA3"/>
                </a:solidFill>
                <a:latin typeface="Aptos" panose="020B0004020202020204" pitchFamily="34" charset="0"/>
              </a:rPr>
              <a:t>THE CENTRALIZATION TRADE-OFF</a:t>
            </a:r>
          </a:p>
        </p:txBody>
      </p:sp>
      <p:sp>
        <p:nvSpPr>
          <p:cNvPr id="20" name="Oval 19">
            <a:extLst>
              <a:ext uri="{FF2B5EF4-FFF2-40B4-BE49-F238E27FC236}">
                <a16:creationId xmlns:a16="http://schemas.microsoft.com/office/drawing/2014/main" id="{AEA87B39-513D-B381-731B-8D6F269BAFF8}"/>
              </a:ext>
            </a:extLst>
          </p:cNvPr>
          <p:cNvSpPr/>
          <p:nvPr/>
        </p:nvSpPr>
        <p:spPr>
          <a:xfrm>
            <a:off x="7429500" y="2222500"/>
            <a:ext cx="571500" cy="571500"/>
          </a:xfrm>
          <a:prstGeom prst="ellipse">
            <a:avLst/>
          </a:prstGeom>
          <a:solidFill>
            <a:srgbClr val="0D1E31"/>
          </a:solidFill>
          <a:ln w="17780">
            <a:solidFill>
              <a:srgbClr val="10C58B"/>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cxnSp>
        <p:nvCxnSpPr>
          <p:cNvPr id="21" name="Straight Connector 20">
            <a:extLst>
              <a:ext uri="{FF2B5EF4-FFF2-40B4-BE49-F238E27FC236}">
                <a16:creationId xmlns:a16="http://schemas.microsoft.com/office/drawing/2014/main" id="{4C4F600E-9E12-D974-B5CE-99EDBD2D6C2B}"/>
              </a:ext>
            </a:extLst>
          </p:cNvPr>
          <p:cNvCxnSpPr/>
          <p:nvPr/>
        </p:nvCxnSpPr>
        <p:spPr>
          <a:xfrm>
            <a:off x="7612126" y="2449322"/>
            <a:ext cx="206248" cy="117856"/>
          </a:xfrm>
          <a:prstGeom prst="line">
            <a:avLst/>
          </a:prstGeom>
          <a:ln w="11049" cap="flat" cmpd="sng" algn="ctr">
            <a:solidFill>
              <a:srgbClr val="10C58B"/>
            </a:solidFill>
            <a:prstDash val="solid"/>
            <a:round/>
            <a:headEnd type="none" w="med" len="med"/>
            <a:tailEnd type="none" w="med" len="med"/>
          </a:ln>
        </p:spPr>
        <p:style>
          <a:lnRef idx="2">
            <a:schemeClr val="accent1"/>
          </a:lnRef>
          <a:fillRef idx="0">
            <a:schemeClr val="accent1"/>
          </a:fillRef>
          <a:effectRef idx="1">
            <a:schemeClr val="accent1"/>
          </a:effectRef>
          <a:fontRef idx="minor">
            <a:schemeClr val="tx1"/>
          </a:fontRef>
        </p:style>
      </p:cxnSp>
      <p:cxnSp>
        <p:nvCxnSpPr>
          <p:cNvPr id="22" name="Straight Connector 21">
            <a:extLst>
              <a:ext uri="{FF2B5EF4-FFF2-40B4-BE49-F238E27FC236}">
                <a16:creationId xmlns:a16="http://schemas.microsoft.com/office/drawing/2014/main" id="{FD284A02-4D34-98FC-DCF2-E3B7A5BFBCDE}"/>
              </a:ext>
            </a:extLst>
          </p:cNvPr>
          <p:cNvCxnSpPr/>
          <p:nvPr/>
        </p:nvCxnSpPr>
        <p:spPr>
          <a:xfrm flipV="1">
            <a:off x="7612126" y="2449322"/>
            <a:ext cx="206248" cy="117856"/>
          </a:xfrm>
          <a:prstGeom prst="line">
            <a:avLst/>
          </a:prstGeom>
          <a:ln w="11049" cap="flat" cmpd="sng" algn="ctr">
            <a:solidFill>
              <a:srgbClr val="10C58B"/>
            </a:solidFill>
            <a:prstDash val="solid"/>
            <a:round/>
            <a:headEnd type="none" w="med" len="med"/>
            <a:tailEnd type="none" w="med" len="med"/>
          </a:ln>
        </p:spPr>
        <p:style>
          <a:lnRef idx="2">
            <a:schemeClr val="accent1"/>
          </a:lnRef>
          <a:fillRef idx="0">
            <a:schemeClr val="accent1"/>
          </a:fillRef>
          <a:effectRef idx="1">
            <a:schemeClr val="accent1"/>
          </a:effectRef>
          <a:fontRef idx="minor">
            <a:schemeClr val="tx1"/>
          </a:fontRef>
        </p:style>
      </p:cxnSp>
      <p:sp>
        <p:nvSpPr>
          <p:cNvPr id="23" name="Rectangle: Rounded Corners 22">
            <a:extLst>
              <a:ext uri="{FF2B5EF4-FFF2-40B4-BE49-F238E27FC236}">
                <a16:creationId xmlns:a16="http://schemas.microsoft.com/office/drawing/2014/main" id="{F4BB7531-94F5-7A3C-2786-BF837CB790F2}"/>
              </a:ext>
            </a:extLst>
          </p:cNvPr>
          <p:cNvSpPr/>
          <p:nvPr/>
        </p:nvSpPr>
        <p:spPr>
          <a:xfrm>
            <a:off x="7656322" y="2478786"/>
            <a:ext cx="117856" cy="58928"/>
          </a:xfrm>
          <a:prstGeom prst="roundRect">
            <a:avLst/>
          </a:prstGeom>
          <a:solidFill>
            <a:srgbClr val="10C58B"/>
          </a:solidFill>
          <a:ln w="9525" cap="flat" cmpd="sng" algn="ctr">
            <a:noFill/>
            <a:prstDash val="solid"/>
          </a:ln>
          <a:effectLst>
            <a:outerShdw blurRad="40000" dist="23000" dir="5400000" rotWithShape="0">
              <a:srgbClr val="000000">
                <a:alpha val="35000"/>
              </a:srgbClr>
            </a:outerShdw>
          </a:effectLst>
          <a:extLst>
            <a:ext uri="{91240B29-F687-4F45-9708-019B960494DF}">
              <a14:hiddenLine xmlns:a14="http://schemas.microsoft.com/office/drawing/2010/main" w="9525" cap="flat" cmpd="sng" algn="ctr">
                <a:solidFill>
                  <a:schemeClr val="accent1">
                    <a:shade val="95000"/>
                    <a:satMod val="105000"/>
                  </a:schemeClr>
                </a:solidFill>
                <a:prstDash val="solid"/>
              </a14:hiddenLine>
            </a:ext>
          </a:ex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24" name="Oval 23">
            <a:extLst>
              <a:ext uri="{FF2B5EF4-FFF2-40B4-BE49-F238E27FC236}">
                <a16:creationId xmlns:a16="http://schemas.microsoft.com/office/drawing/2014/main" id="{E6AF4256-A472-CE54-4257-1BBF722B93BA}"/>
              </a:ext>
            </a:extLst>
          </p:cNvPr>
          <p:cNvSpPr/>
          <p:nvPr/>
        </p:nvSpPr>
        <p:spPr>
          <a:xfrm>
            <a:off x="7590028" y="2427224"/>
            <a:ext cx="58928" cy="58928"/>
          </a:xfrm>
          <a:prstGeom prst="ellipse">
            <a:avLst/>
          </a:prstGeom>
          <a:solidFill>
            <a:srgbClr val="081422"/>
          </a:solidFill>
          <a:ln w="8839">
            <a:solidFill>
              <a:srgbClr val="10C58B"/>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25" name="Oval 24">
            <a:extLst>
              <a:ext uri="{FF2B5EF4-FFF2-40B4-BE49-F238E27FC236}">
                <a16:creationId xmlns:a16="http://schemas.microsoft.com/office/drawing/2014/main" id="{0A5B9754-B146-95CA-0D77-C7D763886DFD}"/>
              </a:ext>
            </a:extLst>
          </p:cNvPr>
          <p:cNvSpPr/>
          <p:nvPr/>
        </p:nvSpPr>
        <p:spPr>
          <a:xfrm>
            <a:off x="7811008" y="2427224"/>
            <a:ext cx="58928" cy="58928"/>
          </a:xfrm>
          <a:prstGeom prst="ellipse">
            <a:avLst/>
          </a:prstGeom>
          <a:solidFill>
            <a:srgbClr val="081422"/>
          </a:solidFill>
          <a:ln w="8839">
            <a:solidFill>
              <a:srgbClr val="10C58B"/>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26" name="Oval 25">
            <a:extLst>
              <a:ext uri="{FF2B5EF4-FFF2-40B4-BE49-F238E27FC236}">
                <a16:creationId xmlns:a16="http://schemas.microsoft.com/office/drawing/2014/main" id="{ACA16548-9C05-D0E2-D486-52C2DA5540E3}"/>
              </a:ext>
            </a:extLst>
          </p:cNvPr>
          <p:cNvSpPr/>
          <p:nvPr/>
        </p:nvSpPr>
        <p:spPr>
          <a:xfrm>
            <a:off x="7590028" y="2559812"/>
            <a:ext cx="58928" cy="58928"/>
          </a:xfrm>
          <a:prstGeom prst="ellipse">
            <a:avLst/>
          </a:prstGeom>
          <a:solidFill>
            <a:srgbClr val="081422"/>
          </a:solidFill>
          <a:ln w="8839">
            <a:solidFill>
              <a:srgbClr val="10C58B"/>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27" name="Oval 26">
            <a:extLst>
              <a:ext uri="{FF2B5EF4-FFF2-40B4-BE49-F238E27FC236}">
                <a16:creationId xmlns:a16="http://schemas.microsoft.com/office/drawing/2014/main" id="{6E831F42-DE9F-7FB5-818C-577DAD71FAF5}"/>
              </a:ext>
            </a:extLst>
          </p:cNvPr>
          <p:cNvSpPr/>
          <p:nvPr/>
        </p:nvSpPr>
        <p:spPr>
          <a:xfrm>
            <a:off x="7811008" y="2559812"/>
            <a:ext cx="58928" cy="58928"/>
          </a:xfrm>
          <a:prstGeom prst="ellipse">
            <a:avLst/>
          </a:prstGeom>
          <a:solidFill>
            <a:srgbClr val="081422"/>
          </a:solidFill>
          <a:ln w="8839">
            <a:solidFill>
              <a:srgbClr val="10C58B"/>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cxnSp>
        <p:nvCxnSpPr>
          <p:cNvPr id="28" name="Straight Connector 27">
            <a:extLst>
              <a:ext uri="{FF2B5EF4-FFF2-40B4-BE49-F238E27FC236}">
                <a16:creationId xmlns:a16="http://schemas.microsoft.com/office/drawing/2014/main" id="{F2B10995-A3E1-861B-0B44-9FE466ADAA59}"/>
              </a:ext>
            </a:extLst>
          </p:cNvPr>
          <p:cNvCxnSpPr/>
          <p:nvPr/>
        </p:nvCxnSpPr>
        <p:spPr>
          <a:xfrm>
            <a:off x="8089900" y="2501900"/>
            <a:ext cx="1625600" cy="927100"/>
          </a:xfrm>
          <a:prstGeom prst="line">
            <a:avLst/>
          </a:prstGeom>
          <a:ln w="20320" cap="flat" cmpd="sng" algn="ctr">
            <a:solidFill>
              <a:srgbClr val="F87171"/>
            </a:solidFill>
            <a:prstDash val="solid"/>
            <a:round/>
            <a:headEnd type="none" w="med" len="med"/>
            <a:tailEnd type="arrow" w="med" len="med"/>
          </a:ln>
        </p:spPr>
        <p:style>
          <a:lnRef idx="2">
            <a:schemeClr val="accent1"/>
          </a:lnRef>
          <a:fillRef idx="0">
            <a:schemeClr val="accent1"/>
          </a:fillRef>
          <a:effectRef idx="1">
            <a:schemeClr val="accent1"/>
          </a:effectRef>
          <a:fontRef idx="minor">
            <a:schemeClr val="tx1"/>
          </a:fontRef>
        </p:style>
      </p:cxnSp>
      <p:sp>
        <p:nvSpPr>
          <p:cNvPr id="29" name="Oval 28">
            <a:extLst>
              <a:ext uri="{FF2B5EF4-FFF2-40B4-BE49-F238E27FC236}">
                <a16:creationId xmlns:a16="http://schemas.microsoft.com/office/drawing/2014/main" id="{5DCD2567-9223-DCD1-6D02-CC8C5E96ED48}"/>
              </a:ext>
            </a:extLst>
          </p:cNvPr>
          <p:cNvSpPr/>
          <p:nvPr/>
        </p:nvSpPr>
        <p:spPr>
          <a:xfrm>
            <a:off x="7429500" y="3238500"/>
            <a:ext cx="571500" cy="571500"/>
          </a:xfrm>
          <a:prstGeom prst="ellipse">
            <a:avLst/>
          </a:prstGeom>
          <a:solidFill>
            <a:srgbClr val="0D1E31"/>
          </a:solidFill>
          <a:ln w="17780">
            <a:solidFill>
              <a:srgbClr val="10C58B"/>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cxnSp>
        <p:nvCxnSpPr>
          <p:cNvPr id="30" name="Straight Connector 29">
            <a:extLst>
              <a:ext uri="{FF2B5EF4-FFF2-40B4-BE49-F238E27FC236}">
                <a16:creationId xmlns:a16="http://schemas.microsoft.com/office/drawing/2014/main" id="{972EC508-FBB0-F61E-2882-2EAD7803B0A5}"/>
              </a:ext>
            </a:extLst>
          </p:cNvPr>
          <p:cNvCxnSpPr/>
          <p:nvPr/>
        </p:nvCxnSpPr>
        <p:spPr>
          <a:xfrm>
            <a:off x="7612126" y="3465322"/>
            <a:ext cx="206248" cy="117856"/>
          </a:xfrm>
          <a:prstGeom prst="line">
            <a:avLst/>
          </a:prstGeom>
          <a:ln w="11049" cap="flat" cmpd="sng" algn="ctr">
            <a:solidFill>
              <a:srgbClr val="10C58B"/>
            </a:solidFill>
            <a:prstDash val="solid"/>
            <a:round/>
            <a:headEnd type="none" w="med" len="med"/>
            <a:tailEnd type="none" w="med" len="med"/>
          </a:ln>
        </p:spPr>
        <p:style>
          <a:lnRef idx="2">
            <a:schemeClr val="accent1"/>
          </a:lnRef>
          <a:fillRef idx="0">
            <a:schemeClr val="accent1"/>
          </a:fillRef>
          <a:effectRef idx="1">
            <a:schemeClr val="accent1"/>
          </a:effectRef>
          <a:fontRef idx="minor">
            <a:schemeClr val="tx1"/>
          </a:fontRef>
        </p:style>
      </p:cxnSp>
      <p:cxnSp>
        <p:nvCxnSpPr>
          <p:cNvPr id="31" name="Straight Connector 30">
            <a:extLst>
              <a:ext uri="{FF2B5EF4-FFF2-40B4-BE49-F238E27FC236}">
                <a16:creationId xmlns:a16="http://schemas.microsoft.com/office/drawing/2014/main" id="{3DCD3A30-5022-235E-BC01-FFF786084021}"/>
              </a:ext>
            </a:extLst>
          </p:cNvPr>
          <p:cNvCxnSpPr/>
          <p:nvPr/>
        </p:nvCxnSpPr>
        <p:spPr>
          <a:xfrm flipV="1">
            <a:off x="7612126" y="3465322"/>
            <a:ext cx="206248" cy="117856"/>
          </a:xfrm>
          <a:prstGeom prst="line">
            <a:avLst/>
          </a:prstGeom>
          <a:ln w="11049" cap="flat" cmpd="sng" algn="ctr">
            <a:solidFill>
              <a:srgbClr val="10C58B"/>
            </a:solidFill>
            <a:prstDash val="solid"/>
            <a:round/>
            <a:headEnd type="none" w="med" len="med"/>
            <a:tailEnd type="none" w="med" len="med"/>
          </a:ln>
        </p:spPr>
        <p:style>
          <a:lnRef idx="2">
            <a:schemeClr val="accent1"/>
          </a:lnRef>
          <a:fillRef idx="0">
            <a:schemeClr val="accent1"/>
          </a:fillRef>
          <a:effectRef idx="1">
            <a:schemeClr val="accent1"/>
          </a:effectRef>
          <a:fontRef idx="minor">
            <a:schemeClr val="tx1"/>
          </a:fontRef>
        </p:style>
      </p:cxnSp>
      <p:sp>
        <p:nvSpPr>
          <p:cNvPr id="32" name="Rectangle: Rounded Corners 31">
            <a:extLst>
              <a:ext uri="{FF2B5EF4-FFF2-40B4-BE49-F238E27FC236}">
                <a16:creationId xmlns:a16="http://schemas.microsoft.com/office/drawing/2014/main" id="{3F36D751-276B-A9A8-2514-DEAEBA4E7AF7}"/>
              </a:ext>
            </a:extLst>
          </p:cNvPr>
          <p:cNvSpPr/>
          <p:nvPr/>
        </p:nvSpPr>
        <p:spPr>
          <a:xfrm>
            <a:off x="7656322" y="3494786"/>
            <a:ext cx="117856" cy="58928"/>
          </a:xfrm>
          <a:prstGeom prst="roundRect">
            <a:avLst/>
          </a:prstGeom>
          <a:solidFill>
            <a:srgbClr val="10C58B"/>
          </a:solidFill>
          <a:ln w="9525" cap="flat" cmpd="sng" algn="ctr">
            <a:noFill/>
            <a:prstDash val="solid"/>
          </a:ln>
          <a:effectLst>
            <a:outerShdw blurRad="40000" dist="23000" dir="5400000" rotWithShape="0">
              <a:srgbClr val="000000">
                <a:alpha val="35000"/>
              </a:srgbClr>
            </a:outerShdw>
          </a:effectLst>
          <a:extLst>
            <a:ext uri="{91240B29-F687-4F45-9708-019B960494DF}">
              <a14:hiddenLine xmlns:a14="http://schemas.microsoft.com/office/drawing/2010/main" w="9525" cap="flat" cmpd="sng" algn="ctr">
                <a:solidFill>
                  <a:schemeClr val="accent1">
                    <a:shade val="95000"/>
                    <a:satMod val="105000"/>
                  </a:schemeClr>
                </a:solidFill>
                <a:prstDash val="solid"/>
              </a14:hiddenLine>
            </a:ext>
          </a:ex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33" name="Oval 32">
            <a:extLst>
              <a:ext uri="{FF2B5EF4-FFF2-40B4-BE49-F238E27FC236}">
                <a16:creationId xmlns:a16="http://schemas.microsoft.com/office/drawing/2014/main" id="{81BCD57A-BB11-806F-FEB5-C7767A9048EE}"/>
              </a:ext>
            </a:extLst>
          </p:cNvPr>
          <p:cNvSpPr/>
          <p:nvPr/>
        </p:nvSpPr>
        <p:spPr>
          <a:xfrm>
            <a:off x="7590028" y="3443224"/>
            <a:ext cx="58928" cy="58928"/>
          </a:xfrm>
          <a:prstGeom prst="ellipse">
            <a:avLst/>
          </a:prstGeom>
          <a:solidFill>
            <a:srgbClr val="081422"/>
          </a:solidFill>
          <a:ln w="8839">
            <a:solidFill>
              <a:srgbClr val="10C58B"/>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34" name="Oval 33">
            <a:extLst>
              <a:ext uri="{FF2B5EF4-FFF2-40B4-BE49-F238E27FC236}">
                <a16:creationId xmlns:a16="http://schemas.microsoft.com/office/drawing/2014/main" id="{557B89F0-69BB-49CD-490A-2657BDCEE648}"/>
              </a:ext>
            </a:extLst>
          </p:cNvPr>
          <p:cNvSpPr/>
          <p:nvPr/>
        </p:nvSpPr>
        <p:spPr>
          <a:xfrm>
            <a:off x="7811008" y="3443224"/>
            <a:ext cx="58928" cy="58928"/>
          </a:xfrm>
          <a:prstGeom prst="ellipse">
            <a:avLst/>
          </a:prstGeom>
          <a:solidFill>
            <a:srgbClr val="081422"/>
          </a:solidFill>
          <a:ln w="8839">
            <a:solidFill>
              <a:srgbClr val="10C58B"/>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35" name="Oval 34">
            <a:extLst>
              <a:ext uri="{FF2B5EF4-FFF2-40B4-BE49-F238E27FC236}">
                <a16:creationId xmlns:a16="http://schemas.microsoft.com/office/drawing/2014/main" id="{0CFF6CF6-39FC-49FD-BF99-29CAFA753FBE}"/>
              </a:ext>
            </a:extLst>
          </p:cNvPr>
          <p:cNvSpPr/>
          <p:nvPr/>
        </p:nvSpPr>
        <p:spPr>
          <a:xfrm>
            <a:off x="7590028" y="3575812"/>
            <a:ext cx="58928" cy="58928"/>
          </a:xfrm>
          <a:prstGeom prst="ellipse">
            <a:avLst/>
          </a:prstGeom>
          <a:solidFill>
            <a:srgbClr val="081422"/>
          </a:solidFill>
          <a:ln w="8839">
            <a:solidFill>
              <a:srgbClr val="10C58B"/>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36" name="Oval 35">
            <a:extLst>
              <a:ext uri="{FF2B5EF4-FFF2-40B4-BE49-F238E27FC236}">
                <a16:creationId xmlns:a16="http://schemas.microsoft.com/office/drawing/2014/main" id="{6F465A95-D21D-F6A4-B81A-8B548B53FC6F}"/>
              </a:ext>
            </a:extLst>
          </p:cNvPr>
          <p:cNvSpPr/>
          <p:nvPr/>
        </p:nvSpPr>
        <p:spPr>
          <a:xfrm>
            <a:off x="7811008" y="3575812"/>
            <a:ext cx="58928" cy="58928"/>
          </a:xfrm>
          <a:prstGeom prst="ellipse">
            <a:avLst/>
          </a:prstGeom>
          <a:solidFill>
            <a:srgbClr val="081422"/>
          </a:solidFill>
          <a:ln w="8839">
            <a:solidFill>
              <a:srgbClr val="10C58B"/>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cxnSp>
        <p:nvCxnSpPr>
          <p:cNvPr id="37" name="Straight Connector 36">
            <a:extLst>
              <a:ext uri="{FF2B5EF4-FFF2-40B4-BE49-F238E27FC236}">
                <a16:creationId xmlns:a16="http://schemas.microsoft.com/office/drawing/2014/main" id="{7324F36A-AF3B-B8B4-708A-8AA2868B3491}"/>
              </a:ext>
            </a:extLst>
          </p:cNvPr>
          <p:cNvCxnSpPr/>
          <p:nvPr/>
        </p:nvCxnSpPr>
        <p:spPr>
          <a:xfrm flipV="1">
            <a:off x="8089900" y="3429000"/>
            <a:ext cx="1625600" cy="88900"/>
          </a:xfrm>
          <a:prstGeom prst="line">
            <a:avLst/>
          </a:prstGeom>
          <a:ln w="20320" cap="flat" cmpd="sng" algn="ctr">
            <a:solidFill>
              <a:srgbClr val="F87171"/>
            </a:solidFill>
            <a:prstDash val="solid"/>
            <a:round/>
            <a:headEnd type="none" w="med" len="med"/>
            <a:tailEnd type="arrow" w="med" len="med"/>
          </a:ln>
        </p:spPr>
        <p:style>
          <a:lnRef idx="2">
            <a:schemeClr val="accent1"/>
          </a:lnRef>
          <a:fillRef idx="0">
            <a:schemeClr val="accent1"/>
          </a:fillRef>
          <a:effectRef idx="1">
            <a:schemeClr val="accent1"/>
          </a:effectRef>
          <a:fontRef idx="minor">
            <a:schemeClr val="tx1"/>
          </a:fontRef>
        </p:style>
      </p:cxnSp>
      <p:sp>
        <p:nvSpPr>
          <p:cNvPr id="38" name="Oval 37">
            <a:extLst>
              <a:ext uri="{FF2B5EF4-FFF2-40B4-BE49-F238E27FC236}">
                <a16:creationId xmlns:a16="http://schemas.microsoft.com/office/drawing/2014/main" id="{95C9665A-38CD-3805-9C7B-8BCE103F017C}"/>
              </a:ext>
            </a:extLst>
          </p:cNvPr>
          <p:cNvSpPr/>
          <p:nvPr/>
        </p:nvSpPr>
        <p:spPr>
          <a:xfrm>
            <a:off x="7429500" y="4254500"/>
            <a:ext cx="571500" cy="571500"/>
          </a:xfrm>
          <a:prstGeom prst="ellipse">
            <a:avLst/>
          </a:prstGeom>
          <a:solidFill>
            <a:srgbClr val="0D1E31"/>
          </a:solidFill>
          <a:ln w="17780">
            <a:solidFill>
              <a:srgbClr val="10C58B"/>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cxnSp>
        <p:nvCxnSpPr>
          <p:cNvPr id="39" name="Straight Connector 38">
            <a:extLst>
              <a:ext uri="{FF2B5EF4-FFF2-40B4-BE49-F238E27FC236}">
                <a16:creationId xmlns:a16="http://schemas.microsoft.com/office/drawing/2014/main" id="{0EC6F274-3162-58B1-7B5F-8D0D99210D76}"/>
              </a:ext>
            </a:extLst>
          </p:cNvPr>
          <p:cNvCxnSpPr/>
          <p:nvPr/>
        </p:nvCxnSpPr>
        <p:spPr>
          <a:xfrm>
            <a:off x="7612126" y="4481322"/>
            <a:ext cx="206248" cy="117856"/>
          </a:xfrm>
          <a:prstGeom prst="line">
            <a:avLst/>
          </a:prstGeom>
          <a:ln w="11049" cap="flat" cmpd="sng" algn="ctr">
            <a:solidFill>
              <a:srgbClr val="10C58B"/>
            </a:solidFill>
            <a:prstDash val="solid"/>
            <a:round/>
            <a:headEnd type="none" w="med" len="med"/>
            <a:tailEnd type="none" w="med" len="med"/>
          </a:ln>
        </p:spPr>
        <p:style>
          <a:lnRef idx="2">
            <a:schemeClr val="accent1"/>
          </a:lnRef>
          <a:fillRef idx="0">
            <a:schemeClr val="accent1"/>
          </a:fillRef>
          <a:effectRef idx="1">
            <a:schemeClr val="accent1"/>
          </a:effectRef>
          <a:fontRef idx="minor">
            <a:schemeClr val="tx1"/>
          </a:fontRef>
        </p:style>
      </p:cxnSp>
      <p:cxnSp>
        <p:nvCxnSpPr>
          <p:cNvPr id="40" name="Straight Connector 39">
            <a:extLst>
              <a:ext uri="{FF2B5EF4-FFF2-40B4-BE49-F238E27FC236}">
                <a16:creationId xmlns:a16="http://schemas.microsoft.com/office/drawing/2014/main" id="{7272328F-F45A-D335-52B4-562FCBABC01A}"/>
              </a:ext>
            </a:extLst>
          </p:cNvPr>
          <p:cNvCxnSpPr/>
          <p:nvPr/>
        </p:nvCxnSpPr>
        <p:spPr>
          <a:xfrm flipV="1">
            <a:off x="7612126" y="4481322"/>
            <a:ext cx="206248" cy="117856"/>
          </a:xfrm>
          <a:prstGeom prst="line">
            <a:avLst/>
          </a:prstGeom>
          <a:ln w="11049" cap="flat" cmpd="sng" algn="ctr">
            <a:solidFill>
              <a:srgbClr val="10C58B"/>
            </a:solidFill>
            <a:prstDash val="solid"/>
            <a:round/>
            <a:headEnd type="none" w="med" len="med"/>
            <a:tailEnd type="none" w="med" len="med"/>
          </a:ln>
        </p:spPr>
        <p:style>
          <a:lnRef idx="2">
            <a:schemeClr val="accent1"/>
          </a:lnRef>
          <a:fillRef idx="0">
            <a:schemeClr val="accent1"/>
          </a:fillRef>
          <a:effectRef idx="1">
            <a:schemeClr val="accent1"/>
          </a:effectRef>
          <a:fontRef idx="minor">
            <a:schemeClr val="tx1"/>
          </a:fontRef>
        </p:style>
      </p:cxnSp>
      <p:sp>
        <p:nvSpPr>
          <p:cNvPr id="41" name="Rectangle: Rounded Corners 40">
            <a:extLst>
              <a:ext uri="{FF2B5EF4-FFF2-40B4-BE49-F238E27FC236}">
                <a16:creationId xmlns:a16="http://schemas.microsoft.com/office/drawing/2014/main" id="{26CC7361-1422-6A29-9C8B-CE26F3EFD118}"/>
              </a:ext>
            </a:extLst>
          </p:cNvPr>
          <p:cNvSpPr/>
          <p:nvPr/>
        </p:nvSpPr>
        <p:spPr>
          <a:xfrm>
            <a:off x="7656322" y="4510786"/>
            <a:ext cx="117856" cy="58928"/>
          </a:xfrm>
          <a:prstGeom prst="roundRect">
            <a:avLst/>
          </a:prstGeom>
          <a:solidFill>
            <a:srgbClr val="10C58B"/>
          </a:solidFill>
          <a:ln w="9525" cap="flat" cmpd="sng" algn="ctr">
            <a:noFill/>
            <a:prstDash val="solid"/>
          </a:ln>
          <a:effectLst>
            <a:outerShdw blurRad="40000" dist="23000" dir="5400000" rotWithShape="0">
              <a:srgbClr val="000000">
                <a:alpha val="35000"/>
              </a:srgbClr>
            </a:outerShdw>
          </a:effectLst>
          <a:extLst>
            <a:ext uri="{91240B29-F687-4F45-9708-019B960494DF}">
              <a14:hiddenLine xmlns:a14="http://schemas.microsoft.com/office/drawing/2010/main" w="9525" cap="flat" cmpd="sng" algn="ctr">
                <a:solidFill>
                  <a:schemeClr val="accent1">
                    <a:shade val="95000"/>
                    <a:satMod val="105000"/>
                  </a:schemeClr>
                </a:solidFill>
                <a:prstDash val="solid"/>
              </a14:hiddenLine>
            </a:ext>
          </a:ex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42" name="Oval 41">
            <a:extLst>
              <a:ext uri="{FF2B5EF4-FFF2-40B4-BE49-F238E27FC236}">
                <a16:creationId xmlns:a16="http://schemas.microsoft.com/office/drawing/2014/main" id="{1C4426E1-A723-8B45-6CC8-39DB4DF1E0D3}"/>
              </a:ext>
            </a:extLst>
          </p:cNvPr>
          <p:cNvSpPr/>
          <p:nvPr/>
        </p:nvSpPr>
        <p:spPr>
          <a:xfrm>
            <a:off x="7590028" y="4459224"/>
            <a:ext cx="58928" cy="58928"/>
          </a:xfrm>
          <a:prstGeom prst="ellipse">
            <a:avLst/>
          </a:prstGeom>
          <a:solidFill>
            <a:srgbClr val="081422"/>
          </a:solidFill>
          <a:ln w="8839">
            <a:solidFill>
              <a:srgbClr val="10C58B"/>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43" name="Oval 42">
            <a:extLst>
              <a:ext uri="{FF2B5EF4-FFF2-40B4-BE49-F238E27FC236}">
                <a16:creationId xmlns:a16="http://schemas.microsoft.com/office/drawing/2014/main" id="{D328C990-92F4-48B4-9A25-9D376D82FE5B}"/>
              </a:ext>
            </a:extLst>
          </p:cNvPr>
          <p:cNvSpPr/>
          <p:nvPr/>
        </p:nvSpPr>
        <p:spPr>
          <a:xfrm>
            <a:off x="7811008" y="4459224"/>
            <a:ext cx="58928" cy="58928"/>
          </a:xfrm>
          <a:prstGeom prst="ellipse">
            <a:avLst/>
          </a:prstGeom>
          <a:solidFill>
            <a:srgbClr val="081422"/>
          </a:solidFill>
          <a:ln w="8839">
            <a:solidFill>
              <a:srgbClr val="10C58B"/>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44" name="Oval 43">
            <a:extLst>
              <a:ext uri="{FF2B5EF4-FFF2-40B4-BE49-F238E27FC236}">
                <a16:creationId xmlns:a16="http://schemas.microsoft.com/office/drawing/2014/main" id="{FB89A3CD-94FE-C9FF-D14C-E76BECCD8719}"/>
              </a:ext>
            </a:extLst>
          </p:cNvPr>
          <p:cNvSpPr/>
          <p:nvPr/>
        </p:nvSpPr>
        <p:spPr>
          <a:xfrm>
            <a:off x="7590028" y="4591812"/>
            <a:ext cx="58928" cy="58928"/>
          </a:xfrm>
          <a:prstGeom prst="ellipse">
            <a:avLst/>
          </a:prstGeom>
          <a:solidFill>
            <a:srgbClr val="081422"/>
          </a:solidFill>
          <a:ln w="8839">
            <a:solidFill>
              <a:srgbClr val="10C58B"/>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45" name="Oval 44">
            <a:extLst>
              <a:ext uri="{FF2B5EF4-FFF2-40B4-BE49-F238E27FC236}">
                <a16:creationId xmlns:a16="http://schemas.microsoft.com/office/drawing/2014/main" id="{1859C71D-F4E7-0E37-81F1-36C7C7FCA480}"/>
              </a:ext>
            </a:extLst>
          </p:cNvPr>
          <p:cNvSpPr/>
          <p:nvPr/>
        </p:nvSpPr>
        <p:spPr>
          <a:xfrm>
            <a:off x="7811008" y="4591812"/>
            <a:ext cx="58928" cy="58928"/>
          </a:xfrm>
          <a:prstGeom prst="ellipse">
            <a:avLst/>
          </a:prstGeom>
          <a:solidFill>
            <a:srgbClr val="081422"/>
          </a:solidFill>
          <a:ln w="8839">
            <a:solidFill>
              <a:srgbClr val="10C58B"/>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cxnSp>
        <p:nvCxnSpPr>
          <p:cNvPr id="46" name="Straight Connector 45">
            <a:extLst>
              <a:ext uri="{FF2B5EF4-FFF2-40B4-BE49-F238E27FC236}">
                <a16:creationId xmlns:a16="http://schemas.microsoft.com/office/drawing/2014/main" id="{62564CB2-9C6B-5020-B90E-1BBB93D84F34}"/>
              </a:ext>
            </a:extLst>
          </p:cNvPr>
          <p:cNvCxnSpPr/>
          <p:nvPr/>
        </p:nvCxnSpPr>
        <p:spPr>
          <a:xfrm flipV="1">
            <a:off x="8089900" y="3429000"/>
            <a:ext cx="1625600" cy="1104900"/>
          </a:xfrm>
          <a:prstGeom prst="line">
            <a:avLst/>
          </a:prstGeom>
          <a:ln w="20320" cap="flat" cmpd="sng" algn="ctr">
            <a:solidFill>
              <a:srgbClr val="F87171"/>
            </a:solidFill>
            <a:prstDash val="solid"/>
            <a:round/>
            <a:headEnd type="none" w="med" len="med"/>
            <a:tailEnd type="arrow" w="med" len="med"/>
          </a:ln>
        </p:spPr>
        <p:style>
          <a:lnRef idx="2">
            <a:schemeClr val="accent1"/>
          </a:lnRef>
          <a:fillRef idx="0">
            <a:schemeClr val="accent1"/>
          </a:fillRef>
          <a:effectRef idx="1">
            <a:schemeClr val="accent1"/>
          </a:effectRef>
          <a:fontRef idx="minor">
            <a:schemeClr val="tx1"/>
          </a:fontRef>
        </p:style>
      </p:cxnSp>
      <p:sp>
        <p:nvSpPr>
          <p:cNvPr id="47" name="Rectangle: Rounded Corners 46">
            <a:extLst>
              <a:ext uri="{FF2B5EF4-FFF2-40B4-BE49-F238E27FC236}">
                <a16:creationId xmlns:a16="http://schemas.microsoft.com/office/drawing/2014/main" id="{5BFF9A12-449D-C6CD-D1B6-CDBA4B4DEE53}"/>
              </a:ext>
            </a:extLst>
          </p:cNvPr>
          <p:cNvSpPr/>
          <p:nvPr/>
        </p:nvSpPr>
        <p:spPr>
          <a:xfrm>
            <a:off x="9779000" y="2603500"/>
            <a:ext cx="1651000" cy="1676400"/>
          </a:xfrm>
          <a:prstGeom prst="roundRect">
            <a:avLst/>
          </a:prstGeom>
          <a:solidFill>
            <a:srgbClr val="14283D"/>
          </a:solidFill>
          <a:ln w="21590">
            <a:solidFill>
              <a:srgbClr val="F87171"/>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48" name="Rectangle: Rounded Corners 47">
            <a:extLst>
              <a:ext uri="{FF2B5EF4-FFF2-40B4-BE49-F238E27FC236}">
                <a16:creationId xmlns:a16="http://schemas.microsoft.com/office/drawing/2014/main" id="{F8840F05-4A49-35F1-9E34-91B1F379FBF0}"/>
              </a:ext>
            </a:extLst>
          </p:cNvPr>
          <p:cNvSpPr/>
          <p:nvPr/>
        </p:nvSpPr>
        <p:spPr>
          <a:xfrm>
            <a:off x="10325100" y="2921000"/>
            <a:ext cx="435864" cy="99060"/>
          </a:xfrm>
          <a:prstGeom prst="roundRect">
            <a:avLst/>
          </a:prstGeom>
          <a:solidFill>
            <a:srgbClr val="081422"/>
          </a:solidFill>
          <a:ln w="12700">
            <a:solidFill>
              <a:srgbClr val="F8FAFC"/>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49" name="Oval 48">
            <a:extLst>
              <a:ext uri="{FF2B5EF4-FFF2-40B4-BE49-F238E27FC236}">
                <a16:creationId xmlns:a16="http://schemas.microsoft.com/office/drawing/2014/main" id="{CE6D84F0-DD6D-93B3-A7BF-6A0AB71B97DA}"/>
              </a:ext>
            </a:extLst>
          </p:cNvPr>
          <p:cNvSpPr/>
          <p:nvPr/>
        </p:nvSpPr>
        <p:spPr>
          <a:xfrm>
            <a:off x="10374630" y="2950718"/>
            <a:ext cx="39624" cy="39624"/>
          </a:xfrm>
          <a:prstGeom prst="ellipse">
            <a:avLst/>
          </a:prstGeom>
          <a:solidFill>
            <a:srgbClr val="F8FAFC"/>
          </a:solidFill>
          <a:ln w="9525" cap="flat" cmpd="sng" algn="ctr">
            <a:noFill/>
            <a:prstDash val="solid"/>
          </a:ln>
          <a:effectLst>
            <a:outerShdw blurRad="40000" dist="23000" dir="5400000" rotWithShape="0">
              <a:srgbClr val="000000">
                <a:alpha val="35000"/>
              </a:srgbClr>
            </a:outerShdw>
          </a:effectLst>
          <a:extLst>
            <a:ext uri="{91240B29-F687-4F45-9708-019B960494DF}">
              <a14:hiddenLine xmlns:a14="http://schemas.microsoft.com/office/drawing/2010/main" w="9525" cap="flat" cmpd="sng" algn="ctr">
                <a:solidFill>
                  <a:schemeClr val="accent1">
                    <a:shade val="95000"/>
                    <a:satMod val="105000"/>
                  </a:schemeClr>
                </a:solidFill>
                <a:prstDash val="solid"/>
              </a14:hiddenLine>
            </a:ext>
          </a:ex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50" name="Rectangle: Rounded Corners 49">
            <a:extLst>
              <a:ext uri="{FF2B5EF4-FFF2-40B4-BE49-F238E27FC236}">
                <a16:creationId xmlns:a16="http://schemas.microsoft.com/office/drawing/2014/main" id="{A3AFB461-ABE3-800F-17B4-27A2908FF80E}"/>
              </a:ext>
            </a:extLst>
          </p:cNvPr>
          <p:cNvSpPr/>
          <p:nvPr/>
        </p:nvSpPr>
        <p:spPr>
          <a:xfrm>
            <a:off x="10325100" y="3059684"/>
            <a:ext cx="435864" cy="99060"/>
          </a:xfrm>
          <a:prstGeom prst="roundRect">
            <a:avLst/>
          </a:prstGeom>
          <a:solidFill>
            <a:srgbClr val="081422"/>
          </a:solidFill>
          <a:ln w="12700">
            <a:solidFill>
              <a:srgbClr val="F8FAFC"/>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51" name="Oval 50">
            <a:extLst>
              <a:ext uri="{FF2B5EF4-FFF2-40B4-BE49-F238E27FC236}">
                <a16:creationId xmlns:a16="http://schemas.microsoft.com/office/drawing/2014/main" id="{EB3242BD-C518-47FB-06C7-460FCE2CABCE}"/>
              </a:ext>
            </a:extLst>
          </p:cNvPr>
          <p:cNvSpPr/>
          <p:nvPr/>
        </p:nvSpPr>
        <p:spPr>
          <a:xfrm>
            <a:off x="10374630" y="3089402"/>
            <a:ext cx="39624" cy="39624"/>
          </a:xfrm>
          <a:prstGeom prst="ellipse">
            <a:avLst/>
          </a:prstGeom>
          <a:solidFill>
            <a:srgbClr val="F8FAFC"/>
          </a:solidFill>
          <a:ln w="9525" cap="flat" cmpd="sng" algn="ctr">
            <a:noFill/>
            <a:prstDash val="solid"/>
          </a:ln>
          <a:effectLst>
            <a:outerShdw blurRad="40000" dist="23000" dir="5400000" rotWithShape="0">
              <a:srgbClr val="000000">
                <a:alpha val="35000"/>
              </a:srgbClr>
            </a:outerShdw>
          </a:effectLst>
          <a:extLst>
            <a:ext uri="{91240B29-F687-4F45-9708-019B960494DF}">
              <a14:hiddenLine xmlns:a14="http://schemas.microsoft.com/office/drawing/2010/main" w="9525" cap="flat" cmpd="sng" algn="ctr">
                <a:solidFill>
                  <a:schemeClr val="accent1">
                    <a:shade val="95000"/>
                    <a:satMod val="105000"/>
                  </a:schemeClr>
                </a:solidFill>
                <a:prstDash val="solid"/>
              </a14:hiddenLine>
            </a:ext>
          </a:ex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52" name="Rectangle: Rounded Corners 51">
            <a:extLst>
              <a:ext uri="{FF2B5EF4-FFF2-40B4-BE49-F238E27FC236}">
                <a16:creationId xmlns:a16="http://schemas.microsoft.com/office/drawing/2014/main" id="{0FDCAD38-A866-8F36-512A-FC2321D3D470}"/>
              </a:ext>
            </a:extLst>
          </p:cNvPr>
          <p:cNvSpPr/>
          <p:nvPr/>
        </p:nvSpPr>
        <p:spPr>
          <a:xfrm>
            <a:off x="10325100" y="3198368"/>
            <a:ext cx="435864" cy="99060"/>
          </a:xfrm>
          <a:prstGeom prst="roundRect">
            <a:avLst/>
          </a:prstGeom>
          <a:solidFill>
            <a:srgbClr val="081422"/>
          </a:solidFill>
          <a:ln w="12700">
            <a:solidFill>
              <a:srgbClr val="F8FAFC"/>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53" name="Oval 52">
            <a:extLst>
              <a:ext uri="{FF2B5EF4-FFF2-40B4-BE49-F238E27FC236}">
                <a16:creationId xmlns:a16="http://schemas.microsoft.com/office/drawing/2014/main" id="{3E9D33A5-3752-AD7A-E7A4-7C7ABFCE580B}"/>
              </a:ext>
            </a:extLst>
          </p:cNvPr>
          <p:cNvSpPr/>
          <p:nvPr/>
        </p:nvSpPr>
        <p:spPr>
          <a:xfrm>
            <a:off x="10374630" y="3228086"/>
            <a:ext cx="39624" cy="39624"/>
          </a:xfrm>
          <a:prstGeom prst="ellipse">
            <a:avLst/>
          </a:prstGeom>
          <a:solidFill>
            <a:srgbClr val="F8FAFC"/>
          </a:solidFill>
          <a:ln w="9525" cap="flat" cmpd="sng" algn="ctr">
            <a:noFill/>
            <a:prstDash val="solid"/>
          </a:ln>
          <a:effectLst>
            <a:outerShdw blurRad="40000" dist="23000" dir="5400000" rotWithShape="0">
              <a:srgbClr val="000000">
                <a:alpha val="35000"/>
              </a:srgbClr>
            </a:outerShdw>
          </a:effectLst>
          <a:extLst>
            <a:ext uri="{91240B29-F687-4F45-9708-019B960494DF}">
              <a14:hiddenLine xmlns:a14="http://schemas.microsoft.com/office/drawing/2010/main" w="9525" cap="flat" cmpd="sng" algn="ctr">
                <a:solidFill>
                  <a:schemeClr val="accent1">
                    <a:shade val="95000"/>
                    <a:satMod val="105000"/>
                  </a:schemeClr>
                </a:solidFill>
                <a:prstDash val="solid"/>
              </a14:hiddenLine>
            </a:ext>
          </a:ex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54" name="TextBox 53">
            <a:extLst>
              <a:ext uri="{FF2B5EF4-FFF2-40B4-BE49-F238E27FC236}">
                <a16:creationId xmlns:a16="http://schemas.microsoft.com/office/drawing/2014/main" id="{5917B6BD-8AE2-409F-59F7-EE2B2FCE1AE4}"/>
              </a:ext>
            </a:extLst>
          </p:cNvPr>
          <p:cNvSpPr txBox="1"/>
          <p:nvPr/>
        </p:nvSpPr>
        <p:spPr>
          <a:xfrm>
            <a:off x="9969500" y="3708400"/>
            <a:ext cx="1270000" cy="276999"/>
          </a:xfrm>
          <a:prstGeom prst="rect">
            <a:avLst/>
          </a:prstGeom>
          <a:noFill/>
        </p:spPr>
        <p:txBody>
          <a:bodyPr vert="horz" wrap="square" lIns="0" tIns="0" rIns="0" bIns="0" rtlCol="0" anchor="t">
            <a:noAutofit/>
          </a:bodyPr>
          <a:lstStyle/>
          <a:p>
            <a:pPr algn="ctr"/>
            <a:r>
              <a:rPr lang="en-US" sz="1100" b="1">
                <a:solidFill>
                  <a:srgbClr val="F8FAFC"/>
                </a:solidFill>
                <a:latin typeface="Aptos" panose="020B0004020202020204" pitchFamily="34" charset="0"/>
              </a:rPr>
              <a:t>RAW LOG HUB</a:t>
            </a:r>
          </a:p>
        </p:txBody>
      </p:sp>
      <p:sp>
        <p:nvSpPr>
          <p:cNvPr id="55" name="Rectangle: Rounded Corners 54">
            <a:extLst>
              <a:ext uri="{FF2B5EF4-FFF2-40B4-BE49-F238E27FC236}">
                <a16:creationId xmlns:a16="http://schemas.microsoft.com/office/drawing/2014/main" id="{00E527AA-A95A-AE74-B93E-9A3B3F854961}"/>
              </a:ext>
            </a:extLst>
          </p:cNvPr>
          <p:cNvSpPr/>
          <p:nvPr/>
        </p:nvSpPr>
        <p:spPr>
          <a:xfrm>
            <a:off x="8712200" y="4508500"/>
            <a:ext cx="1422400" cy="279400"/>
          </a:xfrm>
          <a:prstGeom prst="roundRect">
            <a:avLst/>
          </a:prstGeom>
          <a:solidFill>
            <a:srgbClr val="193047"/>
          </a:solidFill>
          <a:ln w="9525" cap="flat" cmpd="sng" algn="ctr">
            <a:noFill/>
            <a:prstDash val="solid"/>
          </a:ln>
          <a:effectLst>
            <a:outerShdw blurRad="40000" dist="23000" dir="5400000" rotWithShape="0">
              <a:srgbClr val="000000">
                <a:alpha val="35000"/>
              </a:srgbClr>
            </a:outerShdw>
          </a:effectLst>
          <a:extLst>
            <a:ext uri="{91240B29-F687-4F45-9708-019B960494DF}">
              <a14:hiddenLine xmlns:a14="http://schemas.microsoft.com/office/drawing/2010/main" w="9525" cap="flat" cmpd="sng" algn="ctr">
                <a:solidFill>
                  <a:schemeClr val="accent1">
                    <a:shade val="95000"/>
                    <a:satMod val="105000"/>
                  </a:schemeClr>
                </a:solidFill>
                <a:prstDash val="solid"/>
              </a14:hiddenLine>
            </a:ext>
          </a:ex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56" name="TextBox 55">
            <a:extLst>
              <a:ext uri="{FF2B5EF4-FFF2-40B4-BE49-F238E27FC236}">
                <a16:creationId xmlns:a16="http://schemas.microsoft.com/office/drawing/2014/main" id="{0B730CCA-4BF1-98C9-1E9B-B456CCBB894B}"/>
              </a:ext>
            </a:extLst>
          </p:cNvPr>
          <p:cNvSpPr txBox="1"/>
          <p:nvPr/>
        </p:nvSpPr>
        <p:spPr>
          <a:xfrm>
            <a:off x="8712200" y="4508500"/>
            <a:ext cx="1422400" cy="276999"/>
          </a:xfrm>
          <a:prstGeom prst="rect">
            <a:avLst/>
          </a:prstGeom>
          <a:noFill/>
        </p:spPr>
        <p:txBody>
          <a:bodyPr vert="horz" wrap="square" lIns="0" tIns="0" rIns="0" bIns="0" rtlCol="0" anchor="ctr">
            <a:noAutofit/>
          </a:bodyPr>
          <a:lstStyle/>
          <a:p>
            <a:pPr algn="ctr"/>
            <a:r>
              <a:rPr lang="en-US" sz="880" b="1">
                <a:solidFill>
                  <a:srgbClr val="F87171"/>
                </a:solidFill>
                <a:latin typeface="Aptos" panose="020B0004020202020204" pitchFamily="34" charset="0"/>
              </a:rPr>
              <a:t>privacy exposure</a:t>
            </a:r>
          </a:p>
        </p:txBody>
      </p:sp>
      <p:sp>
        <p:nvSpPr>
          <p:cNvPr id="57" name="Rectangle: Rounded Corners 56">
            <a:extLst>
              <a:ext uri="{FF2B5EF4-FFF2-40B4-BE49-F238E27FC236}">
                <a16:creationId xmlns:a16="http://schemas.microsoft.com/office/drawing/2014/main" id="{52B4C1B0-F3D2-6ADB-B541-05F45D258695}"/>
              </a:ext>
            </a:extLst>
          </p:cNvPr>
          <p:cNvSpPr/>
          <p:nvPr/>
        </p:nvSpPr>
        <p:spPr>
          <a:xfrm>
            <a:off x="10248900" y="4508500"/>
            <a:ext cx="1117600" cy="279400"/>
          </a:xfrm>
          <a:prstGeom prst="roundRect">
            <a:avLst/>
          </a:prstGeom>
          <a:solidFill>
            <a:srgbClr val="193047"/>
          </a:solidFill>
          <a:ln w="9525" cap="flat" cmpd="sng" algn="ctr">
            <a:noFill/>
            <a:prstDash val="solid"/>
          </a:ln>
          <a:effectLst>
            <a:outerShdw blurRad="40000" dist="23000" dir="5400000" rotWithShape="0">
              <a:srgbClr val="000000">
                <a:alpha val="35000"/>
              </a:srgbClr>
            </a:outerShdw>
          </a:effectLst>
          <a:extLst>
            <a:ext uri="{91240B29-F687-4F45-9708-019B960494DF}">
              <a14:hiddenLine xmlns:a14="http://schemas.microsoft.com/office/drawing/2010/main" w="9525" cap="flat" cmpd="sng" algn="ctr">
                <a:solidFill>
                  <a:schemeClr val="accent1">
                    <a:shade val="95000"/>
                    <a:satMod val="105000"/>
                  </a:schemeClr>
                </a:solidFill>
                <a:prstDash val="solid"/>
              </a14:hiddenLine>
            </a:ext>
          </a:ex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58" name="TextBox 57">
            <a:extLst>
              <a:ext uri="{FF2B5EF4-FFF2-40B4-BE49-F238E27FC236}">
                <a16:creationId xmlns:a16="http://schemas.microsoft.com/office/drawing/2014/main" id="{7B49407A-C3A5-24DC-4CAB-472CB1756F02}"/>
              </a:ext>
            </a:extLst>
          </p:cNvPr>
          <p:cNvSpPr txBox="1"/>
          <p:nvPr/>
        </p:nvSpPr>
        <p:spPr>
          <a:xfrm>
            <a:off x="10248900" y="4508500"/>
            <a:ext cx="1117600" cy="276999"/>
          </a:xfrm>
          <a:prstGeom prst="rect">
            <a:avLst/>
          </a:prstGeom>
          <a:noFill/>
        </p:spPr>
        <p:txBody>
          <a:bodyPr vert="horz" wrap="square" lIns="0" tIns="0" rIns="0" bIns="0" rtlCol="0" anchor="ctr">
            <a:noAutofit/>
          </a:bodyPr>
          <a:lstStyle/>
          <a:p>
            <a:pPr algn="ctr"/>
            <a:r>
              <a:rPr lang="en-US" sz="880" b="1">
                <a:solidFill>
                  <a:srgbClr val="F87171"/>
                </a:solidFill>
                <a:latin typeface="Aptos" panose="020B0004020202020204" pitchFamily="34" charset="0"/>
              </a:rPr>
              <a:t>bottleneck</a:t>
            </a:r>
          </a:p>
        </p:txBody>
      </p:sp>
      <p:sp>
        <p:nvSpPr>
          <p:cNvPr id="59" name="Rectangle: Rounded Corners 58">
            <a:extLst>
              <a:ext uri="{FF2B5EF4-FFF2-40B4-BE49-F238E27FC236}">
                <a16:creationId xmlns:a16="http://schemas.microsoft.com/office/drawing/2014/main" id="{DE9645B5-EE5D-34B3-95F9-5DAC0EFCA058}"/>
              </a:ext>
            </a:extLst>
          </p:cNvPr>
          <p:cNvSpPr/>
          <p:nvPr/>
        </p:nvSpPr>
        <p:spPr>
          <a:xfrm>
            <a:off x="558800" y="5486400"/>
            <a:ext cx="11074400" cy="736600"/>
          </a:xfrm>
          <a:prstGeom prst="roundRect">
            <a:avLst/>
          </a:prstGeom>
          <a:solidFill>
            <a:srgbClr val="14283D"/>
          </a:solidFill>
          <a:ln w="12700">
            <a:solidFill>
              <a:srgbClr val="2F4962"/>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60" name="TextBox 59">
            <a:extLst>
              <a:ext uri="{FF2B5EF4-FFF2-40B4-BE49-F238E27FC236}">
                <a16:creationId xmlns:a16="http://schemas.microsoft.com/office/drawing/2014/main" id="{4843327A-16E6-464E-7C3B-757CEF22D9E8}"/>
              </a:ext>
            </a:extLst>
          </p:cNvPr>
          <p:cNvSpPr txBox="1"/>
          <p:nvPr/>
        </p:nvSpPr>
        <p:spPr>
          <a:xfrm>
            <a:off x="838200" y="5626100"/>
            <a:ext cx="1244600" cy="276999"/>
          </a:xfrm>
          <a:prstGeom prst="rect">
            <a:avLst/>
          </a:prstGeom>
          <a:noFill/>
        </p:spPr>
        <p:txBody>
          <a:bodyPr vert="horz" wrap="square" lIns="0" tIns="0" rIns="0" bIns="0" rtlCol="0" anchor="t">
            <a:noAutofit/>
          </a:bodyPr>
          <a:lstStyle/>
          <a:p>
            <a:r>
              <a:rPr lang="en-US" sz="2000" b="1">
                <a:solidFill>
                  <a:srgbClr val="10C58B"/>
                </a:solidFill>
                <a:latin typeface="Aptos" panose="020B0004020202020204" pitchFamily="34" charset="0"/>
              </a:rPr>
              <a:t>122,171</a:t>
            </a:r>
          </a:p>
        </p:txBody>
      </p:sp>
      <p:sp>
        <p:nvSpPr>
          <p:cNvPr id="61" name="TextBox 60">
            <a:extLst>
              <a:ext uri="{FF2B5EF4-FFF2-40B4-BE49-F238E27FC236}">
                <a16:creationId xmlns:a16="http://schemas.microsoft.com/office/drawing/2014/main" id="{D3F52561-D40C-DFBE-94E1-F23D66843CFB}"/>
              </a:ext>
            </a:extLst>
          </p:cNvPr>
          <p:cNvSpPr txBox="1"/>
          <p:nvPr/>
        </p:nvSpPr>
        <p:spPr>
          <a:xfrm>
            <a:off x="2095500" y="5676900"/>
            <a:ext cx="2540000" cy="276999"/>
          </a:xfrm>
          <a:prstGeom prst="rect">
            <a:avLst/>
          </a:prstGeom>
          <a:noFill/>
        </p:spPr>
        <p:txBody>
          <a:bodyPr vert="horz" wrap="square" lIns="0" tIns="0" rIns="0" bIns="0" rtlCol="0" anchor="t">
            <a:noAutofit/>
          </a:bodyPr>
          <a:lstStyle/>
          <a:p>
            <a:r>
              <a:rPr lang="en-US" sz="1100" b="1">
                <a:solidFill>
                  <a:srgbClr val="F8FAFC"/>
                </a:solidFill>
                <a:latin typeface="Aptos" panose="020B0004020202020204" pitchFamily="34" charset="0"/>
              </a:rPr>
              <a:t>verified UAV network flows</a:t>
            </a:r>
          </a:p>
        </p:txBody>
      </p:sp>
      <p:cxnSp>
        <p:nvCxnSpPr>
          <p:cNvPr id="62" name="Straight Connector 61">
            <a:extLst>
              <a:ext uri="{FF2B5EF4-FFF2-40B4-BE49-F238E27FC236}">
                <a16:creationId xmlns:a16="http://schemas.microsoft.com/office/drawing/2014/main" id="{6EFB11CA-C473-6421-4CF0-A664E4D34E15}"/>
              </a:ext>
            </a:extLst>
          </p:cNvPr>
          <p:cNvCxnSpPr/>
          <p:nvPr/>
        </p:nvCxnSpPr>
        <p:spPr>
          <a:xfrm>
            <a:off x="4953000" y="5626100"/>
            <a:ext cx="0" cy="444500"/>
          </a:xfrm>
          <a:prstGeom prst="line">
            <a:avLst/>
          </a:prstGeom>
          <a:ln w="12700" cap="flat" cmpd="sng" algn="ctr">
            <a:solidFill>
              <a:srgbClr val="2F4962"/>
            </a:solidFill>
            <a:prstDash val="solid"/>
            <a:round/>
            <a:headEnd type="none" w="med" len="med"/>
            <a:tailEnd type="none" w="med" len="med"/>
          </a:ln>
        </p:spPr>
        <p:style>
          <a:lnRef idx="2">
            <a:schemeClr val="accent1"/>
          </a:lnRef>
          <a:fillRef idx="0">
            <a:schemeClr val="accent1"/>
          </a:fillRef>
          <a:effectRef idx="1">
            <a:schemeClr val="accent1"/>
          </a:effectRef>
          <a:fontRef idx="minor">
            <a:schemeClr val="tx1"/>
          </a:fontRef>
        </p:style>
      </p:cxnSp>
      <p:sp>
        <p:nvSpPr>
          <p:cNvPr id="63" name="TextBox 62">
            <a:extLst>
              <a:ext uri="{FF2B5EF4-FFF2-40B4-BE49-F238E27FC236}">
                <a16:creationId xmlns:a16="http://schemas.microsoft.com/office/drawing/2014/main" id="{1B24C6E5-1058-CC57-D46A-4B2834F2AC40}"/>
              </a:ext>
            </a:extLst>
          </p:cNvPr>
          <p:cNvSpPr txBox="1"/>
          <p:nvPr/>
        </p:nvSpPr>
        <p:spPr>
          <a:xfrm>
            <a:off x="5308600" y="5676900"/>
            <a:ext cx="2794000" cy="276999"/>
          </a:xfrm>
          <a:prstGeom prst="rect">
            <a:avLst/>
          </a:prstGeom>
          <a:noFill/>
        </p:spPr>
        <p:txBody>
          <a:bodyPr vert="horz" wrap="square" lIns="0" tIns="0" rIns="0" bIns="0" rtlCol="0" anchor="t">
            <a:noAutofit/>
          </a:bodyPr>
          <a:lstStyle/>
          <a:p>
            <a:r>
              <a:rPr lang="en-US" sz="1000" b="1">
                <a:solidFill>
                  <a:srgbClr val="F8FAFC"/>
                </a:solidFill>
                <a:latin typeface="Aptos" panose="020B0004020202020204" pitchFamily="34" charset="0"/>
              </a:rPr>
              <a:t>NORMAL + 4 ATTACK FAMILIES</a:t>
            </a:r>
          </a:p>
        </p:txBody>
      </p:sp>
      <p:sp>
        <p:nvSpPr>
          <p:cNvPr id="64" name="TextBox 63">
            <a:extLst>
              <a:ext uri="{FF2B5EF4-FFF2-40B4-BE49-F238E27FC236}">
                <a16:creationId xmlns:a16="http://schemas.microsoft.com/office/drawing/2014/main" id="{0320DA8D-967A-02A3-08C7-090587B2B664}"/>
              </a:ext>
            </a:extLst>
          </p:cNvPr>
          <p:cNvSpPr txBox="1"/>
          <p:nvPr/>
        </p:nvSpPr>
        <p:spPr>
          <a:xfrm>
            <a:off x="5308600" y="5918200"/>
            <a:ext cx="3175000" cy="276999"/>
          </a:xfrm>
          <a:prstGeom prst="rect">
            <a:avLst/>
          </a:prstGeom>
          <a:noFill/>
        </p:spPr>
        <p:txBody>
          <a:bodyPr vert="horz" wrap="square" lIns="0" tIns="0" rIns="0" bIns="0" rtlCol="0" anchor="t">
            <a:noAutofit/>
          </a:bodyPr>
          <a:lstStyle/>
          <a:p>
            <a:r>
              <a:rPr lang="en-US" sz="900">
                <a:solidFill>
                  <a:srgbClr val="A4B4C7"/>
                </a:solidFill>
                <a:latin typeface="Aptos" panose="020B0004020202020204" pitchFamily="34" charset="0"/>
              </a:rPr>
              <a:t>Blackhole | Flooding | Sybil | Wormhole</a:t>
            </a:r>
          </a:p>
        </p:txBody>
      </p:sp>
      <p:cxnSp>
        <p:nvCxnSpPr>
          <p:cNvPr id="65" name="Straight Connector 64">
            <a:extLst>
              <a:ext uri="{FF2B5EF4-FFF2-40B4-BE49-F238E27FC236}">
                <a16:creationId xmlns:a16="http://schemas.microsoft.com/office/drawing/2014/main" id="{CC6E3158-D32D-A2CE-036E-3E607FA78359}"/>
              </a:ext>
            </a:extLst>
          </p:cNvPr>
          <p:cNvCxnSpPr/>
          <p:nvPr/>
        </p:nvCxnSpPr>
        <p:spPr>
          <a:xfrm>
            <a:off x="8699500" y="5626100"/>
            <a:ext cx="0" cy="444500"/>
          </a:xfrm>
          <a:prstGeom prst="line">
            <a:avLst/>
          </a:prstGeom>
          <a:ln w="12700" cap="flat" cmpd="sng" algn="ctr">
            <a:solidFill>
              <a:srgbClr val="2F4962"/>
            </a:solidFill>
            <a:prstDash val="solid"/>
            <a:round/>
            <a:headEnd type="none" w="med" len="med"/>
            <a:tailEnd type="none" w="med" len="med"/>
          </a:ln>
        </p:spPr>
        <p:style>
          <a:lnRef idx="2">
            <a:schemeClr val="accent1"/>
          </a:lnRef>
          <a:fillRef idx="0">
            <a:schemeClr val="accent1"/>
          </a:fillRef>
          <a:effectRef idx="1">
            <a:schemeClr val="accent1"/>
          </a:effectRef>
          <a:fontRef idx="minor">
            <a:schemeClr val="tx1"/>
          </a:fontRef>
        </p:style>
      </p:cxnSp>
      <p:sp>
        <p:nvSpPr>
          <p:cNvPr id="66" name="TextBox 65">
            <a:extLst>
              <a:ext uri="{FF2B5EF4-FFF2-40B4-BE49-F238E27FC236}">
                <a16:creationId xmlns:a16="http://schemas.microsoft.com/office/drawing/2014/main" id="{2869AB51-6679-485C-9356-1729084BA2B2}"/>
              </a:ext>
            </a:extLst>
          </p:cNvPr>
          <p:cNvSpPr txBox="1"/>
          <p:nvPr/>
        </p:nvSpPr>
        <p:spPr>
          <a:xfrm>
            <a:off x="9042400" y="5651500"/>
            <a:ext cx="1143000" cy="276999"/>
          </a:xfrm>
          <a:prstGeom prst="rect">
            <a:avLst/>
          </a:prstGeom>
          <a:noFill/>
        </p:spPr>
        <p:txBody>
          <a:bodyPr vert="horz" wrap="square" lIns="0" tIns="0" rIns="0" bIns="0" rtlCol="0" anchor="t">
            <a:noAutofit/>
          </a:bodyPr>
          <a:lstStyle/>
          <a:p>
            <a:r>
              <a:rPr lang="en-US" sz="900" b="1">
                <a:solidFill>
                  <a:srgbClr val="778CA3"/>
                </a:solidFill>
                <a:latin typeface="Aptos" panose="020B0004020202020204" pitchFamily="34" charset="0"/>
              </a:rPr>
              <a:t>BINARY GOAL</a:t>
            </a:r>
          </a:p>
        </p:txBody>
      </p:sp>
      <p:sp>
        <p:nvSpPr>
          <p:cNvPr id="67" name="TextBox 66">
            <a:extLst>
              <a:ext uri="{FF2B5EF4-FFF2-40B4-BE49-F238E27FC236}">
                <a16:creationId xmlns:a16="http://schemas.microsoft.com/office/drawing/2014/main" id="{55A7A75C-E389-0D14-C3A2-96C298715CFE}"/>
              </a:ext>
            </a:extLst>
          </p:cNvPr>
          <p:cNvSpPr txBox="1"/>
          <p:nvPr/>
        </p:nvSpPr>
        <p:spPr>
          <a:xfrm>
            <a:off x="9042400" y="5880100"/>
            <a:ext cx="2032000" cy="276999"/>
          </a:xfrm>
          <a:prstGeom prst="rect">
            <a:avLst/>
          </a:prstGeom>
          <a:noFill/>
        </p:spPr>
        <p:txBody>
          <a:bodyPr vert="horz" wrap="square" lIns="0" tIns="0" rIns="0" bIns="0" rtlCol="0" anchor="t">
            <a:noAutofit/>
          </a:bodyPr>
          <a:lstStyle/>
          <a:p>
            <a:r>
              <a:rPr lang="en-US" sz="1100" b="1">
                <a:solidFill>
                  <a:srgbClr val="F8FAFC"/>
                </a:solidFill>
                <a:latin typeface="Aptos" panose="020B0004020202020204" pitchFamily="34" charset="0"/>
              </a:rPr>
              <a:t>Normal or Attack</a:t>
            </a:r>
          </a:p>
        </p:txBody>
      </p:sp>
    </p:spTree>
    <p:extLst>
      <p:ext uri="{BB962C8B-B14F-4D97-AF65-F5344CB8AC3E}">
        <p14:creationId xmlns:p14="http://schemas.microsoft.com/office/powerpoint/2010/main" val="3758790117"/>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bg>
      <p:bgPr>
        <a:solidFill>
          <a:srgbClr val="081422"/>
        </a:solidFill>
        <a:effectLst/>
      </p:bgPr>
    </p:bg>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359242B1-DFD2-78A0-B4AB-F2931EE307EA}"/>
              </a:ext>
            </a:extLst>
          </p:cNvPr>
          <p:cNvSpPr txBox="1"/>
          <p:nvPr/>
        </p:nvSpPr>
        <p:spPr>
          <a:xfrm>
            <a:off x="558800" y="304800"/>
            <a:ext cx="4445000" cy="276999"/>
          </a:xfrm>
          <a:prstGeom prst="rect">
            <a:avLst/>
          </a:prstGeom>
          <a:noFill/>
        </p:spPr>
        <p:txBody>
          <a:bodyPr vert="horz" wrap="square" lIns="0" tIns="0" rIns="0" bIns="0" rtlCol="0" anchor="t">
            <a:noAutofit/>
          </a:bodyPr>
          <a:lstStyle/>
          <a:p>
            <a:r>
              <a:rPr lang="en-US" sz="1000" b="1">
                <a:solidFill>
                  <a:srgbClr val="10C58B"/>
                </a:solidFill>
                <a:latin typeface="Aptos" panose="020B0004020202020204" pitchFamily="34" charset="0"/>
              </a:rPr>
              <a:t>OUR RESPONSE</a:t>
            </a:r>
          </a:p>
        </p:txBody>
      </p:sp>
      <p:sp>
        <p:nvSpPr>
          <p:cNvPr id="3" name="TextBox 2">
            <a:extLst>
              <a:ext uri="{FF2B5EF4-FFF2-40B4-BE49-F238E27FC236}">
                <a16:creationId xmlns:a16="http://schemas.microsoft.com/office/drawing/2014/main" id="{A129C877-1EE4-0988-1A1D-C5587BB4BE8B}"/>
              </a:ext>
            </a:extLst>
          </p:cNvPr>
          <p:cNvSpPr txBox="1"/>
          <p:nvPr/>
        </p:nvSpPr>
        <p:spPr>
          <a:xfrm>
            <a:off x="558800" y="571500"/>
            <a:ext cx="9906000" cy="276999"/>
          </a:xfrm>
          <a:prstGeom prst="rect">
            <a:avLst/>
          </a:prstGeom>
          <a:noFill/>
        </p:spPr>
        <p:txBody>
          <a:bodyPr vert="horz" wrap="square" lIns="0" tIns="0" rIns="0" bIns="0" rtlCol="0" anchor="t">
            <a:noAutofit/>
          </a:bodyPr>
          <a:lstStyle/>
          <a:p>
            <a:r>
              <a:rPr lang="en-US" sz="2800" b="1">
                <a:solidFill>
                  <a:srgbClr val="F8FAFC"/>
                </a:solidFill>
                <a:latin typeface="Aptos Display" panose="020B0004020202020204" pitchFamily="34" charset="0"/>
              </a:rPr>
              <a:t>Train locally. Learn together. Protect every exchange.</a:t>
            </a:r>
          </a:p>
        </p:txBody>
      </p:sp>
      <p:sp>
        <p:nvSpPr>
          <p:cNvPr id="4" name="TextBox 3">
            <a:extLst>
              <a:ext uri="{FF2B5EF4-FFF2-40B4-BE49-F238E27FC236}">
                <a16:creationId xmlns:a16="http://schemas.microsoft.com/office/drawing/2014/main" id="{B4EB1684-1E65-6CFF-49AA-2F59AFA03BAA}"/>
              </a:ext>
            </a:extLst>
          </p:cNvPr>
          <p:cNvSpPr txBox="1"/>
          <p:nvPr/>
        </p:nvSpPr>
        <p:spPr>
          <a:xfrm>
            <a:off x="10998200" y="355600"/>
            <a:ext cx="635000" cy="276999"/>
          </a:xfrm>
          <a:prstGeom prst="rect">
            <a:avLst/>
          </a:prstGeom>
          <a:noFill/>
        </p:spPr>
        <p:txBody>
          <a:bodyPr vert="horz" wrap="square" lIns="0" tIns="0" rIns="0" bIns="0" rtlCol="0" anchor="t">
            <a:noAutofit/>
          </a:bodyPr>
          <a:lstStyle/>
          <a:p>
            <a:pPr algn="r"/>
            <a:r>
              <a:rPr lang="en-US" sz="1000" b="1">
                <a:solidFill>
                  <a:srgbClr val="778CA3"/>
                </a:solidFill>
                <a:latin typeface="Aptos" panose="020B0004020202020204" pitchFamily="34" charset="0"/>
              </a:rPr>
              <a:t>02</a:t>
            </a:r>
          </a:p>
        </p:txBody>
      </p:sp>
      <p:cxnSp>
        <p:nvCxnSpPr>
          <p:cNvPr id="5" name="Straight Connector 4">
            <a:extLst>
              <a:ext uri="{FF2B5EF4-FFF2-40B4-BE49-F238E27FC236}">
                <a16:creationId xmlns:a16="http://schemas.microsoft.com/office/drawing/2014/main" id="{8C6946EB-FAC1-F62D-03FD-642BD6B91D9D}"/>
              </a:ext>
            </a:extLst>
          </p:cNvPr>
          <p:cNvCxnSpPr/>
          <p:nvPr/>
        </p:nvCxnSpPr>
        <p:spPr>
          <a:xfrm>
            <a:off x="558800" y="1193800"/>
            <a:ext cx="11074400" cy="0"/>
          </a:xfrm>
          <a:prstGeom prst="line">
            <a:avLst/>
          </a:prstGeom>
          <a:ln w="12700" cap="flat" cmpd="sng" algn="ctr">
            <a:solidFill>
              <a:srgbClr val="2F4962">
                <a:alpha val="80000"/>
              </a:srgbClr>
            </a:solidFill>
            <a:prstDash val="solid"/>
            <a:round/>
            <a:headEnd type="none" w="med" len="med"/>
            <a:tailEnd type="none" w="med" len="med"/>
          </a:ln>
        </p:spPr>
        <p:style>
          <a:lnRef idx="2">
            <a:schemeClr val="accent1"/>
          </a:lnRef>
          <a:fillRef idx="0">
            <a:schemeClr val="accent1"/>
          </a:fillRef>
          <a:effectRef idx="1">
            <a:schemeClr val="accent1"/>
          </a:effectRef>
          <a:fontRef idx="minor">
            <a:schemeClr val="tx1"/>
          </a:fontRef>
        </p:style>
      </p:cxnSp>
      <p:sp>
        <p:nvSpPr>
          <p:cNvPr id="6" name="TextBox 5">
            <a:extLst>
              <a:ext uri="{FF2B5EF4-FFF2-40B4-BE49-F238E27FC236}">
                <a16:creationId xmlns:a16="http://schemas.microsoft.com/office/drawing/2014/main" id="{3509415A-40CE-1DB0-95E0-1A394C6F80E3}"/>
              </a:ext>
            </a:extLst>
          </p:cNvPr>
          <p:cNvSpPr txBox="1"/>
          <p:nvPr/>
        </p:nvSpPr>
        <p:spPr>
          <a:xfrm>
            <a:off x="558800" y="6553200"/>
            <a:ext cx="5334000" cy="276999"/>
          </a:xfrm>
          <a:prstGeom prst="rect">
            <a:avLst/>
          </a:prstGeom>
          <a:noFill/>
        </p:spPr>
        <p:txBody>
          <a:bodyPr vert="horz" wrap="square" lIns="0" tIns="0" rIns="0" bIns="0" rtlCol="0" anchor="t">
            <a:noAutofit/>
          </a:bodyPr>
          <a:lstStyle/>
          <a:p>
            <a:r>
              <a:rPr lang="en-US" sz="850">
                <a:solidFill>
                  <a:srgbClr val="778CA3"/>
                </a:solidFill>
                <a:latin typeface="Aptos" panose="020B0004020202020204" pitchFamily="34" charset="0"/>
              </a:rPr>
              <a:t>KAUST Academy  |  Cybersecurity Specialization</a:t>
            </a:r>
          </a:p>
        </p:txBody>
      </p:sp>
      <p:sp>
        <p:nvSpPr>
          <p:cNvPr id="7" name="Rectangle: Rounded Corners 6">
            <a:extLst>
              <a:ext uri="{FF2B5EF4-FFF2-40B4-BE49-F238E27FC236}">
                <a16:creationId xmlns:a16="http://schemas.microsoft.com/office/drawing/2014/main" id="{8D6D2086-103D-D65F-6B41-576E4FC7F518}"/>
              </a:ext>
            </a:extLst>
          </p:cNvPr>
          <p:cNvSpPr/>
          <p:nvPr/>
        </p:nvSpPr>
        <p:spPr>
          <a:xfrm>
            <a:off x="558800" y="1803400"/>
            <a:ext cx="2514600" cy="3175000"/>
          </a:xfrm>
          <a:prstGeom prst="roundRect">
            <a:avLst/>
          </a:prstGeom>
          <a:solidFill>
            <a:srgbClr val="14283D"/>
          </a:solidFill>
          <a:ln w="12700">
            <a:solidFill>
              <a:srgbClr val="2F4962"/>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8" name="Oval 7">
            <a:extLst>
              <a:ext uri="{FF2B5EF4-FFF2-40B4-BE49-F238E27FC236}">
                <a16:creationId xmlns:a16="http://schemas.microsoft.com/office/drawing/2014/main" id="{36514B5A-ACA3-EEF0-711B-D074E1095E7D}"/>
              </a:ext>
            </a:extLst>
          </p:cNvPr>
          <p:cNvSpPr/>
          <p:nvPr/>
        </p:nvSpPr>
        <p:spPr>
          <a:xfrm>
            <a:off x="787400" y="2057400"/>
            <a:ext cx="457200" cy="457200"/>
          </a:xfrm>
          <a:prstGeom prst="ellipse">
            <a:avLst/>
          </a:prstGeom>
          <a:solidFill>
            <a:srgbClr val="0D1E31"/>
          </a:solidFill>
          <a:ln w="17780">
            <a:solidFill>
              <a:srgbClr val="10C58B"/>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9" name="TextBox 8">
            <a:extLst>
              <a:ext uri="{FF2B5EF4-FFF2-40B4-BE49-F238E27FC236}">
                <a16:creationId xmlns:a16="http://schemas.microsoft.com/office/drawing/2014/main" id="{DF05D548-B605-EA12-253F-EFC2A800EAEA}"/>
              </a:ext>
            </a:extLst>
          </p:cNvPr>
          <p:cNvSpPr txBox="1"/>
          <p:nvPr/>
        </p:nvSpPr>
        <p:spPr>
          <a:xfrm>
            <a:off x="787400" y="2057400"/>
            <a:ext cx="457200" cy="276999"/>
          </a:xfrm>
          <a:prstGeom prst="rect">
            <a:avLst/>
          </a:prstGeom>
          <a:noFill/>
        </p:spPr>
        <p:txBody>
          <a:bodyPr vert="horz" wrap="square" lIns="0" tIns="0" rIns="0" bIns="0" rtlCol="0" anchor="ctr">
            <a:noAutofit/>
          </a:bodyPr>
          <a:lstStyle/>
          <a:p>
            <a:pPr algn="ctr"/>
            <a:r>
              <a:rPr lang="en-US" sz="1100" b="1">
                <a:solidFill>
                  <a:srgbClr val="10C58B"/>
                </a:solidFill>
                <a:latin typeface="Aptos" panose="020B0004020202020204" pitchFamily="34" charset="0"/>
              </a:rPr>
              <a:t>01</a:t>
            </a:r>
          </a:p>
        </p:txBody>
      </p:sp>
      <p:sp>
        <p:nvSpPr>
          <p:cNvPr id="10" name="Rectangle: Rounded Corners 9">
            <a:extLst>
              <a:ext uri="{FF2B5EF4-FFF2-40B4-BE49-F238E27FC236}">
                <a16:creationId xmlns:a16="http://schemas.microsoft.com/office/drawing/2014/main" id="{61944438-7D38-3608-88BB-C0115AD25F2D}"/>
              </a:ext>
            </a:extLst>
          </p:cNvPr>
          <p:cNvSpPr/>
          <p:nvPr/>
        </p:nvSpPr>
        <p:spPr>
          <a:xfrm>
            <a:off x="1422400" y="2120900"/>
            <a:ext cx="1320800" cy="279400"/>
          </a:xfrm>
          <a:prstGeom prst="roundRect">
            <a:avLst/>
          </a:prstGeom>
          <a:solidFill>
            <a:srgbClr val="0D1E31"/>
          </a:solidFill>
          <a:ln w="9525" cap="flat" cmpd="sng" algn="ctr">
            <a:noFill/>
            <a:prstDash val="solid"/>
          </a:ln>
          <a:effectLst>
            <a:outerShdw blurRad="40000" dist="23000" dir="5400000" rotWithShape="0">
              <a:srgbClr val="000000">
                <a:alpha val="35000"/>
              </a:srgbClr>
            </a:outerShdw>
          </a:effectLst>
          <a:extLst>
            <a:ext uri="{91240B29-F687-4F45-9708-019B960494DF}">
              <a14:hiddenLine xmlns:a14="http://schemas.microsoft.com/office/drawing/2010/main" w="9525" cap="flat" cmpd="sng" algn="ctr">
                <a:solidFill>
                  <a:schemeClr val="accent1">
                    <a:shade val="95000"/>
                    <a:satMod val="105000"/>
                  </a:schemeClr>
                </a:solidFill>
                <a:prstDash val="solid"/>
              </a14:hiddenLine>
            </a:ext>
          </a:ex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11" name="TextBox 10">
            <a:extLst>
              <a:ext uri="{FF2B5EF4-FFF2-40B4-BE49-F238E27FC236}">
                <a16:creationId xmlns:a16="http://schemas.microsoft.com/office/drawing/2014/main" id="{3C337D3D-864D-2B4B-EEE7-481E28A42B35}"/>
              </a:ext>
            </a:extLst>
          </p:cNvPr>
          <p:cNvSpPr txBox="1"/>
          <p:nvPr/>
        </p:nvSpPr>
        <p:spPr>
          <a:xfrm>
            <a:off x="1422400" y="2120900"/>
            <a:ext cx="1320800" cy="276999"/>
          </a:xfrm>
          <a:prstGeom prst="rect">
            <a:avLst/>
          </a:prstGeom>
          <a:noFill/>
        </p:spPr>
        <p:txBody>
          <a:bodyPr vert="horz" wrap="square" lIns="0" tIns="0" rIns="0" bIns="0" rtlCol="0" anchor="ctr">
            <a:noAutofit/>
          </a:bodyPr>
          <a:lstStyle/>
          <a:p>
            <a:pPr algn="ctr"/>
            <a:r>
              <a:rPr lang="en-US" sz="850" b="1">
                <a:solidFill>
                  <a:srgbClr val="10C58B"/>
                </a:solidFill>
                <a:latin typeface="Aptos" panose="020B0004020202020204" pitchFamily="34" charset="0"/>
              </a:rPr>
              <a:t>LOCAL DATA</a:t>
            </a:r>
          </a:p>
        </p:txBody>
      </p:sp>
      <p:sp>
        <p:nvSpPr>
          <p:cNvPr id="12" name="TextBox 11">
            <a:extLst>
              <a:ext uri="{FF2B5EF4-FFF2-40B4-BE49-F238E27FC236}">
                <a16:creationId xmlns:a16="http://schemas.microsoft.com/office/drawing/2014/main" id="{79DBB297-0B53-A263-C102-97A553DDD189}"/>
              </a:ext>
            </a:extLst>
          </p:cNvPr>
          <p:cNvSpPr txBox="1"/>
          <p:nvPr/>
        </p:nvSpPr>
        <p:spPr>
          <a:xfrm>
            <a:off x="787400" y="2819400"/>
            <a:ext cx="2057400" cy="276999"/>
          </a:xfrm>
          <a:prstGeom prst="rect">
            <a:avLst/>
          </a:prstGeom>
          <a:noFill/>
        </p:spPr>
        <p:txBody>
          <a:bodyPr vert="horz" wrap="square" lIns="0" tIns="0" rIns="0" bIns="0" rtlCol="0" anchor="ctr">
            <a:noAutofit/>
          </a:bodyPr>
          <a:lstStyle/>
          <a:p>
            <a:pPr algn="ctr"/>
            <a:r>
              <a:rPr lang="en-US" sz="1700" b="1">
                <a:solidFill>
                  <a:srgbClr val="F8FAFC"/>
                </a:solidFill>
                <a:latin typeface="Aptos" panose="020B0004020202020204" pitchFamily="34" charset="0"/>
              </a:rPr>
              <a:t>Local ownership</a:t>
            </a:r>
          </a:p>
        </p:txBody>
      </p:sp>
      <p:sp>
        <p:nvSpPr>
          <p:cNvPr id="13" name="TextBox 12">
            <a:extLst>
              <a:ext uri="{FF2B5EF4-FFF2-40B4-BE49-F238E27FC236}">
                <a16:creationId xmlns:a16="http://schemas.microsoft.com/office/drawing/2014/main" id="{35752EF1-3624-754A-29D7-9A6BF7F4E730}"/>
              </a:ext>
            </a:extLst>
          </p:cNvPr>
          <p:cNvSpPr txBox="1"/>
          <p:nvPr/>
        </p:nvSpPr>
        <p:spPr>
          <a:xfrm>
            <a:off x="838200" y="3581400"/>
            <a:ext cx="1955800" cy="276999"/>
          </a:xfrm>
          <a:prstGeom prst="rect">
            <a:avLst/>
          </a:prstGeom>
          <a:noFill/>
        </p:spPr>
        <p:txBody>
          <a:bodyPr vert="horz" wrap="square" lIns="0" tIns="0" rIns="0" bIns="0" rtlCol="0" anchor="t">
            <a:noAutofit/>
          </a:bodyPr>
          <a:lstStyle/>
          <a:p>
            <a:pPr algn="ctr"/>
            <a:r>
              <a:rPr lang="en-US" sz="1100">
                <a:solidFill>
                  <a:srgbClr val="A4B4C7"/>
                </a:solidFill>
                <a:latin typeface="Aptos" panose="020B0004020202020204" pitchFamily="34" charset="0"/>
              </a:rPr>
              <a:t>Each client learns from its own isolated partition.</a:t>
            </a:r>
          </a:p>
        </p:txBody>
      </p:sp>
      <p:sp>
        <p:nvSpPr>
          <p:cNvPr id="14" name="Rectangle: Rounded Corners 13">
            <a:extLst>
              <a:ext uri="{FF2B5EF4-FFF2-40B4-BE49-F238E27FC236}">
                <a16:creationId xmlns:a16="http://schemas.microsoft.com/office/drawing/2014/main" id="{632D4FAD-4C7D-41B1-B100-C927273537B5}"/>
              </a:ext>
            </a:extLst>
          </p:cNvPr>
          <p:cNvSpPr/>
          <p:nvPr/>
        </p:nvSpPr>
        <p:spPr>
          <a:xfrm>
            <a:off x="3378200" y="1803400"/>
            <a:ext cx="2514600" cy="3175000"/>
          </a:xfrm>
          <a:prstGeom prst="roundRect">
            <a:avLst/>
          </a:prstGeom>
          <a:solidFill>
            <a:srgbClr val="14283D"/>
          </a:solidFill>
          <a:ln w="12700">
            <a:solidFill>
              <a:srgbClr val="2F4962"/>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15" name="Oval 14">
            <a:extLst>
              <a:ext uri="{FF2B5EF4-FFF2-40B4-BE49-F238E27FC236}">
                <a16:creationId xmlns:a16="http://schemas.microsoft.com/office/drawing/2014/main" id="{D6CCB3E2-BA1E-AD5E-BDAF-14F2F867B8A0}"/>
              </a:ext>
            </a:extLst>
          </p:cNvPr>
          <p:cNvSpPr/>
          <p:nvPr/>
        </p:nvSpPr>
        <p:spPr>
          <a:xfrm>
            <a:off x="3606800" y="2057400"/>
            <a:ext cx="457200" cy="457200"/>
          </a:xfrm>
          <a:prstGeom prst="ellipse">
            <a:avLst/>
          </a:prstGeom>
          <a:solidFill>
            <a:srgbClr val="0D1E31"/>
          </a:solidFill>
          <a:ln w="17780">
            <a:solidFill>
              <a:srgbClr val="3B82F6"/>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16" name="TextBox 15">
            <a:extLst>
              <a:ext uri="{FF2B5EF4-FFF2-40B4-BE49-F238E27FC236}">
                <a16:creationId xmlns:a16="http://schemas.microsoft.com/office/drawing/2014/main" id="{B83F945F-0FF5-05BB-C18C-D2EA4AE77D43}"/>
              </a:ext>
            </a:extLst>
          </p:cNvPr>
          <p:cNvSpPr txBox="1"/>
          <p:nvPr/>
        </p:nvSpPr>
        <p:spPr>
          <a:xfrm>
            <a:off x="3606800" y="2057400"/>
            <a:ext cx="457200" cy="276999"/>
          </a:xfrm>
          <a:prstGeom prst="rect">
            <a:avLst/>
          </a:prstGeom>
          <a:noFill/>
        </p:spPr>
        <p:txBody>
          <a:bodyPr vert="horz" wrap="square" lIns="0" tIns="0" rIns="0" bIns="0" rtlCol="0" anchor="ctr">
            <a:noAutofit/>
          </a:bodyPr>
          <a:lstStyle/>
          <a:p>
            <a:pPr algn="ctr"/>
            <a:r>
              <a:rPr lang="en-US" sz="1100" b="1">
                <a:solidFill>
                  <a:srgbClr val="3B82F6"/>
                </a:solidFill>
                <a:latin typeface="Aptos" panose="020B0004020202020204" pitchFamily="34" charset="0"/>
              </a:rPr>
              <a:t>02</a:t>
            </a:r>
          </a:p>
        </p:txBody>
      </p:sp>
      <p:sp>
        <p:nvSpPr>
          <p:cNvPr id="17" name="Rectangle: Rounded Corners 16">
            <a:extLst>
              <a:ext uri="{FF2B5EF4-FFF2-40B4-BE49-F238E27FC236}">
                <a16:creationId xmlns:a16="http://schemas.microsoft.com/office/drawing/2014/main" id="{1D30C679-7471-1AF4-5EEC-571C5EF381B5}"/>
              </a:ext>
            </a:extLst>
          </p:cNvPr>
          <p:cNvSpPr/>
          <p:nvPr/>
        </p:nvSpPr>
        <p:spPr>
          <a:xfrm>
            <a:off x="4241800" y="2120900"/>
            <a:ext cx="1320800" cy="279400"/>
          </a:xfrm>
          <a:prstGeom prst="roundRect">
            <a:avLst/>
          </a:prstGeom>
          <a:solidFill>
            <a:srgbClr val="0D1E31"/>
          </a:solidFill>
          <a:ln w="9525" cap="flat" cmpd="sng" algn="ctr">
            <a:noFill/>
            <a:prstDash val="solid"/>
          </a:ln>
          <a:effectLst>
            <a:outerShdw blurRad="40000" dist="23000" dir="5400000" rotWithShape="0">
              <a:srgbClr val="000000">
                <a:alpha val="35000"/>
              </a:srgbClr>
            </a:outerShdw>
          </a:effectLst>
          <a:extLst>
            <a:ext uri="{91240B29-F687-4F45-9708-019B960494DF}">
              <a14:hiddenLine xmlns:a14="http://schemas.microsoft.com/office/drawing/2010/main" w="9525" cap="flat" cmpd="sng" algn="ctr">
                <a:solidFill>
                  <a:schemeClr val="accent1">
                    <a:shade val="95000"/>
                    <a:satMod val="105000"/>
                  </a:schemeClr>
                </a:solidFill>
                <a:prstDash val="solid"/>
              </a14:hiddenLine>
            </a:ext>
          </a:ex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18" name="TextBox 17">
            <a:extLst>
              <a:ext uri="{FF2B5EF4-FFF2-40B4-BE49-F238E27FC236}">
                <a16:creationId xmlns:a16="http://schemas.microsoft.com/office/drawing/2014/main" id="{598DB908-BE05-8A63-92E2-FB34B76CC322}"/>
              </a:ext>
            </a:extLst>
          </p:cNvPr>
          <p:cNvSpPr txBox="1"/>
          <p:nvPr/>
        </p:nvSpPr>
        <p:spPr>
          <a:xfrm>
            <a:off x="4241800" y="2120900"/>
            <a:ext cx="1320800" cy="276999"/>
          </a:xfrm>
          <a:prstGeom prst="rect">
            <a:avLst/>
          </a:prstGeom>
          <a:noFill/>
        </p:spPr>
        <p:txBody>
          <a:bodyPr vert="horz" wrap="square" lIns="0" tIns="0" rIns="0" bIns="0" rtlCol="0" anchor="ctr">
            <a:noAutofit/>
          </a:bodyPr>
          <a:lstStyle/>
          <a:p>
            <a:pPr algn="ctr"/>
            <a:r>
              <a:rPr lang="en-US" sz="850" b="1">
                <a:solidFill>
                  <a:srgbClr val="3B82F6"/>
                </a:solidFill>
                <a:latin typeface="Aptos" panose="020B0004020202020204" pitchFamily="34" charset="0"/>
              </a:rPr>
              <a:t>MODEL ONLY</a:t>
            </a:r>
          </a:p>
        </p:txBody>
      </p:sp>
      <p:sp>
        <p:nvSpPr>
          <p:cNvPr id="19" name="TextBox 18">
            <a:extLst>
              <a:ext uri="{FF2B5EF4-FFF2-40B4-BE49-F238E27FC236}">
                <a16:creationId xmlns:a16="http://schemas.microsoft.com/office/drawing/2014/main" id="{919C1B10-1393-A142-4645-D3B8954026DA}"/>
              </a:ext>
            </a:extLst>
          </p:cNvPr>
          <p:cNvSpPr txBox="1"/>
          <p:nvPr/>
        </p:nvSpPr>
        <p:spPr>
          <a:xfrm>
            <a:off x="3606800" y="2819400"/>
            <a:ext cx="2057400" cy="276999"/>
          </a:xfrm>
          <a:prstGeom prst="rect">
            <a:avLst/>
          </a:prstGeom>
          <a:noFill/>
        </p:spPr>
        <p:txBody>
          <a:bodyPr vert="horz" wrap="square" lIns="0" tIns="0" rIns="0" bIns="0" rtlCol="0" anchor="ctr">
            <a:noAutofit/>
          </a:bodyPr>
          <a:lstStyle/>
          <a:p>
            <a:pPr algn="ctr"/>
            <a:r>
              <a:rPr lang="en-US" sz="1700" b="1">
                <a:solidFill>
                  <a:srgbClr val="F8FAFC"/>
                </a:solidFill>
                <a:latin typeface="Aptos" panose="020B0004020202020204" pitchFamily="34" charset="0"/>
              </a:rPr>
              <a:t>Shared updates</a:t>
            </a:r>
          </a:p>
        </p:txBody>
      </p:sp>
      <p:sp>
        <p:nvSpPr>
          <p:cNvPr id="20" name="TextBox 19">
            <a:extLst>
              <a:ext uri="{FF2B5EF4-FFF2-40B4-BE49-F238E27FC236}">
                <a16:creationId xmlns:a16="http://schemas.microsoft.com/office/drawing/2014/main" id="{32FD5306-9E22-8324-CA45-D2F4280A0DB5}"/>
              </a:ext>
            </a:extLst>
          </p:cNvPr>
          <p:cNvSpPr txBox="1"/>
          <p:nvPr/>
        </p:nvSpPr>
        <p:spPr>
          <a:xfrm>
            <a:off x="3657600" y="3581400"/>
            <a:ext cx="1955800" cy="276999"/>
          </a:xfrm>
          <a:prstGeom prst="rect">
            <a:avLst/>
          </a:prstGeom>
          <a:noFill/>
        </p:spPr>
        <p:txBody>
          <a:bodyPr vert="horz" wrap="square" lIns="0" tIns="0" rIns="0" bIns="0" rtlCol="0" anchor="t">
            <a:noAutofit/>
          </a:bodyPr>
          <a:lstStyle/>
          <a:p>
            <a:pPr algn="ctr"/>
            <a:r>
              <a:rPr lang="en-US" sz="1100">
                <a:solidFill>
                  <a:srgbClr val="A4B4C7"/>
                </a:solidFill>
                <a:latin typeface="Aptos" panose="020B0004020202020204" pitchFamily="34" charset="0"/>
              </a:rPr>
              <a:t>Model updates move; raw training rows do not.</a:t>
            </a:r>
          </a:p>
        </p:txBody>
      </p:sp>
      <p:sp>
        <p:nvSpPr>
          <p:cNvPr id="21" name="Rectangle: Rounded Corners 20">
            <a:extLst>
              <a:ext uri="{FF2B5EF4-FFF2-40B4-BE49-F238E27FC236}">
                <a16:creationId xmlns:a16="http://schemas.microsoft.com/office/drawing/2014/main" id="{2478B082-1049-5DCF-07FC-8FB4D4EACE3D}"/>
              </a:ext>
            </a:extLst>
          </p:cNvPr>
          <p:cNvSpPr/>
          <p:nvPr/>
        </p:nvSpPr>
        <p:spPr>
          <a:xfrm>
            <a:off x="6197600" y="1803400"/>
            <a:ext cx="2514600" cy="3175000"/>
          </a:xfrm>
          <a:prstGeom prst="roundRect">
            <a:avLst/>
          </a:prstGeom>
          <a:solidFill>
            <a:srgbClr val="14283D"/>
          </a:solidFill>
          <a:ln w="12700">
            <a:solidFill>
              <a:srgbClr val="2F4962"/>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22" name="Oval 21">
            <a:extLst>
              <a:ext uri="{FF2B5EF4-FFF2-40B4-BE49-F238E27FC236}">
                <a16:creationId xmlns:a16="http://schemas.microsoft.com/office/drawing/2014/main" id="{6C27ACEA-4B1E-2576-B053-1D1E5DB48A0C}"/>
              </a:ext>
            </a:extLst>
          </p:cNvPr>
          <p:cNvSpPr/>
          <p:nvPr/>
        </p:nvSpPr>
        <p:spPr>
          <a:xfrm>
            <a:off x="6426200" y="2057400"/>
            <a:ext cx="457200" cy="457200"/>
          </a:xfrm>
          <a:prstGeom prst="ellipse">
            <a:avLst/>
          </a:prstGeom>
          <a:solidFill>
            <a:srgbClr val="0D1E31"/>
          </a:solidFill>
          <a:ln w="17780">
            <a:solidFill>
              <a:srgbClr val="10C58B"/>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23" name="TextBox 22">
            <a:extLst>
              <a:ext uri="{FF2B5EF4-FFF2-40B4-BE49-F238E27FC236}">
                <a16:creationId xmlns:a16="http://schemas.microsoft.com/office/drawing/2014/main" id="{EF0C23E9-6BA5-F822-9FB5-F03DE52EFB88}"/>
              </a:ext>
            </a:extLst>
          </p:cNvPr>
          <p:cNvSpPr txBox="1"/>
          <p:nvPr/>
        </p:nvSpPr>
        <p:spPr>
          <a:xfrm>
            <a:off x="6426200" y="2057400"/>
            <a:ext cx="457200" cy="276999"/>
          </a:xfrm>
          <a:prstGeom prst="rect">
            <a:avLst/>
          </a:prstGeom>
          <a:noFill/>
        </p:spPr>
        <p:txBody>
          <a:bodyPr vert="horz" wrap="square" lIns="0" tIns="0" rIns="0" bIns="0" rtlCol="0" anchor="ctr">
            <a:noAutofit/>
          </a:bodyPr>
          <a:lstStyle/>
          <a:p>
            <a:pPr algn="ctr"/>
            <a:r>
              <a:rPr lang="en-US" sz="1100" b="1">
                <a:solidFill>
                  <a:srgbClr val="10C58B"/>
                </a:solidFill>
                <a:latin typeface="Aptos" panose="020B0004020202020204" pitchFamily="34" charset="0"/>
              </a:rPr>
              <a:t>03</a:t>
            </a:r>
          </a:p>
        </p:txBody>
      </p:sp>
      <p:sp>
        <p:nvSpPr>
          <p:cNvPr id="24" name="Rectangle: Rounded Corners 23">
            <a:extLst>
              <a:ext uri="{FF2B5EF4-FFF2-40B4-BE49-F238E27FC236}">
                <a16:creationId xmlns:a16="http://schemas.microsoft.com/office/drawing/2014/main" id="{EBD5D8AC-E8D8-09DA-B786-95B5157EDE4F}"/>
              </a:ext>
            </a:extLst>
          </p:cNvPr>
          <p:cNvSpPr/>
          <p:nvPr/>
        </p:nvSpPr>
        <p:spPr>
          <a:xfrm>
            <a:off x="7061200" y="2120900"/>
            <a:ext cx="1320800" cy="279400"/>
          </a:xfrm>
          <a:prstGeom prst="roundRect">
            <a:avLst/>
          </a:prstGeom>
          <a:solidFill>
            <a:srgbClr val="0D1E31"/>
          </a:solidFill>
          <a:ln w="9525" cap="flat" cmpd="sng" algn="ctr">
            <a:noFill/>
            <a:prstDash val="solid"/>
          </a:ln>
          <a:effectLst>
            <a:outerShdw blurRad="40000" dist="23000" dir="5400000" rotWithShape="0">
              <a:srgbClr val="000000">
                <a:alpha val="35000"/>
              </a:srgbClr>
            </a:outerShdw>
          </a:effectLst>
          <a:extLst>
            <a:ext uri="{91240B29-F687-4F45-9708-019B960494DF}">
              <a14:hiddenLine xmlns:a14="http://schemas.microsoft.com/office/drawing/2010/main" w="9525" cap="flat" cmpd="sng" algn="ctr">
                <a:solidFill>
                  <a:schemeClr val="accent1">
                    <a:shade val="95000"/>
                    <a:satMod val="105000"/>
                  </a:schemeClr>
                </a:solidFill>
                <a:prstDash val="solid"/>
              </a14:hiddenLine>
            </a:ext>
          </a:ex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25" name="TextBox 24">
            <a:extLst>
              <a:ext uri="{FF2B5EF4-FFF2-40B4-BE49-F238E27FC236}">
                <a16:creationId xmlns:a16="http://schemas.microsoft.com/office/drawing/2014/main" id="{C9AD81BF-2E39-EF66-138A-FFF438D6C625}"/>
              </a:ext>
            </a:extLst>
          </p:cNvPr>
          <p:cNvSpPr txBox="1"/>
          <p:nvPr/>
        </p:nvSpPr>
        <p:spPr>
          <a:xfrm>
            <a:off x="7061200" y="2120900"/>
            <a:ext cx="1320800" cy="276999"/>
          </a:xfrm>
          <a:prstGeom prst="rect">
            <a:avLst/>
          </a:prstGeom>
          <a:noFill/>
        </p:spPr>
        <p:txBody>
          <a:bodyPr vert="horz" wrap="square" lIns="0" tIns="0" rIns="0" bIns="0" rtlCol="0" anchor="ctr">
            <a:noAutofit/>
          </a:bodyPr>
          <a:lstStyle/>
          <a:p>
            <a:pPr algn="ctr"/>
            <a:r>
              <a:rPr lang="en-US" sz="850" b="1">
                <a:solidFill>
                  <a:srgbClr val="10C58B"/>
                </a:solidFill>
                <a:latin typeface="Aptos" panose="020B0004020202020204" pitchFamily="34" charset="0"/>
              </a:rPr>
              <a:t>FEDAVG</a:t>
            </a:r>
          </a:p>
        </p:txBody>
      </p:sp>
      <p:sp>
        <p:nvSpPr>
          <p:cNvPr id="26" name="TextBox 25">
            <a:extLst>
              <a:ext uri="{FF2B5EF4-FFF2-40B4-BE49-F238E27FC236}">
                <a16:creationId xmlns:a16="http://schemas.microsoft.com/office/drawing/2014/main" id="{2BB095FC-B937-F3B6-CBBC-366B38D110A3}"/>
              </a:ext>
            </a:extLst>
          </p:cNvPr>
          <p:cNvSpPr txBox="1"/>
          <p:nvPr/>
        </p:nvSpPr>
        <p:spPr>
          <a:xfrm>
            <a:off x="6426200" y="2819400"/>
            <a:ext cx="2057400" cy="276999"/>
          </a:xfrm>
          <a:prstGeom prst="rect">
            <a:avLst/>
          </a:prstGeom>
          <a:noFill/>
        </p:spPr>
        <p:txBody>
          <a:bodyPr vert="horz" wrap="square" lIns="0" tIns="0" rIns="0" bIns="0" rtlCol="0" anchor="ctr">
            <a:noAutofit/>
          </a:bodyPr>
          <a:lstStyle/>
          <a:p>
            <a:pPr algn="ctr"/>
            <a:r>
              <a:rPr lang="en-US" sz="1700" b="1">
                <a:solidFill>
                  <a:srgbClr val="F8FAFC"/>
                </a:solidFill>
                <a:latin typeface="Aptos" panose="020B0004020202020204" pitchFamily="34" charset="0"/>
              </a:rPr>
              <a:t>Collaborative model</a:t>
            </a:r>
          </a:p>
        </p:txBody>
      </p:sp>
      <p:sp>
        <p:nvSpPr>
          <p:cNvPr id="27" name="TextBox 26">
            <a:extLst>
              <a:ext uri="{FF2B5EF4-FFF2-40B4-BE49-F238E27FC236}">
                <a16:creationId xmlns:a16="http://schemas.microsoft.com/office/drawing/2014/main" id="{A9AAF655-E396-A5B4-AA39-27D45D8665BC}"/>
              </a:ext>
            </a:extLst>
          </p:cNvPr>
          <p:cNvSpPr txBox="1"/>
          <p:nvPr/>
        </p:nvSpPr>
        <p:spPr>
          <a:xfrm>
            <a:off x="6477000" y="3581400"/>
            <a:ext cx="1955800" cy="276999"/>
          </a:xfrm>
          <a:prstGeom prst="rect">
            <a:avLst/>
          </a:prstGeom>
          <a:noFill/>
        </p:spPr>
        <p:txBody>
          <a:bodyPr vert="horz" wrap="square" lIns="0" tIns="0" rIns="0" bIns="0" rtlCol="0" anchor="t">
            <a:noAutofit/>
          </a:bodyPr>
          <a:lstStyle/>
          <a:p>
            <a:pPr algn="ctr"/>
            <a:r>
              <a:rPr lang="en-US" sz="1100">
                <a:solidFill>
                  <a:srgbClr val="A4B4C7"/>
                </a:solidFill>
                <a:latin typeface="Aptos" panose="020B0004020202020204" pitchFamily="34" charset="0"/>
              </a:rPr>
              <a:t>The coordinator combines all five contributions.</a:t>
            </a:r>
          </a:p>
        </p:txBody>
      </p:sp>
      <p:sp>
        <p:nvSpPr>
          <p:cNvPr id="28" name="Rectangle: Rounded Corners 27">
            <a:extLst>
              <a:ext uri="{FF2B5EF4-FFF2-40B4-BE49-F238E27FC236}">
                <a16:creationId xmlns:a16="http://schemas.microsoft.com/office/drawing/2014/main" id="{C85880A6-DA1C-4507-93A8-1D117610F225}"/>
              </a:ext>
            </a:extLst>
          </p:cNvPr>
          <p:cNvSpPr/>
          <p:nvPr/>
        </p:nvSpPr>
        <p:spPr>
          <a:xfrm>
            <a:off x="9017000" y="1803400"/>
            <a:ext cx="2514600" cy="3175000"/>
          </a:xfrm>
          <a:prstGeom prst="roundRect">
            <a:avLst/>
          </a:prstGeom>
          <a:solidFill>
            <a:srgbClr val="14283D"/>
          </a:solidFill>
          <a:ln w="12700">
            <a:solidFill>
              <a:srgbClr val="2F4962"/>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29" name="Oval 28">
            <a:extLst>
              <a:ext uri="{FF2B5EF4-FFF2-40B4-BE49-F238E27FC236}">
                <a16:creationId xmlns:a16="http://schemas.microsoft.com/office/drawing/2014/main" id="{13989A0C-B8FC-7438-B3CF-53B0F2C97004}"/>
              </a:ext>
            </a:extLst>
          </p:cNvPr>
          <p:cNvSpPr/>
          <p:nvPr/>
        </p:nvSpPr>
        <p:spPr>
          <a:xfrm>
            <a:off x="9245600" y="2057400"/>
            <a:ext cx="457200" cy="457200"/>
          </a:xfrm>
          <a:prstGeom prst="ellipse">
            <a:avLst/>
          </a:prstGeom>
          <a:solidFill>
            <a:srgbClr val="0D1E31"/>
          </a:solidFill>
          <a:ln w="17780">
            <a:solidFill>
              <a:srgbClr val="F59E0B"/>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30" name="TextBox 29">
            <a:extLst>
              <a:ext uri="{FF2B5EF4-FFF2-40B4-BE49-F238E27FC236}">
                <a16:creationId xmlns:a16="http://schemas.microsoft.com/office/drawing/2014/main" id="{EBCA86B0-2265-5CBB-9699-04F353D4B30B}"/>
              </a:ext>
            </a:extLst>
          </p:cNvPr>
          <p:cNvSpPr txBox="1"/>
          <p:nvPr/>
        </p:nvSpPr>
        <p:spPr>
          <a:xfrm>
            <a:off x="9245600" y="2057400"/>
            <a:ext cx="457200" cy="276999"/>
          </a:xfrm>
          <a:prstGeom prst="rect">
            <a:avLst/>
          </a:prstGeom>
          <a:noFill/>
        </p:spPr>
        <p:txBody>
          <a:bodyPr vert="horz" wrap="square" lIns="0" tIns="0" rIns="0" bIns="0" rtlCol="0" anchor="ctr">
            <a:noAutofit/>
          </a:bodyPr>
          <a:lstStyle/>
          <a:p>
            <a:pPr algn="ctr"/>
            <a:r>
              <a:rPr lang="en-US" sz="1100" b="1">
                <a:solidFill>
                  <a:srgbClr val="F59E0B"/>
                </a:solidFill>
                <a:latin typeface="Aptos" panose="020B0004020202020204" pitchFamily="34" charset="0"/>
              </a:rPr>
              <a:t>04</a:t>
            </a:r>
          </a:p>
        </p:txBody>
      </p:sp>
      <p:sp>
        <p:nvSpPr>
          <p:cNvPr id="31" name="Rectangle: Rounded Corners 30">
            <a:extLst>
              <a:ext uri="{FF2B5EF4-FFF2-40B4-BE49-F238E27FC236}">
                <a16:creationId xmlns:a16="http://schemas.microsoft.com/office/drawing/2014/main" id="{D067F6AE-5416-8EB8-314C-A72659BA84FF}"/>
              </a:ext>
            </a:extLst>
          </p:cNvPr>
          <p:cNvSpPr/>
          <p:nvPr/>
        </p:nvSpPr>
        <p:spPr>
          <a:xfrm>
            <a:off x="9880600" y="2120900"/>
            <a:ext cx="1320800" cy="279400"/>
          </a:xfrm>
          <a:prstGeom prst="roundRect">
            <a:avLst/>
          </a:prstGeom>
          <a:solidFill>
            <a:srgbClr val="0D1E31"/>
          </a:solidFill>
          <a:ln w="9525" cap="flat" cmpd="sng" algn="ctr">
            <a:noFill/>
            <a:prstDash val="solid"/>
          </a:ln>
          <a:effectLst>
            <a:outerShdw blurRad="40000" dist="23000" dir="5400000" rotWithShape="0">
              <a:srgbClr val="000000">
                <a:alpha val="35000"/>
              </a:srgbClr>
            </a:outerShdw>
          </a:effectLst>
          <a:extLst>
            <a:ext uri="{91240B29-F687-4F45-9708-019B960494DF}">
              <a14:hiddenLine xmlns:a14="http://schemas.microsoft.com/office/drawing/2010/main" w="9525" cap="flat" cmpd="sng" algn="ctr">
                <a:solidFill>
                  <a:schemeClr val="accent1">
                    <a:shade val="95000"/>
                    <a:satMod val="105000"/>
                  </a:schemeClr>
                </a:solidFill>
                <a:prstDash val="solid"/>
              </a14:hiddenLine>
            </a:ext>
          </a:ex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32" name="TextBox 31">
            <a:extLst>
              <a:ext uri="{FF2B5EF4-FFF2-40B4-BE49-F238E27FC236}">
                <a16:creationId xmlns:a16="http://schemas.microsoft.com/office/drawing/2014/main" id="{CD4EE1CB-40D2-CF82-CB46-66307E5F90C3}"/>
              </a:ext>
            </a:extLst>
          </p:cNvPr>
          <p:cNvSpPr txBox="1"/>
          <p:nvPr/>
        </p:nvSpPr>
        <p:spPr>
          <a:xfrm>
            <a:off x="9880600" y="2120900"/>
            <a:ext cx="1320800" cy="276999"/>
          </a:xfrm>
          <a:prstGeom prst="rect">
            <a:avLst/>
          </a:prstGeom>
          <a:noFill/>
        </p:spPr>
        <p:txBody>
          <a:bodyPr vert="horz" wrap="square" lIns="0" tIns="0" rIns="0" bIns="0" rtlCol="0" anchor="ctr">
            <a:noAutofit/>
          </a:bodyPr>
          <a:lstStyle/>
          <a:p>
            <a:pPr algn="ctr"/>
            <a:r>
              <a:rPr lang="en-US" sz="850" b="1">
                <a:solidFill>
                  <a:srgbClr val="F59E0B"/>
                </a:solidFill>
                <a:latin typeface="Aptos" panose="020B0004020202020204" pitchFamily="34" charset="0"/>
              </a:rPr>
              <a:t>PQC + AES</a:t>
            </a:r>
          </a:p>
        </p:txBody>
      </p:sp>
      <p:sp>
        <p:nvSpPr>
          <p:cNvPr id="33" name="TextBox 32">
            <a:extLst>
              <a:ext uri="{FF2B5EF4-FFF2-40B4-BE49-F238E27FC236}">
                <a16:creationId xmlns:a16="http://schemas.microsoft.com/office/drawing/2014/main" id="{EEAA215D-B5D1-567B-FBF8-D96131AADBAB}"/>
              </a:ext>
            </a:extLst>
          </p:cNvPr>
          <p:cNvSpPr txBox="1"/>
          <p:nvPr/>
        </p:nvSpPr>
        <p:spPr>
          <a:xfrm>
            <a:off x="9245600" y="2819400"/>
            <a:ext cx="2057400" cy="276999"/>
          </a:xfrm>
          <a:prstGeom prst="rect">
            <a:avLst/>
          </a:prstGeom>
          <a:noFill/>
        </p:spPr>
        <p:txBody>
          <a:bodyPr vert="horz" wrap="square" lIns="0" tIns="0" rIns="0" bIns="0" rtlCol="0" anchor="ctr">
            <a:noAutofit/>
          </a:bodyPr>
          <a:lstStyle/>
          <a:p>
            <a:pPr algn="ctr"/>
            <a:r>
              <a:rPr lang="en-US" sz="1700" b="1">
                <a:solidFill>
                  <a:srgbClr val="F8FAFC"/>
                </a:solidFill>
                <a:latin typeface="Aptos" panose="020B0004020202020204" pitchFamily="34" charset="0"/>
              </a:rPr>
              <a:t>Protected exchange</a:t>
            </a:r>
          </a:p>
        </p:txBody>
      </p:sp>
      <p:sp>
        <p:nvSpPr>
          <p:cNvPr id="34" name="TextBox 33">
            <a:extLst>
              <a:ext uri="{FF2B5EF4-FFF2-40B4-BE49-F238E27FC236}">
                <a16:creationId xmlns:a16="http://schemas.microsoft.com/office/drawing/2014/main" id="{3D87D93F-53A7-3C61-2B6F-522E848386F6}"/>
              </a:ext>
            </a:extLst>
          </p:cNvPr>
          <p:cNvSpPr txBox="1"/>
          <p:nvPr/>
        </p:nvSpPr>
        <p:spPr>
          <a:xfrm>
            <a:off x="9296400" y="3581400"/>
            <a:ext cx="1955800" cy="276999"/>
          </a:xfrm>
          <a:prstGeom prst="rect">
            <a:avLst/>
          </a:prstGeom>
          <a:noFill/>
        </p:spPr>
        <p:txBody>
          <a:bodyPr vert="horz" wrap="square" lIns="0" tIns="0" rIns="0" bIns="0" rtlCol="0" anchor="t">
            <a:noAutofit/>
          </a:bodyPr>
          <a:lstStyle/>
          <a:p>
            <a:pPr algn="ctr"/>
            <a:r>
              <a:rPr lang="en-US" sz="1100">
                <a:solidFill>
                  <a:srgbClr val="A4B4C7"/>
                </a:solidFill>
                <a:latin typeface="Aptos" panose="020B0004020202020204" pitchFamily="34" charset="0"/>
              </a:rPr>
              <a:t>Identity, encryption and replay checks guard messages.</a:t>
            </a:r>
          </a:p>
        </p:txBody>
      </p:sp>
      <p:cxnSp>
        <p:nvCxnSpPr>
          <p:cNvPr id="35" name="Straight Connector 34">
            <a:extLst>
              <a:ext uri="{FF2B5EF4-FFF2-40B4-BE49-F238E27FC236}">
                <a16:creationId xmlns:a16="http://schemas.microsoft.com/office/drawing/2014/main" id="{8574D716-FF79-3BBA-1E6E-CA41DD1FC247}"/>
              </a:ext>
            </a:extLst>
          </p:cNvPr>
          <p:cNvCxnSpPr/>
          <p:nvPr/>
        </p:nvCxnSpPr>
        <p:spPr>
          <a:xfrm>
            <a:off x="1816100" y="5257800"/>
            <a:ext cx="8458200" cy="0"/>
          </a:xfrm>
          <a:prstGeom prst="line">
            <a:avLst/>
          </a:prstGeom>
          <a:ln w="12700" cap="flat" cmpd="sng" algn="ctr">
            <a:solidFill>
              <a:srgbClr val="2F4962"/>
            </a:solidFill>
            <a:prstDash val="solid"/>
            <a:round/>
            <a:headEnd type="none" w="med" len="med"/>
            <a:tailEnd type="none" w="med" len="med"/>
          </a:ln>
        </p:spPr>
        <p:style>
          <a:lnRef idx="2">
            <a:schemeClr val="accent1"/>
          </a:lnRef>
          <a:fillRef idx="0">
            <a:schemeClr val="accent1"/>
          </a:fillRef>
          <a:effectRef idx="1">
            <a:schemeClr val="accent1"/>
          </a:effectRef>
          <a:fontRef idx="minor">
            <a:schemeClr val="tx1"/>
          </a:fontRef>
        </p:style>
      </p:cxnSp>
      <p:sp>
        <p:nvSpPr>
          <p:cNvPr id="36" name="Oval 35">
            <a:extLst>
              <a:ext uri="{FF2B5EF4-FFF2-40B4-BE49-F238E27FC236}">
                <a16:creationId xmlns:a16="http://schemas.microsoft.com/office/drawing/2014/main" id="{289F8943-48AD-4C10-CAF9-2C0F16119C87}"/>
              </a:ext>
            </a:extLst>
          </p:cNvPr>
          <p:cNvSpPr/>
          <p:nvPr/>
        </p:nvSpPr>
        <p:spPr>
          <a:xfrm>
            <a:off x="1752600" y="5194300"/>
            <a:ext cx="127000" cy="127000"/>
          </a:xfrm>
          <a:prstGeom prst="ellipse">
            <a:avLst/>
          </a:prstGeom>
          <a:solidFill>
            <a:srgbClr val="10C58B"/>
          </a:solidFill>
          <a:ln w="9525" cap="flat" cmpd="sng" algn="ctr">
            <a:noFill/>
            <a:prstDash val="solid"/>
          </a:ln>
          <a:effectLst>
            <a:outerShdw blurRad="40000" dist="23000" dir="5400000" rotWithShape="0">
              <a:srgbClr val="000000">
                <a:alpha val="35000"/>
              </a:srgbClr>
            </a:outerShdw>
          </a:effectLst>
          <a:extLst>
            <a:ext uri="{91240B29-F687-4F45-9708-019B960494DF}">
              <a14:hiddenLine xmlns:a14="http://schemas.microsoft.com/office/drawing/2010/main" w="9525" cap="flat" cmpd="sng" algn="ctr">
                <a:solidFill>
                  <a:schemeClr val="accent1">
                    <a:shade val="95000"/>
                    <a:satMod val="105000"/>
                  </a:schemeClr>
                </a:solidFill>
                <a:prstDash val="solid"/>
              </a14:hiddenLine>
            </a:ext>
          </a:ex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37" name="Oval 36">
            <a:extLst>
              <a:ext uri="{FF2B5EF4-FFF2-40B4-BE49-F238E27FC236}">
                <a16:creationId xmlns:a16="http://schemas.microsoft.com/office/drawing/2014/main" id="{E9E061E4-9E48-9CFD-0893-BF1A32FB9836}"/>
              </a:ext>
            </a:extLst>
          </p:cNvPr>
          <p:cNvSpPr/>
          <p:nvPr/>
        </p:nvSpPr>
        <p:spPr>
          <a:xfrm>
            <a:off x="4572000" y="5194300"/>
            <a:ext cx="127000" cy="127000"/>
          </a:xfrm>
          <a:prstGeom prst="ellipse">
            <a:avLst/>
          </a:prstGeom>
          <a:solidFill>
            <a:srgbClr val="10C58B"/>
          </a:solidFill>
          <a:ln w="9525" cap="flat" cmpd="sng" algn="ctr">
            <a:noFill/>
            <a:prstDash val="solid"/>
          </a:ln>
          <a:effectLst>
            <a:outerShdw blurRad="40000" dist="23000" dir="5400000" rotWithShape="0">
              <a:srgbClr val="000000">
                <a:alpha val="35000"/>
              </a:srgbClr>
            </a:outerShdw>
          </a:effectLst>
          <a:extLst>
            <a:ext uri="{91240B29-F687-4F45-9708-019B960494DF}">
              <a14:hiddenLine xmlns:a14="http://schemas.microsoft.com/office/drawing/2010/main" w="9525" cap="flat" cmpd="sng" algn="ctr">
                <a:solidFill>
                  <a:schemeClr val="accent1">
                    <a:shade val="95000"/>
                    <a:satMod val="105000"/>
                  </a:schemeClr>
                </a:solidFill>
                <a:prstDash val="solid"/>
              </a14:hiddenLine>
            </a:ext>
          </a:ex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38" name="Oval 37">
            <a:extLst>
              <a:ext uri="{FF2B5EF4-FFF2-40B4-BE49-F238E27FC236}">
                <a16:creationId xmlns:a16="http://schemas.microsoft.com/office/drawing/2014/main" id="{DE2A4400-0A35-36B3-3BA3-75C395ACE009}"/>
              </a:ext>
            </a:extLst>
          </p:cNvPr>
          <p:cNvSpPr/>
          <p:nvPr/>
        </p:nvSpPr>
        <p:spPr>
          <a:xfrm>
            <a:off x="7391400" y="5194300"/>
            <a:ext cx="127000" cy="127000"/>
          </a:xfrm>
          <a:prstGeom prst="ellipse">
            <a:avLst/>
          </a:prstGeom>
          <a:solidFill>
            <a:srgbClr val="10C58B"/>
          </a:solidFill>
          <a:ln w="9525" cap="flat" cmpd="sng" algn="ctr">
            <a:noFill/>
            <a:prstDash val="solid"/>
          </a:ln>
          <a:effectLst>
            <a:outerShdw blurRad="40000" dist="23000" dir="5400000" rotWithShape="0">
              <a:srgbClr val="000000">
                <a:alpha val="35000"/>
              </a:srgbClr>
            </a:outerShdw>
          </a:effectLst>
          <a:extLst>
            <a:ext uri="{91240B29-F687-4F45-9708-019B960494DF}">
              <a14:hiddenLine xmlns:a14="http://schemas.microsoft.com/office/drawing/2010/main" w="9525" cap="flat" cmpd="sng" algn="ctr">
                <a:solidFill>
                  <a:schemeClr val="accent1">
                    <a:shade val="95000"/>
                    <a:satMod val="105000"/>
                  </a:schemeClr>
                </a:solidFill>
                <a:prstDash val="solid"/>
              </a14:hiddenLine>
            </a:ext>
          </a:ex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39" name="Oval 38">
            <a:extLst>
              <a:ext uri="{FF2B5EF4-FFF2-40B4-BE49-F238E27FC236}">
                <a16:creationId xmlns:a16="http://schemas.microsoft.com/office/drawing/2014/main" id="{2AE66E2B-EC19-BE83-5B61-B2B4661FAF69}"/>
              </a:ext>
            </a:extLst>
          </p:cNvPr>
          <p:cNvSpPr/>
          <p:nvPr/>
        </p:nvSpPr>
        <p:spPr>
          <a:xfrm>
            <a:off x="10210800" y="5194300"/>
            <a:ext cx="127000" cy="127000"/>
          </a:xfrm>
          <a:prstGeom prst="ellipse">
            <a:avLst/>
          </a:prstGeom>
          <a:solidFill>
            <a:srgbClr val="10C58B"/>
          </a:solidFill>
          <a:ln w="9525" cap="flat" cmpd="sng" algn="ctr">
            <a:noFill/>
            <a:prstDash val="solid"/>
          </a:ln>
          <a:effectLst>
            <a:outerShdw blurRad="40000" dist="23000" dir="5400000" rotWithShape="0">
              <a:srgbClr val="000000">
                <a:alpha val="35000"/>
              </a:srgbClr>
            </a:outerShdw>
          </a:effectLst>
          <a:extLst>
            <a:ext uri="{91240B29-F687-4F45-9708-019B960494DF}">
              <a14:hiddenLine xmlns:a14="http://schemas.microsoft.com/office/drawing/2010/main" w="9525" cap="flat" cmpd="sng" algn="ctr">
                <a:solidFill>
                  <a:schemeClr val="accent1">
                    <a:shade val="95000"/>
                    <a:satMod val="105000"/>
                  </a:schemeClr>
                </a:solidFill>
                <a:prstDash val="solid"/>
              </a14:hiddenLine>
            </a:ext>
          </a:ex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40" name="Rectangle: Rounded Corners 39">
            <a:extLst>
              <a:ext uri="{FF2B5EF4-FFF2-40B4-BE49-F238E27FC236}">
                <a16:creationId xmlns:a16="http://schemas.microsoft.com/office/drawing/2014/main" id="{792C5EF4-0FF3-47E5-6EA6-C52B6AF88348}"/>
              </a:ext>
            </a:extLst>
          </p:cNvPr>
          <p:cNvSpPr/>
          <p:nvPr/>
        </p:nvSpPr>
        <p:spPr>
          <a:xfrm>
            <a:off x="1600200" y="5562600"/>
            <a:ext cx="8991600" cy="609600"/>
          </a:xfrm>
          <a:prstGeom prst="roundRect">
            <a:avLst/>
          </a:prstGeom>
          <a:solidFill>
            <a:srgbClr val="0D1E31"/>
          </a:solidFill>
          <a:ln w="17780">
            <a:solidFill>
              <a:srgbClr val="10C58B"/>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41" name="TextBox 40">
            <a:extLst>
              <a:ext uri="{FF2B5EF4-FFF2-40B4-BE49-F238E27FC236}">
                <a16:creationId xmlns:a16="http://schemas.microsoft.com/office/drawing/2014/main" id="{B06E8BD9-FB16-4B4A-8A40-153A6A429315}"/>
              </a:ext>
            </a:extLst>
          </p:cNvPr>
          <p:cNvSpPr txBox="1"/>
          <p:nvPr/>
        </p:nvSpPr>
        <p:spPr>
          <a:xfrm>
            <a:off x="1854200" y="5715000"/>
            <a:ext cx="1676400" cy="276999"/>
          </a:xfrm>
          <a:prstGeom prst="rect">
            <a:avLst/>
          </a:prstGeom>
          <a:noFill/>
        </p:spPr>
        <p:txBody>
          <a:bodyPr vert="horz" wrap="square" lIns="0" tIns="0" rIns="0" bIns="0" rtlCol="0" anchor="t">
            <a:noAutofit/>
          </a:bodyPr>
          <a:lstStyle/>
          <a:p>
            <a:r>
              <a:rPr lang="en-US" sz="1000" b="1">
                <a:solidFill>
                  <a:srgbClr val="10C58B"/>
                </a:solidFill>
                <a:latin typeface="Aptos" panose="020B0004020202020204" pitchFamily="34" charset="0"/>
              </a:rPr>
              <a:t>WORKING PROTOTYPE</a:t>
            </a:r>
          </a:p>
        </p:txBody>
      </p:sp>
      <p:sp>
        <p:nvSpPr>
          <p:cNvPr id="42" name="TextBox 41">
            <a:extLst>
              <a:ext uri="{FF2B5EF4-FFF2-40B4-BE49-F238E27FC236}">
                <a16:creationId xmlns:a16="http://schemas.microsoft.com/office/drawing/2014/main" id="{C9956C49-30C4-4CCE-EF32-AC0D666EDBDA}"/>
              </a:ext>
            </a:extLst>
          </p:cNvPr>
          <p:cNvSpPr txBox="1"/>
          <p:nvPr/>
        </p:nvSpPr>
        <p:spPr>
          <a:xfrm>
            <a:off x="3632200" y="5689600"/>
            <a:ext cx="6667500" cy="276999"/>
          </a:xfrm>
          <a:prstGeom prst="rect">
            <a:avLst/>
          </a:prstGeom>
          <a:noFill/>
        </p:spPr>
        <p:txBody>
          <a:bodyPr vert="horz" wrap="square" lIns="0" tIns="0" rIns="0" bIns="0" rtlCol="0" anchor="t">
            <a:noAutofit/>
          </a:bodyPr>
          <a:lstStyle/>
          <a:p>
            <a:pPr algn="ctr"/>
            <a:r>
              <a:rPr lang="en-US" sz="1200" b="1">
                <a:solidFill>
                  <a:srgbClr val="F8FAFC"/>
                </a:solidFill>
                <a:latin typeface="Aptos" panose="020B0004020202020204" pitchFamily="34" charset="0"/>
              </a:rPr>
              <a:t>5 client containers  +  1 coordinator  +  real inference  +  visible security events</a:t>
            </a:r>
          </a:p>
        </p:txBody>
      </p:sp>
    </p:spTree>
    <p:extLst>
      <p:ext uri="{BB962C8B-B14F-4D97-AF65-F5344CB8AC3E}">
        <p14:creationId xmlns:p14="http://schemas.microsoft.com/office/powerpoint/2010/main" val="896711032"/>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bg>
      <p:bgPr>
        <a:solidFill>
          <a:srgbClr val="081422"/>
        </a:solidFill>
        <a:effectLst/>
      </p:bgPr>
    </p:bg>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FC8EBAEE-5EBF-62A7-6444-620F0B7211E9}"/>
              </a:ext>
            </a:extLst>
          </p:cNvPr>
          <p:cNvSpPr txBox="1"/>
          <p:nvPr/>
        </p:nvSpPr>
        <p:spPr>
          <a:xfrm>
            <a:off x="558800" y="304800"/>
            <a:ext cx="4445000" cy="276999"/>
          </a:xfrm>
          <a:prstGeom prst="rect">
            <a:avLst/>
          </a:prstGeom>
          <a:noFill/>
        </p:spPr>
        <p:txBody>
          <a:bodyPr vert="horz" wrap="square" lIns="0" tIns="0" rIns="0" bIns="0" rtlCol="0" anchor="t">
            <a:noAutofit/>
          </a:bodyPr>
          <a:lstStyle/>
          <a:p>
            <a:r>
              <a:rPr lang="en-US" sz="1000" b="1">
                <a:solidFill>
                  <a:srgbClr val="10C58B"/>
                </a:solidFill>
                <a:latin typeface="Aptos" panose="020B0004020202020204" pitchFamily="34" charset="0"/>
              </a:rPr>
              <a:t>METHODOLOGY</a:t>
            </a:r>
          </a:p>
        </p:txBody>
      </p:sp>
      <p:sp>
        <p:nvSpPr>
          <p:cNvPr id="3" name="TextBox 2">
            <a:extLst>
              <a:ext uri="{FF2B5EF4-FFF2-40B4-BE49-F238E27FC236}">
                <a16:creationId xmlns:a16="http://schemas.microsoft.com/office/drawing/2014/main" id="{23254BB5-3490-79B3-92CC-498B6331E0F5}"/>
              </a:ext>
            </a:extLst>
          </p:cNvPr>
          <p:cNvSpPr txBox="1"/>
          <p:nvPr/>
        </p:nvSpPr>
        <p:spPr>
          <a:xfrm>
            <a:off x="558800" y="571500"/>
            <a:ext cx="9906000" cy="276999"/>
          </a:xfrm>
          <a:prstGeom prst="rect">
            <a:avLst/>
          </a:prstGeom>
          <a:noFill/>
        </p:spPr>
        <p:txBody>
          <a:bodyPr vert="horz" wrap="square" lIns="0" tIns="0" rIns="0" bIns="0" rtlCol="0" anchor="t">
            <a:noAutofit/>
          </a:bodyPr>
          <a:lstStyle/>
          <a:p>
            <a:r>
              <a:rPr lang="en-US" sz="2800" b="1">
                <a:solidFill>
                  <a:srgbClr val="F8FAFC"/>
                </a:solidFill>
                <a:latin typeface="Aptos Display" panose="020B0004020202020204" pitchFamily="34" charset="0"/>
              </a:rPr>
              <a:t>One complete learning and security cycle</a:t>
            </a:r>
          </a:p>
        </p:txBody>
      </p:sp>
      <p:sp>
        <p:nvSpPr>
          <p:cNvPr id="4" name="TextBox 3">
            <a:extLst>
              <a:ext uri="{FF2B5EF4-FFF2-40B4-BE49-F238E27FC236}">
                <a16:creationId xmlns:a16="http://schemas.microsoft.com/office/drawing/2014/main" id="{87233893-A537-B2D4-EA91-0020ACAAFF55}"/>
              </a:ext>
            </a:extLst>
          </p:cNvPr>
          <p:cNvSpPr txBox="1"/>
          <p:nvPr/>
        </p:nvSpPr>
        <p:spPr>
          <a:xfrm>
            <a:off x="10998200" y="355600"/>
            <a:ext cx="635000" cy="276999"/>
          </a:xfrm>
          <a:prstGeom prst="rect">
            <a:avLst/>
          </a:prstGeom>
          <a:noFill/>
        </p:spPr>
        <p:txBody>
          <a:bodyPr vert="horz" wrap="square" lIns="0" tIns="0" rIns="0" bIns="0" rtlCol="0" anchor="t">
            <a:noAutofit/>
          </a:bodyPr>
          <a:lstStyle/>
          <a:p>
            <a:pPr algn="r"/>
            <a:r>
              <a:rPr lang="en-US" sz="1000" b="1">
                <a:solidFill>
                  <a:srgbClr val="778CA3"/>
                </a:solidFill>
                <a:latin typeface="Aptos" panose="020B0004020202020204" pitchFamily="34" charset="0"/>
              </a:rPr>
              <a:t>03</a:t>
            </a:r>
          </a:p>
        </p:txBody>
      </p:sp>
      <p:cxnSp>
        <p:nvCxnSpPr>
          <p:cNvPr id="5" name="Straight Connector 4">
            <a:extLst>
              <a:ext uri="{FF2B5EF4-FFF2-40B4-BE49-F238E27FC236}">
                <a16:creationId xmlns:a16="http://schemas.microsoft.com/office/drawing/2014/main" id="{F6FDD3A6-795B-9F84-91E3-52ABDDCE4A08}"/>
              </a:ext>
            </a:extLst>
          </p:cNvPr>
          <p:cNvCxnSpPr/>
          <p:nvPr/>
        </p:nvCxnSpPr>
        <p:spPr>
          <a:xfrm>
            <a:off x="558800" y="1193800"/>
            <a:ext cx="11074400" cy="0"/>
          </a:xfrm>
          <a:prstGeom prst="line">
            <a:avLst/>
          </a:prstGeom>
          <a:ln w="12700" cap="flat" cmpd="sng" algn="ctr">
            <a:solidFill>
              <a:srgbClr val="2F4962">
                <a:alpha val="80000"/>
              </a:srgbClr>
            </a:solidFill>
            <a:prstDash val="solid"/>
            <a:round/>
            <a:headEnd type="none" w="med" len="med"/>
            <a:tailEnd type="none" w="med" len="med"/>
          </a:ln>
        </p:spPr>
        <p:style>
          <a:lnRef idx="2">
            <a:schemeClr val="accent1"/>
          </a:lnRef>
          <a:fillRef idx="0">
            <a:schemeClr val="accent1"/>
          </a:fillRef>
          <a:effectRef idx="1">
            <a:schemeClr val="accent1"/>
          </a:effectRef>
          <a:fontRef idx="minor">
            <a:schemeClr val="tx1"/>
          </a:fontRef>
        </p:style>
      </p:cxnSp>
      <p:sp>
        <p:nvSpPr>
          <p:cNvPr id="6" name="TextBox 5">
            <a:extLst>
              <a:ext uri="{FF2B5EF4-FFF2-40B4-BE49-F238E27FC236}">
                <a16:creationId xmlns:a16="http://schemas.microsoft.com/office/drawing/2014/main" id="{F83A06F5-0946-D0FB-2C5C-D53A8CC3F202}"/>
              </a:ext>
            </a:extLst>
          </p:cNvPr>
          <p:cNvSpPr txBox="1"/>
          <p:nvPr/>
        </p:nvSpPr>
        <p:spPr>
          <a:xfrm>
            <a:off x="558800" y="6553200"/>
            <a:ext cx="5334000" cy="276999"/>
          </a:xfrm>
          <a:prstGeom prst="rect">
            <a:avLst/>
          </a:prstGeom>
          <a:noFill/>
        </p:spPr>
        <p:txBody>
          <a:bodyPr vert="horz" wrap="square" lIns="0" tIns="0" rIns="0" bIns="0" rtlCol="0" anchor="t">
            <a:noAutofit/>
          </a:bodyPr>
          <a:lstStyle/>
          <a:p>
            <a:r>
              <a:rPr lang="en-US" sz="850">
                <a:solidFill>
                  <a:srgbClr val="778CA3"/>
                </a:solidFill>
                <a:latin typeface="Aptos" panose="020B0004020202020204" pitchFamily="34" charset="0"/>
              </a:rPr>
              <a:t>KAUST Academy  |  Cybersecurity Specialization</a:t>
            </a:r>
          </a:p>
        </p:txBody>
      </p:sp>
      <p:sp>
        <p:nvSpPr>
          <p:cNvPr id="7" name="TextBox 6">
            <a:extLst>
              <a:ext uri="{FF2B5EF4-FFF2-40B4-BE49-F238E27FC236}">
                <a16:creationId xmlns:a16="http://schemas.microsoft.com/office/drawing/2014/main" id="{85E999C3-0F99-FA19-CB84-D227D5A9B5E7}"/>
              </a:ext>
            </a:extLst>
          </p:cNvPr>
          <p:cNvSpPr txBox="1"/>
          <p:nvPr/>
        </p:nvSpPr>
        <p:spPr>
          <a:xfrm>
            <a:off x="558800" y="1422400"/>
            <a:ext cx="2387600" cy="276999"/>
          </a:xfrm>
          <a:prstGeom prst="rect">
            <a:avLst/>
          </a:prstGeom>
          <a:noFill/>
        </p:spPr>
        <p:txBody>
          <a:bodyPr vert="horz" wrap="square" lIns="0" tIns="0" rIns="0" bIns="0" rtlCol="0" anchor="t">
            <a:noAutofit/>
          </a:bodyPr>
          <a:lstStyle/>
          <a:p>
            <a:r>
              <a:rPr lang="en-US" sz="900" b="1">
                <a:solidFill>
                  <a:srgbClr val="10C58B"/>
                </a:solidFill>
                <a:latin typeface="Aptos" panose="020B0004020202020204" pitchFamily="34" charset="0"/>
              </a:rPr>
              <a:t>5 LOGICAL CLIENTS</a:t>
            </a:r>
          </a:p>
        </p:txBody>
      </p:sp>
      <p:sp>
        <p:nvSpPr>
          <p:cNvPr id="8" name="TextBox 7">
            <a:extLst>
              <a:ext uri="{FF2B5EF4-FFF2-40B4-BE49-F238E27FC236}">
                <a16:creationId xmlns:a16="http://schemas.microsoft.com/office/drawing/2014/main" id="{A4C7375D-3A4D-A452-1504-6183EF50137A}"/>
              </a:ext>
            </a:extLst>
          </p:cNvPr>
          <p:cNvSpPr txBox="1"/>
          <p:nvPr/>
        </p:nvSpPr>
        <p:spPr>
          <a:xfrm>
            <a:off x="3860800" y="1422400"/>
            <a:ext cx="2794000" cy="276999"/>
          </a:xfrm>
          <a:prstGeom prst="rect">
            <a:avLst/>
          </a:prstGeom>
          <a:noFill/>
        </p:spPr>
        <p:txBody>
          <a:bodyPr vert="horz" wrap="square" lIns="0" tIns="0" rIns="0" bIns="0" rtlCol="0" anchor="t">
            <a:noAutofit/>
          </a:bodyPr>
          <a:lstStyle/>
          <a:p>
            <a:pPr algn="ctr"/>
            <a:r>
              <a:rPr lang="en-US" sz="900" b="1">
                <a:solidFill>
                  <a:srgbClr val="F59E0B"/>
                </a:solidFill>
                <a:latin typeface="Aptos" panose="020B0004020202020204" pitchFamily="34" charset="0"/>
              </a:rPr>
              <a:t>SECURITY GATE</a:t>
            </a:r>
          </a:p>
        </p:txBody>
      </p:sp>
      <p:sp>
        <p:nvSpPr>
          <p:cNvPr id="9" name="TextBox 8">
            <a:extLst>
              <a:ext uri="{FF2B5EF4-FFF2-40B4-BE49-F238E27FC236}">
                <a16:creationId xmlns:a16="http://schemas.microsoft.com/office/drawing/2014/main" id="{D7EA4C66-C1ED-8C9A-3528-0604F8CB6E73}"/>
              </a:ext>
            </a:extLst>
          </p:cNvPr>
          <p:cNvSpPr txBox="1"/>
          <p:nvPr/>
        </p:nvSpPr>
        <p:spPr>
          <a:xfrm>
            <a:off x="8686800" y="1422400"/>
            <a:ext cx="2946400" cy="276999"/>
          </a:xfrm>
          <a:prstGeom prst="rect">
            <a:avLst/>
          </a:prstGeom>
          <a:noFill/>
        </p:spPr>
        <p:txBody>
          <a:bodyPr vert="horz" wrap="square" lIns="0" tIns="0" rIns="0" bIns="0" rtlCol="0" anchor="t">
            <a:noAutofit/>
          </a:bodyPr>
          <a:lstStyle/>
          <a:p>
            <a:pPr algn="ctr"/>
            <a:r>
              <a:rPr lang="en-US" sz="900" b="1">
                <a:solidFill>
                  <a:srgbClr val="3B82F6"/>
                </a:solidFill>
                <a:latin typeface="Aptos" panose="020B0004020202020204" pitchFamily="34" charset="0"/>
              </a:rPr>
              <a:t>FEDAVG COORDINATOR</a:t>
            </a:r>
          </a:p>
        </p:txBody>
      </p:sp>
      <p:sp>
        <p:nvSpPr>
          <p:cNvPr id="10" name="Rectangle: Rounded Corners 9">
            <a:extLst>
              <a:ext uri="{FF2B5EF4-FFF2-40B4-BE49-F238E27FC236}">
                <a16:creationId xmlns:a16="http://schemas.microsoft.com/office/drawing/2014/main" id="{41ECC65D-6AA3-BFFB-EA15-A62FD72314AB}"/>
              </a:ext>
            </a:extLst>
          </p:cNvPr>
          <p:cNvSpPr/>
          <p:nvPr/>
        </p:nvSpPr>
        <p:spPr>
          <a:xfrm>
            <a:off x="558800" y="1778000"/>
            <a:ext cx="2387600" cy="546100"/>
          </a:xfrm>
          <a:prstGeom prst="roundRect">
            <a:avLst/>
          </a:prstGeom>
          <a:solidFill>
            <a:srgbClr val="14283D"/>
          </a:solidFill>
          <a:ln w="12700">
            <a:solidFill>
              <a:srgbClr val="2F4962"/>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cxnSp>
        <p:nvCxnSpPr>
          <p:cNvPr id="11" name="Straight Connector 10">
            <a:extLst>
              <a:ext uri="{FF2B5EF4-FFF2-40B4-BE49-F238E27FC236}">
                <a16:creationId xmlns:a16="http://schemas.microsoft.com/office/drawing/2014/main" id="{F633CD5D-2E04-E302-153F-12586C73A9DA}"/>
              </a:ext>
            </a:extLst>
          </p:cNvPr>
          <p:cNvCxnSpPr/>
          <p:nvPr/>
        </p:nvCxnSpPr>
        <p:spPr>
          <a:xfrm>
            <a:off x="732790" y="1998980"/>
            <a:ext cx="160020" cy="91440"/>
          </a:xfrm>
          <a:prstGeom prst="line">
            <a:avLst/>
          </a:prstGeom>
          <a:ln w="8573" cap="flat" cmpd="sng" algn="ctr">
            <a:solidFill>
              <a:srgbClr val="10C58B"/>
            </a:solidFill>
            <a:prstDash val="solid"/>
            <a:round/>
            <a:headEnd type="none" w="med" len="med"/>
            <a:tailEnd type="none" w="med" len="med"/>
          </a:ln>
        </p:spPr>
        <p:style>
          <a:lnRef idx="2">
            <a:schemeClr val="accent1"/>
          </a:lnRef>
          <a:fillRef idx="0">
            <a:schemeClr val="accent1"/>
          </a:fillRef>
          <a:effectRef idx="1">
            <a:schemeClr val="accent1"/>
          </a:effectRef>
          <a:fontRef idx="minor">
            <a:schemeClr val="tx1"/>
          </a:fontRef>
        </p:style>
      </p:cxnSp>
      <p:cxnSp>
        <p:nvCxnSpPr>
          <p:cNvPr id="12" name="Straight Connector 11">
            <a:extLst>
              <a:ext uri="{FF2B5EF4-FFF2-40B4-BE49-F238E27FC236}">
                <a16:creationId xmlns:a16="http://schemas.microsoft.com/office/drawing/2014/main" id="{F6E171FF-5DF5-9B3F-DA4C-ED748832FBBD}"/>
              </a:ext>
            </a:extLst>
          </p:cNvPr>
          <p:cNvCxnSpPr/>
          <p:nvPr/>
        </p:nvCxnSpPr>
        <p:spPr>
          <a:xfrm flipV="1">
            <a:off x="732790" y="1998980"/>
            <a:ext cx="160020" cy="91440"/>
          </a:xfrm>
          <a:prstGeom prst="line">
            <a:avLst/>
          </a:prstGeom>
          <a:ln w="8573" cap="flat" cmpd="sng" algn="ctr">
            <a:solidFill>
              <a:srgbClr val="10C58B"/>
            </a:solidFill>
            <a:prstDash val="solid"/>
            <a:round/>
            <a:headEnd type="none" w="med" len="med"/>
            <a:tailEnd type="none" w="med" len="med"/>
          </a:ln>
        </p:spPr>
        <p:style>
          <a:lnRef idx="2">
            <a:schemeClr val="accent1"/>
          </a:lnRef>
          <a:fillRef idx="0">
            <a:schemeClr val="accent1"/>
          </a:fillRef>
          <a:effectRef idx="1">
            <a:schemeClr val="accent1"/>
          </a:effectRef>
          <a:fontRef idx="minor">
            <a:schemeClr val="tx1"/>
          </a:fontRef>
        </p:style>
      </p:cxnSp>
      <p:sp>
        <p:nvSpPr>
          <p:cNvPr id="13" name="Rectangle: Rounded Corners 12">
            <a:extLst>
              <a:ext uri="{FF2B5EF4-FFF2-40B4-BE49-F238E27FC236}">
                <a16:creationId xmlns:a16="http://schemas.microsoft.com/office/drawing/2014/main" id="{C48AC8A5-FC25-D2CF-2F2F-A15A701B5C6B}"/>
              </a:ext>
            </a:extLst>
          </p:cNvPr>
          <p:cNvSpPr/>
          <p:nvPr/>
        </p:nvSpPr>
        <p:spPr>
          <a:xfrm>
            <a:off x="767080" y="2021840"/>
            <a:ext cx="91440" cy="45720"/>
          </a:xfrm>
          <a:prstGeom prst="roundRect">
            <a:avLst/>
          </a:prstGeom>
          <a:solidFill>
            <a:srgbClr val="10C58B"/>
          </a:solidFill>
          <a:ln w="9525" cap="flat" cmpd="sng" algn="ctr">
            <a:noFill/>
            <a:prstDash val="solid"/>
          </a:ln>
          <a:effectLst>
            <a:outerShdw blurRad="40000" dist="23000" dir="5400000" rotWithShape="0">
              <a:srgbClr val="000000">
                <a:alpha val="35000"/>
              </a:srgbClr>
            </a:outerShdw>
          </a:effectLst>
          <a:extLst>
            <a:ext uri="{91240B29-F687-4F45-9708-019B960494DF}">
              <a14:hiddenLine xmlns:a14="http://schemas.microsoft.com/office/drawing/2010/main" w="9525" cap="flat" cmpd="sng" algn="ctr">
                <a:solidFill>
                  <a:schemeClr val="accent1">
                    <a:shade val="95000"/>
                    <a:satMod val="105000"/>
                  </a:schemeClr>
                </a:solidFill>
                <a:prstDash val="solid"/>
              </a14:hiddenLine>
            </a:ext>
          </a:ex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14" name="Oval 13">
            <a:extLst>
              <a:ext uri="{FF2B5EF4-FFF2-40B4-BE49-F238E27FC236}">
                <a16:creationId xmlns:a16="http://schemas.microsoft.com/office/drawing/2014/main" id="{648CDBEF-BF42-8D58-216D-410F1CFCFC58}"/>
              </a:ext>
            </a:extLst>
          </p:cNvPr>
          <p:cNvSpPr/>
          <p:nvPr/>
        </p:nvSpPr>
        <p:spPr>
          <a:xfrm>
            <a:off x="715645" y="1981835"/>
            <a:ext cx="45720" cy="45720"/>
          </a:xfrm>
          <a:prstGeom prst="ellipse">
            <a:avLst/>
          </a:prstGeom>
          <a:solidFill>
            <a:srgbClr val="081422"/>
          </a:solidFill>
          <a:ln w="6858">
            <a:solidFill>
              <a:srgbClr val="10C58B"/>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15" name="Oval 14">
            <a:extLst>
              <a:ext uri="{FF2B5EF4-FFF2-40B4-BE49-F238E27FC236}">
                <a16:creationId xmlns:a16="http://schemas.microsoft.com/office/drawing/2014/main" id="{920E9EEE-D5F0-E727-C0CD-E517A836AD8E}"/>
              </a:ext>
            </a:extLst>
          </p:cNvPr>
          <p:cNvSpPr/>
          <p:nvPr/>
        </p:nvSpPr>
        <p:spPr>
          <a:xfrm>
            <a:off x="887095" y="1981835"/>
            <a:ext cx="45720" cy="45720"/>
          </a:xfrm>
          <a:prstGeom prst="ellipse">
            <a:avLst/>
          </a:prstGeom>
          <a:solidFill>
            <a:srgbClr val="081422"/>
          </a:solidFill>
          <a:ln w="6858">
            <a:solidFill>
              <a:srgbClr val="10C58B"/>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16" name="Oval 15">
            <a:extLst>
              <a:ext uri="{FF2B5EF4-FFF2-40B4-BE49-F238E27FC236}">
                <a16:creationId xmlns:a16="http://schemas.microsoft.com/office/drawing/2014/main" id="{243396D0-6D0E-C653-CC01-153F35D551EB}"/>
              </a:ext>
            </a:extLst>
          </p:cNvPr>
          <p:cNvSpPr/>
          <p:nvPr/>
        </p:nvSpPr>
        <p:spPr>
          <a:xfrm>
            <a:off x="715645" y="2084705"/>
            <a:ext cx="45720" cy="45720"/>
          </a:xfrm>
          <a:prstGeom prst="ellipse">
            <a:avLst/>
          </a:prstGeom>
          <a:solidFill>
            <a:srgbClr val="081422"/>
          </a:solidFill>
          <a:ln w="6858">
            <a:solidFill>
              <a:srgbClr val="10C58B"/>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17" name="Oval 16">
            <a:extLst>
              <a:ext uri="{FF2B5EF4-FFF2-40B4-BE49-F238E27FC236}">
                <a16:creationId xmlns:a16="http://schemas.microsoft.com/office/drawing/2014/main" id="{EF557854-101A-263A-9171-1558D0D10358}"/>
              </a:ext>
            </a:extLst>
          </p:cNvPr>
          <p:cNvSpPr/>
          <p:nvPr/>
        </p:nvSpPr>
        <p:spPr>
          <a:xfrm>
            <a:off x="887095" y="2084705"/>
            <a:ext cx="45720" cy="45720"/>
          </a:xfrm>
          <a:prstGeom prst="ellipse">
            <a:avLst/>
          </a:prstGeom>
          <a:solidFill>
            <a:srgbClr val="081422"/>
          </a:solidFill>
          <a:ln w="6858">
            <a:solidFill>
              <a:srgbClr val="10C58B"/>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18" name="TextBox 17">
            <a:extLst>
              <a:ext uri="{FF2B5EF4-FFF2-40B4-BE49-F238E27FC236}">
                <a16:creationId xmlns:a16="http://schemas.microsoft.com/office/drawing/2014/main" id="{FE654B83-E150-1E4E-F382-56B024BD2AED}"/>
              </a:ext>
            </a:extLst>
          </p:cNvPr>
          <p:cNvSpPr txBox="1"/>
          <p:nvPr/>
        </p:nvSpPr>
        <p:spPr>
          <a:xfrm>
            <a:off x="1117600" y="1866900"/>
            <a:ext cx="914400" cy="276999"/>
          </a:xfrm>
          <a:prstGeom prst="rect">
            <a:avLst/>
          </a:prstGeom>
          <a:noFill/>
        </p:spPr>
        <p:txBody>
          <a:bodyPr vert="horz" wrap="square" lIns="0" tIns="0" rIns="0" bIns="0" rtlCol="0" anchor="t">
            <a:noAutofit/>
          </a:bodyPr>
          <a:lstStyle/>
          <a:p>
            <a:r>
              <a:rPr lang="en-US" sz="1000" b="1">
                <a:solidFill>
                  <a:srgbClr val="F8FAFC"/>
                </a:solidFill>
                <a:latin typeface="Aptos" panose="020B0004020202020204" pitchFamily="34" charset="0"/>
              </a:rPr>
              <a:t>CLIENT 1</a:t>
            </a:r>
          </a:p>
        </p:txBody>
      </p:sp>
      <p:sp>
        <p:nvSpPr>
          <p:cNvPr id="19" name="TextBox 18">
            <a:extLst>
              <a:ext uri="{FF2B5EF4-FFF2-40B4-BE49-F238E27FC236}">
                <a16:creationId xmlns:a16="http://schemas.microsoft.com/office/drawing/2014/main" id="{A642753B-C813-A829-21EA-9DBFD1C57D76}"/>
              </a:ext>
            </a:extLst>
          </p:cNvPr>
          <p:cNvSpPr txBox="1"/>
          <p:nvPr/>
        </p:nvSpPr>
        <p:spPr>
          <a:xfrm>
            <a:off x="1117600" y="2070100"/>
            <a:ext cx="939800" cy="276999"/>
          </a:xfrm>
          <a:prstGeom prst="rect">
            <a:avLst/>
          </a:prstGeom>
          <a:noFill/>
        </p:spPr>
        <p:txBody>
          <a:bodyPr vert="horz" wrap="square" lIns="0" tIns="0" rIns="0" bIns="0" rtlCol="0" anchor="t">
            <a:noAutofit/>
          </a:bodyPr>
          <a:lstStyle/>
          <a:p>
            <a:r>
              <a:rPr lang="en-US" sz="830">
                <a:solidFill>
                  <a:srgbClr val="A4B4C7"/>
                </a:solidFill>
                <a:latin typeface="Aptos" panose="020B0004020202020204" pitchFamily="34" charset="0"/>
              </a:rPr>
              <a:t>1,230 rows</a:t>
            </a:r>
          </a:p>
        </p:txBody>
      </p:sp>
      <p:sp>
        <p:nvSpPr>
          <p:cNvPr id="20" name="Rectangle: Rounded Corners 19">
            <a:extLst>
              <a:ext uri="{FF2B5EF4-FFF2-40B4-BE49-F238E27FC236}">
                <a16:creationId xmlns:a16="http://schemas.microsoft.com/office/drawing/2014/main" id="{C804E8DF-F4C7-86EE-11CF-9F12D777E0C6}"/>
              </a:ext>
            </a:extLst>
          </p:cNvPr>
          <p:cNvSpPr/>
          <p:nvPr/>
        </p:nvSpPr>
        <p:spPr>
          <a:xfrm>
            <a:off x="2108200" y="1930400"/>
            <a:ext cx="660400" cy="88900"/>
          </a:xfrm>
          <a:prstGeom prst="roundRect">
            <a:avLst/>
          </a:prstGeom>
          <a:solidFill>
            <a:srgbClr val="22364B"/>
          </a:solidFill>
          <a:ln w="9525" cap="flat" cmpd="sng" algn="ctr">
            <a:noFill/>
            <a:prstDash val="solid"/>
          </a:ln>
          <a:effectLst>
            <a:outerShdw blurRad="40000" dist="23000" dir="5400000" rotWithShape="0">
              <a:srgbClr val="000000">
                <a:alpha val="35000"/>
              </a:srgbClr>
            </a:outerShdw>
          </a:effectLst>
          <a:extLst>
            <a:ext uri="{91240B29-F687-4F45-9708-019B960494DF}">
              <a14:hiddenLine xmlns:a14="http://schemas.microsoft.com/office/drawing/2010/main" w="9525" cap="flat" cmpd="sng" algn="ctr">
                <a:solidFill>
                  <a:schemeClr val="accent1">
                    <a:shade val="95000"/>
                    <a:satMod val="105000"/>
                  </a:schemeClr>
                </a:solidFill>
                <a:prstDash val="solid"/>
              </a14:hiddenLine>
            </a:ext>
          </a:ex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21" name="Rectangle: Rounded Corners 20">
            <a:extLst>
              <a:ext uri="{FF2B5EF4-FFF2-40B4-BE49-F238E27FC236}">
                <a16:creationId xmlns:a16="http://schemas.microsoft.com/office/drawing/2014/main" id="{6A21CAF5-BFA9-BB94-873E-9660DBD543F5}"/>
              </a:ext>
            </a:extLst>
          </p:cNvPr>
          <p:cNvSpPr/>
          <p:nvPr/>
        </p:nvSpPr>
        <p:spPr>
          <a:xfrm>
            <a:off x="2108200" y="1930400"/>
            <a:ext cx="336804" cy="88900"/>
          </a:xfrm>
          <a:prstGeom prst="roundRect">
            <a:avLst/>
          </a:prstGeom>
          <a:solidFill>
            <a:srgbClr val="F87171"/>
          </a:solidFill>
          <a:ln w="9525" cap="flat" cmpd="sng" algn="ctr">
            <a:noFill/>
            <a:prstDash val="solid"/>
          </a:ln>
          <a:effectLst>
            <a:outerShdw blurRad="40000" dist="23000" dir="5400000" rotWithShape="0">
              <a:srgbClr val="000000">
                <a:alpha val="35000"/>
              </a:srgbClr>
            </a:outerShdw>
          </a:effectLst>
          <a:extLst>
            <a:ext uri="{91240B29-F687-4F45-9708-019B960494DF}">
              <a14:hiddenLine xmlns:a14="http://schemas.microsoft.com/office/drawing/2010/main" w="9525" cap="flat" cmpd="sng" algn="ctr">
                <a:solidFill>
                  <a:schemeClr val="accent1">
                    <a:shade val="95000"/>
                    <a:satMod val="105000"/>
                  </a:schemeClr>
                </a:solidFill>
                <a:prstDash val="solid"/>
              </a14:hiddenLine>
            </a:ext>
          </a:ex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22" name="TextBox 21">
            <a:extLst>
              <a:ext uri="{FF2B5EF4-FFF2-40B4-BE49-F238E27FC236}">
                <a16:creationId xmlns:a16="http://schemas.microsoft.com/office/drawing/2014/main" id="{CF1F1E96-D60A-2A20-96C7-CFDA47768A30}"/>
              </a:ext>
            </a:extLst>
          </p:cNvPr>
          <p:cNvSpPr txBox="1"/>
          <p:nvPr/>
        </p:nvSpPr>
        <p:spPr>
          <a:xfrm>
            <a:off x="2108200" y="2082800"/>
            <a:ext cx="660400" cy="276999"/>
          </a:xfrm>
          <a:prstGeom prst="rect">
            <a:avLst/>
          </a:prstGeom>
          <a:noFill/>
        </p:spPr>
        <p:txBody>
          <a:bodyPr vert="horz" wrap="square" lIns="0" tIns="0" rIns="0" bIns="0" rtlCol="0" anchor="t">
            <a:noAutofit/>
          </a:bodyPr>
          <a:lstStyle/>
          <a:p>
            <a:pPr algn="ctr"/>
            <a:r>
              <a:rPr lang="en-US" sz="700">
                <a:solidFill>
                  <a:srgbClr val="778CA3"/>
                </a:solidFill>
                <a:latin typeface="Aptos" panose="020B0004020202020204" pitchFamily="34" charset="0"/>
              </a:rPr>
              <a:t>attack mix</a:t>
            </a:r>
          </a:p>
        </p:txBody>
      </p:sp>
      <p:sp>
        <p:nvSpPr>
          <p:cNvPr id="23" name="Rectangle: Rounded Corners 22">
            <a:extLst>
              <a:ext uri="{FF2B5EF4-FFF2-40B4-BE49-F238E27FC236}">
                <a16:creationId xmlns:a16="http://schemas.microsoft.com/office/drawing/2014/main" id="{F3BE546E-1E47-3A8C-9824-EF26F7CE259D}"/>
              </a:ext>
            </a:extLst>
          </p:cNvPr>
          <p:cNvSpPr/>
          <p:nvPr/>
        </p:nvSpPr>
        <p:spPr>
          <a:xfrm>
            <a:off x="558800" y="2463800"/>
            <a:ext cx="2387600" cy="546100"/>
          </a:xfrm>
          <a:prstGeom prst="roundRect">
            <a:avLst/>
          </a:prstGeom>
          <a:solidFill>
            <a:srgbClr val="14283D"/>
          </a:solidFill>
          <a:ln w="12700">
            <a:solidFill>
              <a:srgbClr val="2F4962"/>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cxnSp>
        <p:nvCxnSpPr>
          <p:cNvPr id="24" name="Straight Connector 23">
            <a:extLst>
              <a:ext uri="{FF2B5EF4-FFF2-40B4-BE49-F238E27FC236}">
                <a16:creationId xmlns:a16="http://schemas.microsoft.com/office/drawing/2014/main" id="{D35F7F06-2828-CC40-C662-2D1864D706B8}"/>
              </a:ext>
            </a:extLst>
          </p:cNvPr>
          <p:cNvCxnSpPr/>
          <p:nvPr/>
        </p:nvCxnSpPr>
        <p:spPr>
          <a:xfrm>
            <a:off x="732790" y="2684780"/>
            <a:ext cx="160020" cy="91440"/>
          </a:xfrm>
          <a:prstGeom prst="line">
            <a:avLst/>
          </a:prstGeom>
          <a:ln w="8573" cap="flat" cmpd="sng" algn="ctr">
            <a:solidFill>
              <a:srgbClr val="10C58B"/>
            </a:solidFill>
            <a:prstDash val="solid"/>
            <a:round/>
            <a:headEnd type="none" w="med" len="med"/>
            <a:tailEnd type="none" w="med" len="med"/>
          </a:ln>
        </p:spPr>
        <p:style>
          <a:lnRef idx="2">
            <a:schemeClr val="accent1"/>
          </a:lnRef>
          <a:fillRef idx="0">
            <a:schemeClr val="accent1"/>
          </a:fillRef>
          <a:effectRef idx="1">
            <a:schemeClr val="accent1"/>
          </a:effectRef>
          <a:fontRef idx="minor">
            <a:schemeClr val="tx1"/>
          </a:fontRef>
        </p:style>
      </p:cxnSp>
      <p:cxnSp>
        <p:nvCxnSpPr>
          <p:cNvPr id="25" name="Straight Connector 24">
            <a:extLst>
              <a:ext uri="{FF2B5EF4-FFF2-40B4-BE49-F238E27FC236}">
                <a16:creationId xmlns:a16="http://schemas.microsoft.com/office/drawing/2014/main" id="{D3FB5F10-A22A-E4C7-3350-A499B8438265}"/>
              </a:ext>
            </a:extLst>
          </p:cNvPr>
          <p:cNvCxnSpPr/>
          <p:nvPr/>
        </p:nvCxnSpPr>
        <p:spPr>
          <a:xfrm flipV="1">
            <a:off x="732790" y="2684780"/>
            <a:ext cx="160020" cy="91440"/>
          </a:xfrm>
          <a:prstGeom prst="line">
            <a:avLst/>
          </a:prstGeom>
          <a:ln w="8573" cap="flat" cmpd="sng" algn="ctr">
            <a:solidFill>
              <a:srgbClr val="10C58B"/>
            </a:solidFill>
            <a:prstDash val="solid"/>
            <a:round/>
            <a:headEnd type="none" w="med" len="med"/>
            <a:tailEnd type="none" w="med" len="med"/>
          </a:ln>
        </p:spPr>
        <p:style>
          <a:lnRef idx="2">
            <a:schemeClr val="accent1"/>
          </a:lnRef>
          <a:fillRef idx="0">
            <a:schemeClr val="accent1"/>
          </a:fillRef>
          <a:effectRef idx="1">
            <a:schemeClr val="accent1"/>
          </a:effectRef>
          <a:fontRef idx="minor">
            <a:schemeClr val="tx1"/>
          </a:fontRef>
        </p:style>
      </p:cxnSp>
      <p:sp>
        <p:nvSpPr>
          <p:cNvPr id="26" name="Rectangle: Rounded Corners 25">
            <a:extLst>
              <a:ext uri="{FF2B5EF4-FFF2-40B4-BE49-F238E27FC236}">
                <a16:creationId xmlns:a16="http://schemas.microsoft.com/office/drawing/2014/main" id="{39B44B62-824A-3331-FA9B-C7C10EE6B14F}"/>
              </a:ext>
            </a:extLst>
          </p:cNvPr>
          <p:cNvSpPr/>
          <p:nvPr/>
        </p:nvSpPr>
        <p:spPr>
          <a:xfrm>
            <a:off x="767080" y="2707640"/>
            <a:ext cx="91440" cy="45720"/>
          </a:xfrm>
          <a:prstGeom prst="roundRect">
            <a:avLst/>
          </a:prstGeom>
          <a:solidFill>
            <a:srgbClr val="10C58B"/>
          </a:solidFill>
          <a:ln w="9525" cap="flat" cmpd="sng" algn="ctr">
            <a:noFill/>
            <a:prstDash val="solid"/>
          </a:ln>
          <a:effectLst>
            <a:outerShdw blurRad="40000" dist="23000" dir="5400000" rotWithShape="0">
              <a:srgbClr val="000000">
                <a:alpha val="35000"/>
              </a:srgbClr>
            </a:outerShdw>
          </a:effectLst>
          <a:extLst>
            <a:ext uri="{91240B29-F687-4F45-9708-019B960494DF}">
              <a14:hiddenLine xmlns:a14="http://schemas.microsoft.com/office/drawing/2010/main" w="9525" cap="flat" cmpd="sng" algn="ctr">
                <a:solidFill>
                  <a:schemeClr val="accent1">
                    <a:shade val="95000"/>
                    <a:satMod val="105000"/>
                  </a:schemeClr>
                </a:solidFill>
                <a:prstDash val="solid"/>
              </a14:hiddenLine>
            </a:ext>
          </a:ex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27" name="Oval 26">
            <a:extLst>
              <a:ext uri="{FF2B5EF4-FFF2-40B4-BE49-F238E27FC236}">
                <a16:creationId xmlns:a16="http://schemas.microsoft.com/office/drawing/2014/main" id="{1140023C-F261-FB3C-E290-9BC56727FE71}"/>
              </a:ext>
            </a:extLst>
          </p:cNvPr>
          <p:cNvSpPr/>
          <p:nvPr/>
        </p:nvSpPr>
        <p:spPr>
          <a:xfrm>
            <a:off x="715645" y="2667635"/>
            <a:ext cx="45720" cy="45720"/>
          </a:xfrm>
          <a:prstGeom prst="ellipse">
            <a:avLst/>
          </a:prstGeom>
          <a:solidFill>
            <a:srgbClr val="081422"/>
          </a:solidFill>
          <a:ln w="6858">
            <a:solidFill>
              <a:srgbClr val="10C58B"/>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28" name="Oval 27">
            <a:extLst>
              <a:ext uri="{FF2B5EF4-FFF2-40B4-BE49-F238E27FC236}">
                <a16:creationId xmlns:a16="http://schemas.microsoft.com/office/drawing/2014/main" id="{D1E975E4-735D-EF17-12D3-16862F2E2A3E}"/>
              </a:ext>
            </a:extLst>
          </p:cNvPr>
          <p:cNvSpPr/>
          <p:nvPr/>
        </p:nvSpPr>
        <p:spPr>
          <a:xfrm>
            <a:off x="887095" y="2667635"/>
            <a:ext cx="45720" cy="45720"/>
          </a:xfrm>
          <a:prstGeom prst="ellipse">
            <a:avLst/>
          </a:prstGeom>
          <a:solidFill>
            <a:srgbClr val="081422"/>
          </a:solidFill>
          <a:ln w="6858">
            <a:solidFill>
              <a:srgbClr val="10C58B"/>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29" name="Oval 28">
            <a:extLst>
              <a:ext uri="{FF2B5EF4-FFF2-40B4-BE49-F238E27FC236}">
                <a16:creationId xmlns:a16="http://schemas.microsoft.com/office/drawing/2014/main" id="{D808314F-48DC-A1FB-C06A-A49B7044C982}"/>
              </a:ext>
            </a:extLst>
          </p:cNvPr>
          <p:cNvSpPr/>
          <p:nvPr/>
        </p:nvSpPr>
        <p:spPr>
          <a:xfrm>
            <a:off x="715645" y="2770505"/>
            <a:ext cx="45720" cy="45720"/>
          </a:xfrm>
          <a:prstGeom prst="ellipse">
            <a:avLst/>
          </a:prstGeom>
          <a:solidFill>
            <a:srgbClr val="081422"/>
          </a:solidFill>
          <a:ln w="6858">
            <a:solidFill>
              <a:srgbClr val="10C58B"/>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30" name="Oval 29">
            <a:extLst>
              <a:ext uri="{FF2B5EF4-FFF2-40B4-BE49-F238E27FC236}">
                <a16:creationId xmlns:a16="http://schemas.microsoft.com/office/drawing/2014/main" id="{D570E3B5-7C29-2884-9842-3C1B4178C5EC}"/>
              </a:ext>
            </a:extLst>
          </p:cNvPr>
          <p:cNvSpPr/>
          <p:nvPr/>
        </p:nvSpPr>
        <p:spPr>
          <a:xfrm>
            <a:off x="887095" y="2770505"/>
            <a:ext cx="45720" cy="45720"/>
          </a:xfrm>
          <a:prstGeom prst="ellipse">
            <a:avLst/>
          </a:prstGeom>
          <a:solidFill>
            <a:srgbClr val="081422"/>
          </a:solidFill>
          <a:ln w="6858">
            <a:solidFill>
              <a:srgbClr val="10C58B"/>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31" name="TextBox 30">
            <a:extLst>
              <a:ext uri="{FF2B5EF4-FFF2-40B4-BE49-F238E27FC236}">
                <a16:creationId xmlns:a16="http://schemas.microsoft.com/office/drawing/2014/main" id="{6EBEEBF1-870C-238F-FDD0-D4730E1FC1DA}"/>
              </a:ext>
            </a:extLst>
          </p:cNvPr>
          <p:cNvSpPr txBox="1"/>
          <p:nvPr/>
        </p:nvSpPr>
        <p:spPr>
          <a:xfrm>
            <a:off x="1117600" y="2552700"/>
            <a:ext cx="914400" cy="276999"/>
          </a:xfrm>
          <a:prstGeom prst="rect">
            <a:avLst/>
          </a:prstGeom>
          <a:noFill/>
        </p:spPr>
        <p:txBody>
          <a:bodyPr vert="horz" wrap="square" lIns="0" tIns="0" rIns="0" bIns="0" rtlCol="0" anchor="t">
            <a:noAutofit/>
          </a:bodyPr>
          <a:lstStyle/>
          <a:p>
            <a:r>
              <a:rPr lang="en-US" sz="1000" b="1">
                <a:solidFill>
                  <a:srgbClr val="F8FAFC"/>
                </a:solidFill>
                <a:latin typeface="Aptos" panose="020B0004020202020204" pitchFamily="34" charset="0"/>
              </a:rPr>
              <a:t>CLIENT 2</a:t>
            </a:r>
          </a:p>
        </p:txBody>
      </p:sp>
      <p:sp>
        <p:nvSpPr>
          <p:cNvPr id="32" name="TextBox 31">
            <a:extLst>
              <a:ext uri="{FF2B5EF4-FFF2-40B4-BE49-F238E27FC236}">
                <a16:creationId xmlns:a16="http://schemas.microsoft.com/office/drawing/2014/main" id="{3DDA9121-A7FE-8C1A-03AD-23B2F7DD3A77}"/>
              </a:ext>
            </a:extLst>
          </p:cNvPr>
          <p:cNvSpPr txBox="1"/>
          <p:nvPr/>
        </p:nvSpPr>
        <p:spPr>
          <a:xfrm>
            <a:off x="1117600" y="2755900"/>
            <a:ext cx="939800" cy="276999"/>
          </a:xfrm>
          <a:prstGeom prst="rect">
            <a:avLst/>
          </a:prstGeom>
          <a:noFill/>
        </p:spPr>
        <p:txBody>
          <a:bodyPr vert="horz" wrap="square" lIns="0" tIns="0" rIns="0" bIns="0" rtlCol="0" anchor="t">
            <a:noAutofit/>
          </a:bodyPr>
          <a:lstStyle/>
          <a:p>
            <a:r>
              <a:rPr lang="en-US" sz="830">
                <a:solidFill>
                  <a:srgbClr val="A4B4C7"/>
                </a:solidFill>
                <a:latin typeface="Aptos" panose="020B0004020202020204" pitchFamily="34" charset="0"/>
              </a:rPr>
              <a:t>1,046 rows</a:t>
            </a:r>
          </a:p>
        </p:txBody>
      </p:sp>
      <p:sp>
        <p:nvSpPr>
          <p:cNvPr id="33" name="Rectangle: Rounded Corners 32">
            <a:extLst>
              <a:ext uri="{FF2B5EF4-FFF2-40B4-BE49-F238E27FC236}">
                <a16:creationId xmlns:a16="http://schemas.microsoft.com/office/drawing/2014/main" id="{BA5057DA-FB91-FA01-D5E2-F359850FDD8D}"/>
              </a:ext>
            </a:extLst>
          </p:cNvPr>
          <p:cNvSpPr/>
          <p:nvPr/>
        </p:nvSpPr>
        <p:spPr>
          <a:xfrm>
            <a:off x="2108200" y="2616200"/>
            <a:ext cx="660400" cy="88900"/>
          </a:xfrm>
          <a:prstGeom prst="roundRect">
            <a:avLst/>
          </a:prstGeom>
          <a:solidFill>
            <a:srgbClr val="22364B"/>
          </a:solidFill>
          <a:ln w="9525" cap="flat" cmpd="sng" algn="ctr">
            <a:noFill/>
            <a:prstDash val="solid"/>
          </a:ln>
          <a:effectLst>
            <a:outerShdw blurRad="40000" dist="23000" dir="5400000" rotWithShape="0">
              <a:srgbClr val="000000">
                <a:alpha val="35000"/>
              </a:srgbClr>
            </a:outerShdw>
          </a:effectLst>
          <a:extLst>
            <a:ext uri="{91240B29-F687-4F45-9708-019B960494DF}">
              <a14:hiddenLine xmlns:a14="http://schemas.microsoft.com/office/drawing/2010/main" w="9525" cap="flat" cmpd="sng" algn="ctr">
                <a:solidFill>
                  <a:schemeClr val="accent1">
                    <a:shade val="95000"/>
                    <a:satMod val="105000"/>
                  </a:schemeClr>
                </a:solidFill>
                <a:prstDash val="solid"/>
              </a14:hiddenLine>
            </a:ext>
          </a:ex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34" name="Rectangle: Rounded Corners 33">
            <a:extLst>
              <a:ext uri="{FF2B5EF4-FFF2-40B4-BE49-F238E27FC236}">
                <a16:creationId xmlns:a16="http://schemas.microsoft.com/office/drawing/2014/main" id="{CA8603B7-D65C-9CD1-AC31-183F0412CA7C}"/>
              </a:ext>
            </a:extLst>
          </p:cNvPr>
          <p:cNvSpPr/>
          <p:nvPr/>
        </p:nvSpPr>
        <p:spPr>
          <a:xfrm>
            <a:off x="2108200" y="2616200"/>
            <a:ext cx="495300" cy="88900"/>
          </a:xfrm>
          <a:prstGeom prst="roundRect">
            <a:avLst/>
          </a:prstGeom>
          <a:solidFill>
            <a:srgbClr val="F87171"/>
          </a:solidFill>
          <a:ln w="9525" cap="flat" cmpd="sng" algn="ctr">
            <a:noFill/>
            <a:prstDash val="solid"/>
          </a:ln>
          <a:effectLst>
            <a:outerShdw blurRad="40000" dist="23000" dir="5400000" rotWithShape="0">
              <a:srgbClr val="000000">
                <a:alpha val="35000"/>
              </a:srgbClr>
            </a:outerShdw>
          </a:effectLst>
          <a:extLst>
            <a:ext uri="{91240B29-F687-4F45-9708-019B960494DF}">
              <a14:hiddenLine xmlns:a14="http://schemas.microsoft.com/office/drawing/2010/main" w="9525" cap="flat" cmpd="sng" algn="ctr">
                <a:solidFill>
                  <a:schemeClr val="accent1">
                    <a:shade val="95000"/>
                    <a:satMod val="105000"/>
                  </a:schemeClr>
                </a:solidFill>
                <a:prstDash val="solid"/>
              </a14:hiddenLine>
            </a:ext>
          </a:ex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35" name="TextBox 34">
            <a:extLst>
              <a:ext uri="{FF2B5EF4-FFF2-40B4-BE49-F238E27FC236}">
                <a16:creationId xmlns:a16="http://schemas.microsoft.com/office/drawing/2014/main" id="{B3328225-96BD-AC78-C545-27311C2E24FB}"/>
              </a:ext>
            </a:extLst>
          </p:cNvPr>
          <p:cNvSpPr txBox="1"/>
          <p:nvPr/>
        </p:nvSpPr>
        <p:spPr>
          <a:xfrm>
            <a:off x="2108200" y="2768600"/>
            <a:ext cx="660400" cy="276999"/>
          </a:xfrm>
          <a:prstGeom prst="rect">
            <a:avLst/>
          </a:prstGeom>
          <a:noFill/>
        </p:spPr>
        <p:txBody>
          <a:bodyPr vert="horz" wrap="square" lIns="0" tIns="0" rIns="0" bIns="0" rtlCol="0" anchor="t">
            <a:noAutofit/>
          </a:bodyPr>
          <a:lstStyle/>
          <a:p>
            <a:pPr algn="ctr"/>
            <a:r>
              <a:rPr lang="en-US" sz="700">
                <a:solidFill>
                  <a:srgbClr val="778CA3"/>
                </a:solidFill>
                <a:latin typeface="Aptos" panose="020B0004020202020204" pitchFamily="34" charset="0"/>
              </a:rPr>
              <a:t>attack mix</a:t>
            </a:r>
          </a:p>
        </p:txBody>
      </p:sp>
      <p:sp>
        <p:nvSpPr>
          <p:cNvPr id="36" name="Rectangle: Rounded Corners 35">
            <a:extLst>
              <a:ext uri="{FF2B5EF4-FFF2-40B4-BE49-F238E27FC236}">
                <a16:creationId xmlns:a16="http://schemas.microsoft.com/office/drawing/2014/main" id="{944B64DA-4582-4149-AE68-BC1539098A14}"/>
              </a:ext>
            </a:extLst>
          </p:cNvPr>
          <p:cNvSpPr/>
          <p:nvPr/>
        </p:nvSpPr>
        <p:spPr>
          <a:xfrm>
            <a:off x="558800" y="3149600"/>
            <a:ext cx="2387600" cy="546100"/>
          </a:xfrm>
          <a:prstGeom prst="roundRect">
            <a:avLst/>
          </a:prstGeom>
          <a:solidFill>
            <a:srgbClr val="14283D"/>
          </a:solidFill>
          <a:ln w="12700">
            <a:solidFill>
              <a:srgbClr val="2F4962"/>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cxnSp>
        <p:nvCxnSpPr>
          <p:cNvPr id="37" name="Straight Connector 36">
            <a:extLst>
              <a:ext uri="{FF2B5EF4-FFF2-40B4-BE49-F238E27FC236}">
                <a16:creationId xmlns:a16="http://schemas.microsoft.com/office/drawing/2014/main" id="{19AE01BA-EBC9-3115-A7BE-2BF06C71B6B2}"/>
              </a:ext>
            </a:extLst>
          </p:cNvPr>
          <p:cNvCxnSpPr/>
          <p:nvPr/>
        </p:nvCxnSpPr>
        <p:spPr>
          <a:xfrm>
            <a:off x="732790" y="3370580"/>
            <a:ext cx="160020" cy="91440"/>
          </a:xfrm>
          <a:prstGeom prst="line">
            <a:avLst/>
          </a:prstGeom>
          <a:ln w="8573" cap="flat" cmpd="sng" algn="ctr">
            <a:solidFill>
              <a:srgbClr val="10C58B"/>
            </a:solidFill>
            <a:prstDash val="solid"/>
            <a:round/>
            <a:headEnd type="none" w="med" len="med"/>
            <a:tailEnd type="none" w="med" len="med"/>
          </a:ln>
        </p:spPr>
        <p:style>
          <a:lnRef idx="2">
            <a:schemeClr val="accent1"/>
          </a:lnRef>
          <a:fillRef idx="0">
            <a:schemeClr val="accent1"/>
          </a:fillRef>
          <a:effectRef idx="1">
            <a:schemeClr val="accent1"/>
          </a:effectRef>
          <a:fontRef idx="minor">
            <a:schemeClr val="tx1"/>
          </a:fontRef>
        </p:style>
      </p:cxnSp>
      <p:cxnSp>
        <p:nvCxnSpPr>
          <p:cNvPr id="38" name="Straight Connector 37">
            <a:extLst>
              <a:ext uri="{FF2B5EF4-FFF2-40B4-BE49-F238E27FC236}">
                <a16:creationId xmlns:a16="http://schemas.microsoft.com/office/drawing/2014/main" id="{F4679D4A-AFC0-F67B-601A-8EE434AA887E}"/>
              </a:ext>
            </a:extLst>
          </p:cNvPr>
          <p:cNvCxnSpPr/>
          <p:nvPr/>
        </p:nvCxnSpPr>
        <p:spPr>
          <a:xfrm flipV="1">
            <a:off x="732790" y="3370580"/>
            <a:ext cx="160020" cy="91440"/>
          </a:xfrm>
          <a:prstGeom prst="line">
            <a:avLst/>
          </a:prstGeom>
          <a:ln w="8573" cap="flat" cmpd="sng" algn="ctr">
            <a:solidFill>
              <a:srgbClr val="10C58B"/>
            </a:solidFill>
            <a:prstDash val="solid"/>
            <a:round/>
            <a:headEnd type="none" w="med" len="med"/>
            <a:tailEnd type="none" w="med" len="med"/>
          </a:ln>
        </p:spPr>
        <p:style>
          <a:lnRef idx="2">
            <a:schemeClr val="accent1"/>
          </a:lnRef>
          <a:fillRef idx="0">
            <a:schemeClr val="accent1"/>
          </a:fillRef>
          <a:effectRef idx="1">
            <a:schemeClr val="accent1"/>
          </a:effectRef>
          <a:fontRef idx="minor">
            <a:schemeClr val="tx1"/>
          </a:fontRef>
        </p:style>
      </p:cxnSp>
      <p:sp>
        <p:nvSpPr>
          <p:cNvPr id="39" name="Rectangle: Rounded Corners 38">
            <a:extLst>
              <a:ext uri="{FF2B5EF4-FFF2-40B4-BE49-F238E27FC236}">
                <a16:creationId xmlns:a16="http://schemas.microsoft.com/office/drawing/2014/main" id="{8CE789CE-26E3-20BE-FB46-A6D67D7D6D3E}"/>
              </a:ext>
            </a:extLst>
          </p:cNvPr>
          <p:cNvSpPr/>
          <p:nvPr/>
        </p:nvSpPr>
        <p:spPr>
          <a:xfrm>
            <a:off x="767080" y="3393440"/>
            <a:ext cx="91440" cy="45720"/>
          </a:xfrm>
          <a:prstGeom prst="roundRect">
            <a:avLst/>
          </a:prstGeom>
          <a:solidFill>
            <a:srgbClr val="10C58B"/>
          </a:solidFill>
          <a:ln w="9525" cap="flat" cmpd="sng" algn="ctr">
            <a:noFill/>
            <a:prstDash val="solid"/>
          </a:ln>
          <a:effectLst>
            <a:outerShdw blurRad="40000" dist="23000" dir="5400000" rotWithShape="0">
              <a:srgbClr val="000000">
                <a:alpha val="35000"/>
              </a:srgbClr>
            </a:outerShdw>
          </a:effectLst>
          <a:extLst>
            <a:ext uri="{91240B29-F687-4F45-9708-019B960494DF}">
              <a14:hiddenLine xmlns:a14="http://schemas.microsoft.com/office/drawing/2010/main" w="9525" cap="flat" cmpd="sng" algn="ctr">
                <a:solidFill>
                  <a:schemeClr val="accent1">
                    <a:shade val="95000"/>
                    <a:satMod val="105000"/>
                  </a:schemeClr>
                </a:solidFill>
                <a:prstDash val="solid"/>
              </a14:hiddenLine>
            </a:ext>
          </a:ex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40" name="Oval 39">
            <a:extLst>
              <a:ext uri="{FF2B5EF4-FFF2-40B4-BE49-F238E27FC236}">
                <a16:creationId xmlns:a16="http://schemas.microsoft.com/office/drawing/2014/main" id="{4B56A09B-A42A-56E2-2588-6FC0C3982BE3}"/>
              </a:ext>
            </a:extLst>
          </p:cNvPr>
          <p:cNvSpPr/>
          <p:nvPr/>
        </p:nvSpPr>
        <p:spPr>
          <a:xfrm>
            <a:off x="715645" y="3353435"/>
            <a:ext cx="45720" cy="45720"/>
          </a:xfrm>
          <a:prstGeom prst="ellipse">
            <a:avLst/>
          </a:prstGeom>
          <a:solidFill>
            <a:srgbClr val="081422"/>
          </a:solidFill>
          <a:ln w="6858">
            <a:solidFill>
              <a:srgbClr val="10C58B"/>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41" name="Oval 40">
            <a:extLst>
              <a:ext uri="{FF2B5EF4-FFF2-40B4-BE49-F238E27FC236}">
                <a16:creationId xmlns:a16="http://schemas.microsoft.com/office/drawing/2014/main" id="{E71F3038-4F54-A896-E2EA-9D4206E0C32B}"/>
              </a:ext>
            </a:extLst>
          </p:cNvPr>
          <p:cNvSpPr/>
          <p:nvPr/>
        </p:nvSpPr>
        <p:spPr>
          <a:xfrm>
            <a:off x="887095" y="3353435"/>
            <a:ext cx="45720" cy="45720"/>
          </a:xfrm>
          <a:prstGeom prst="ellipse">
            <a:avLst/>
          </a:prstGeom>
          <a:solidFill>
            <a:srgbClr val="081422"/>
          </a:solidFill>
          <a:ln w="6858">
            <a:solidFill>
              <a:srgbClr val="10C58B"/>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42" name="Oval 41">
            <a:extLst>
              <a:ext uri="{FF2B5EF4-FFF2-40B4-BE49-F238E27FC236}">
                <a16:creationId xmlns:a16="http://schemas.microsoft.com/office/drawing/2014/main" id="{7EC7F7CA-F325-D9F6-3F47-D9D75A70DB7E}"/>
              </a:ext>
            </a:extLst>
          </p:cNvPr>
          <p:cNvSpPr/>
          <p:nvPr/>
        </p:nvSpPr>
        <p:spPr>
          <a:xfrm>
            <a:off x="715645" y="3456305"/>
            <a:ext cx="45720" cy="45720"/>
          </a:xfrm>
          <a:prstGeom prst="ellipse">
            <a:avLst/>
          </a:prstGeom>
          <a:solidFill>
            <a:srgbClr val="081422"/>
          </a:solidFill>
          <a:ln w="6858">
            <a:solidFill>
              <a:srgbClr val="10C58B"/>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43" name="Oval 42">
            <a:extLst>
              <a:ext uri="{FF2B5EF4-FFF2-40B4-BE49-F238E27FC236}">
                <a16:creationId xmlns:a16="http://schemas.microsoft.com/office/drawing/2014/main" id="{3C45C13D-B35D-23B3-C608-B7A2B833DAC5}"/>
              </a:ext>
            </a:extLst>
          </p:cNvPr>
          <p:cNvSpPr/>
          <p:nvPr/>
        </p:nvSpPr>
        <p:spPr>
          <a:xfrm>
            <a:off x="887095" y="3456305"/>
            <a:ext cx="45720" cy="45720"/>
          </a:xfrm>
          <a:prstGeom prst="ellipse">
            <a:avLst/>
          </a:prstGeom>
          <a:solidFill>
            <a:srgbClr val="081422"/>
          </a:solidFill>
          <a:ln w="6858">
            <a:solidFill>
              <a:srgbClr val="10C58B"/>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44" name="TextBox 43">
            <a:extLst>
              <a:ext uri="{FF2B5EF4-FFF2-40B4-BE49-F238E27FC236}">
                <a16:creationId xmlns:a16="http://schemas.microsoft.com/office/drawing/2014/main" id="{B040A102-B3D4-348F-96AB-A6F8560931A7}"/>
              </a:ext>
            </a:extLst>
          </p:cNvPr>
          <p:cNvSpPr txBox="1"/>
          <p:nvPr/>
        </p:nvSpPr>
        <p:spPr>
          <a:xfrm>
            <a:off x="1117600" y="3238500"/>
            <a:ext cx="914400" cy="276999"/>
          </a:xfrm>
          <a:prstGeom prst="rect">
            <a:avLst/>
          </a:prstGeom>
          <a:noFill/>
        </p:spPr>
        <p:txBody>
          <a:bodyPr vert="horz" wrap="square" lIns="0" tIns="0" rIns="0" bIns="0" rtlCol="0" anchor="t">
            <a:noAutofit/>
          </a:bodyPr>
          <a:lstStyle/>
          <a:p>
            <a:r>
              <a:rPr lang="en-US" sz="1000" b="1">
                <a:solidFill>
                  <a:srgbClr val="F8FAFC"/>
                </a:solidFill>
                <a:latin typeface="Aptos" panose="020B0004020202020204" pitchFamily="34" charset="0"/>
              </a:rPr>
              <a:t>CLIENT 3</a:t>
            </a:r>
          </a:p>
        </p:txBody>
      </p:sp>
      <p:sp>
        <p:nvSpPr>
          <p:cNvPr id="45" name="TextBox 44">
            <a:extLst>
              <a:ext uri="{FF2B5EF4-FFF2-40B4-BE49-F238E27FC236}">
                <a16:creationId xmlns:a16="http://schemas.microsoft.com/office/drawing/2014/main" id="{BAE50BC6-702D-8A79-B6BD-4604ED9E5997}"/>
              </a:ext>
            </a:extLst>
          </p:cNvPr>
          <p:cNvSpPr txBox="1"/>
          <p:nvPr/>
        </p:nvSpPr>
        <p:spPr>
          <a:xfrm>
            <a:off x="1117600" y="3441700"/>
            <a:ext cx="939800" cy="276999"/>
          </a:xfrm>
          <a:prstGeom prst="rect">
            <a:avLst/>
          </a:prstGeom>
          <a:noFill/>
        </p:spPr>
        <p:txBody>
          <a:bodyPr vert="horz" wrap="square" lIns="0" tIns="0" rIns="0" bIns="0" rtlCol="0" anchor="t">
            <a:noAutofit/>
          </a:bodyPr>
          <a:lstStyle/>
          <a:p>
            <a:r>
              <a:rPr lang="en-US" sz="830">
                <a:solidFill>
                  <a:srgbClr val="A4B4C7"/>
                </a:solidFill>
                <a:latin typeface="Aptos" panose="020B0004020202020204" pitchFamily="34" charset="0"/>
              </a:rPr>
              <a:t>591 rows</a:t>
            </a:r>
          </a:p>
        </p:txBody>
      </p:sp>
      <p:sp>
        <p:nvSpPr>
          <p:cNvPr id="46" name="Rectangle: Rounded Corners 45">
            <a:extLst>
              <a:ext uri="{FF2B5EF4-FFF2-40B4-BE49-F238E27FC236}">
                <a16:creationId xmlns:a16="http://schemas.microsoft.com/office/drawing/2014/main" id="{9B531F66-D5CD-2C95-5C84-116829738836}"/>
              </a:ext>
            </a:extLst>
          </p:cNvPr>
          <p:cNvSpPr/>
          <p:nvPr/>
        </p:nvSpPr>
        <p:spPr>
          <a:xfrm>
            <a:off x="2108200" y="3302000"/>
            <a:ext cx="660400" cy="88900"/>
          </a:xfrm>
          <a:prstGeom prst="roundRect">
            <a:avLst/>
          </a:prstGeom>
          <a:solidFill>
            <a:srgbClr val="22364B"/>
          </a:solidFill>
          <a:ln w="9525" cap="flat" cmpd="sng" algn="ctr">
            <a:noFill/>
            <a:prstDash val="solid"/>
          </a:ln>
          <a:effectLst>
            <a:outerShdw blurRad="40000" dist="23000" dir="5400000" rotWithShape="0">
              <a:srgbClr val="000000">
                <a:alpha val="35000"/>
              </a:srgbClr>
            </a:outerShdw>
          </a:effectLst>
          <a:extLst>
            <a:ext uri="{91240B29-F687-4F45-9708-019B960494DF}">
              <a14:hiddenLine xmlns:a14="http://schemas.microsoft.com/office/drawing/2010/main" w="9525" cap="flat" cmpd="sng" algn="ctr">
                <a:solidFill>
                  <a:schemeClr val="accent1">
                    <a:shade val="95000"/>
                    <a:satMod val="105000"/>
                  </a:schemeClr>
                </a:solidFill>
                <a:prstDash val="solid"/>
              </a14:hiddenLine>
            </a:ext>
          </a:ex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47" name="Rectangle: Rounded Corners 46">
            <a:extLst>
              <a:ext uri="{FF2B5EF4-FFF2-40B4-BE49-F238E27FC236}">
                <a16:creationId xmlns:a16="http://schemas.microsoft.com/office/drawing/2014/main" id="{88377975-D328-A835-71B3-BC2C93872674}"/>
              </a:ext>
            </a:extLst>
          </p:cNvPr>
          <p:cNvSpPr/>
          <p:nvPr/>
        </p:nvSpPr>
        <p:spPr>
          <a:xfrm>
            <a:off x="2108200" y="3302000"/>
            <a:ext cx="495300" cy="88900"/>
          </a:xfrm>
          <a:prstGeom prst="roundRect">
            <a:avLst/>
          </a:prstGeom>
          <a:solidFill>
            <a:srgbClr val="F87171"/>
          </a:solidFill>
          <a:ln w="9525" cap="flat" cmpd="sng" algn="ctr">
            <a:noFill/>
            <a:prstDash val="solid"/>
          </a:ln>
          <a:effectLst>
            <a:outerShdw blurRad="40000" dist="23000" dir="5400000" rotWithShape="0">
              <a:srgbClr val="000000">
                <a:alpha val="35000"/>
              </a:srgbClr>
            </a:outerShdw>
          </a:effectLst>
          <a:extLst>
            <a:ext uri="{91240B29-F687-4F45-9708-019B960494DF}">
              <a14:hiddenLine xmlns:a14="http://schemas.microsoft.com/office/drawing/2010/main" w="9525" cap="flat" cmpd="sng" algn="ctr">
                <a:solidFill>
                  <a:schemeClr val="accent1">
                    <a:shade val="95000"/>
                    <a:satMod val="105000"/>
                  </a:schemeClr>
                </a:solidFill>
                <a:prstDash val="solid"/>
              </a14:hiddenLine>
            </a:ext>
          </a:ex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48" name="TextBox 47">
            <a:extLst>
              <a:ext uri="{FF2B5EF4-FFF2-40B4-BE49-F238E27FC236}">
                <a16:creationId xmlns:a16="http://schemas.microsoft.com/office/drawing/2014/main" id="{F6932AFB-A832-71CC-A739-E721C0772251}"/>
              </a:ext>
            </a:extLst>
          </p:cNvPr>
          <p:cNvSpPr txBox="1"/>
          <p:nvPr/>
        </p:nvSpPr>
        <p:spPr>
          <a:xfrm>
            <a:off x="2108200" y="3454400"/>
            <a:ext cx="660400" cy="276999"/>
          </a:xfrm>
          <a:prstGeom prst="rect">
            <a:avLst/>
          </a:prstGeom>
          <a:noFill/>
        </p:spPr>
        <p:txBody>
          <a:bodyPr vert="horz" wrap="square" lIns="0" tIns="0" rIns="0" bIns="0" rtlCol="0" anchor="t">
            <a:noAutofit/>
          </a:bodyPr>
          <a:lstStyle/>
          <a:p>
            <a:pPr algn="ctr"/>
            <a:r>
              <a:rPr lang="en-US" sz="700">
                <a:solidFill>
                  <a:srgbClr val="778CA3"/>
                </a:solidFill>
                <a:latin typeface="Aptos" panose="020B0004020202020204" pitchFamily="34" charset="0"/>
              </a:rPr>
              <a:t>attack mix</a:t>
            </a:r>
          </a:p>
        </p:txBody>
      </p:sp>
      <p:sp>
        <p:nvSpPr>
          <p:cNvPr id="49" name="Rectangle: Rounded Corners 48">
            <a:extLst>
              <a:ext uri="{FF2B5EF4-FFF2-40B4-BE49-F238E27FC236}">
                <a16:creationId xmlns:a16="http://schemas.microsoft.com/office/drawing/2014/main" id="{C2FE70EE-DF74-57F6-CF3B-F4A98A527F32}"/>
              </a:ext>
            </a:extLst>
          </p:cNvPr>
          <p:cNvSpPr/>
          <p:nvPr/>
        </p:nvSpPr>
        <p:spPr>
          <a:xfrm>
            <a:off x="558800" y="3835400"/>
            <a:ext cx="2387600" cy="546100"/>
          </a:xfrm>
          <a:prstGeom prst="roundRect">
            <a:avLst/>
          </a:prstGeom>
          <a:solidFill>
            <a:srgbClr val="14283D"/>
          </a:solidFill>
          <a:ln w="12700">
            <a:solidFill>
              <a:srgbClr val="2F4962"/>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cxnSp>
        <p:nvCxnSpPr>
          <p:cNvPr id="50" name="Straight Connector 49">
            <a:extLst>
              <a:ext uri="{FF2B5EF4-FFF2-40B4-BE49-F238E27FC236}">
                <a16:creationId xmlns:a16="http://schemas.microsoft.com/office/drawing/2014/main" id="{DF6B991C-E743-8173-3570-AA6FAE566750}"/>
              </a:ext>
            </a:extLst>
          </p:cNvPr>
          <p:cNvCxnSpPr/>
          <p:nvPr/>
        </p:nvCxnSpPr>
        <p:spPr>
          <a:xfrm>
            <a:off x="732790" y="4056380"/>
            <a:ext cx="160020" cy="91440"/>
          </a:xfrm>
          <a:prstGeom prst="line">
            <a:avLst/>
          </a:prstGeom>
          <a:ln w="8573" cap="flat" cmpd="sng" algn="ctr">
            <a:solidFill>
              <a:srgbClr val="10C58B"/>
            </a:solidFill>
            <a:prstDash val="solid"/>
            <a:round/>
            <a:headEnd type="none" w="med" len="med"/>
            <a:tailEnd type="none" w="med" len="med"/>
          </a:ln>
        </p:spPr>
        <p:style>
          <a:lnRef idx="2">
            <a:schemeClr val="accent1"/>
          </a:lnRef>
          <a:fillRef idx="0">
            <a:schemeClr val="accent1"/>
          </a:fillRef>
          <a:effectRef idx="1">
            <a:schemeClr val="accent1"/>
          </a:effectRef>
          <a:fontRef idx="minor">
            <a:schemeClr val="tx1"/>
          </a:fontRef>
        </p:style>
      </p:cxnSp>
      <p:cxnSp>
        <p:nvCxnSpPr>
          <p:cNvPr id="51" name="Straight Connector 50">
            <a:extLst>
              <a:ext uri="{FF2B5EF4-FFF2-40B4-BE49-F238E27FC236}">
                <a16:creationId xmlns:a16="http://schemas.microsoft.com/office/drawing/2014/main" id="{2F17F0A4-71C4-E252-B7E6-38A8837CF54E}"/>
              </a:ext>
            </a:extLst>
          </p:cNvPr>
          <p:cNvCxnSpPr/>
          <p:nvPr/>
        </p:nvCxnSpPr>
        <p:spPr>
          <a:xfrm flipV="1">
            <a:off x="732790" y="4056380"/>
            <a:ext cx="160020" cy="91440"/>
          </a:xfrm>
          <a:prstGeom prst="line">
            <a:avLst/>
          </a:prstGeom>
          <a:ln w="8573" cap="flat" cmpd="sng" algn="ctr">
            <a:solidFill>
              <a:srgbClr val="10C58B"/>
            </a:solidFill>
            <a:prstDash val="solid"/>
            <a:round/>
            <a:headEnd type="none" w="med" len="med"/>
            <a:tailEnd type="none" w="med" len="med"/>
          </a:ln>
        </p:spPr>
        <p:style>
          <a:lnRef idx="2">
            <a:schemeClr val="accent1"/>
          </a:lnRef>
          <a:fillRef idx="0">
            <a:schemeClr val="accent1"/>
          </a:fillRef>
          <a:effectRef idx="1">
            <a:schemeClr val="accent1"/>
          </a:effectRef>
          <a:fontRef idx="minor">
            <a:schemeClr val="tx1"/>
          </a:fontRef>
        </p:style>
      </p:cxnSp>
      <p:sp>
        <p:nvSpPr>
          <p:cNvPr id="52" name="Rectangle: Rounded Corners 51">
            <a:extLst>
              <a:ext uri="{FF2B5EF4-FFF2-40B4-BE49-F238E27FC236}">
                <a16:creationId xmlns:a16="http://schemas.microsoft.com/office/drawing/2014/main" id="{8F27F054-24D4-EC66-FB12-57C162E30CC7}"/>
              </a:ext>
            </a:extLst>
          </p:cNvPr>
          <p:cNvSpPr/>
          <p:nvPr/>
        </p:nvSpPr>
        <p:spPr>
          <a:xfrm>
            <a:off x="767080" y="4079240"/>
            <a:ext cx="91440" cy="45720"/>
          </a:xfrm>
          <a:prstGeom prst="roundRect">
            <a:avLst/>
          </a:prstGeom>
          <a:solidFill>
            <a:srgbClr val="10C58B"/>
          </a:solidFill>
          <a:ln w="9525" cap="flat" cmpd="sng" algn="ctr">
            <a:noFill/>
            <a:prstDash val="solid"/>
          </a:ln>
          <a:effectLst>
            <a:outerShdw blurRad="40000" dist="23000" dir="5400000" rotWithShape="0">
              <a:srgbClr val="000000">
                <a:alpha val="35000"/>
              </a:srgbClr>
            </a:outerShdw>
          </a:effectLst>
          <a:extLst>
            <a:ext uri="{91240B29-F687-4F45-9708-019B960494DF}">
              <a14:hiddenLine xmlns:a14="http://schemas.microsoft.com/office/drawing/2010/main" w="9525" cap="flat" cmpd="sng" algn="ctr">
                <a:solidFill>
                  <a:schemeClr val="accent1">
                    <a:shade val="95000"/>
                    <a:satMod val="105000"/>
                  </a:schemeClr>
                </a:solidFill>
                <a:prstDash val="solid"/>
              </a14:hiddenLine>
            </a:ext>
          </a:ex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53" name="Oval 52">
            <a:extLst>
              <a:ext uri="{FF2B5EF4-FFF2-40B4-BE49-F238E27FC236}">
                <a16:creationId xmlns:a16="http://schemas.microsoft.com/office/drawing/2014/main" id="{FF06D0DD-380F-9E8B-F366-73AF749E95F5}"/>
              </a:ext>
            </a:extLst>
          </p:cNvPr>
          <p:cNvSpPr/>
          <p:nvPr/>
        </p:nvSpPr>
        <p:spPr>
          <a:xfrm>
            <a:off x="715645" y="4039235"/>
            <a:ext cx="45720" cy="45720"/>
          </a:xfrm>
          <a:prstGeom prst="ellipse">
            <a:avLst/>
          </a:prstGeom>
          <a:solidFill>
            <a:srgbClr val="081422"/>
          </a:solidFill>
          <a:ln w="6858">
            <a:solidFill>
              <a:srgbClr val="10C58B"/>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54" name="Oval 53">
            <a:extLst>
              <a:ext uri="{FF2B5EF4-FFF2-40B4-BE49-F238E27FC236}">
                <a16:creationId xmlns:a16="http://schemas.microsoft.com/office/drawing/2014/main" id="{633B1185-DB77-C5C2-AACA-747CE3858EDB}"/>
              </a:ext>
            </a:extLst>
          </p:cNvPr>
          <p:cNvSpPr/>
          <p:nvPr/>
        </p:nvSpPr>
        <p:spPr>
          <a:xfrm>
            <a:off x="887095" y="4039235"/>
            <a:ext cx="45720" cy="45720"/>
          </a:xfrm>
          <a:prstGeom prst="ellipse">
            <a:avLst/>
          </a:prstGeom>
          <a:solidFill>
            <a:srgbClr val="081422"/>
          </a:solidFill>
          <a:ln w="6858">
            <a:solidFill>
              <a:srgbClr val="10C58B"/>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55" name="Oval 54">
            <a:extLst>
              <a:ext uri="{FF2B5EF4-FFF2-40B4-BE49-F238E27FC236}">
                <a16:creationId xmlns:a16="http://schemas.microsoft.com/office/drawing/2014/main" id="{C29D503C-9786-977A-2812-FA82557C53E9}"/>
              </a:ext>
            </a:extLst>
          </p:cNvPr>
          <p:cNvSpPr/>
          <p:nvPr/>
        </p:nvSpPr>
        <p:spPr>
          <a:xfrm>
            <a:off x="715645" y="4142105"/>
            <a:ext cx="45720" cy="45720"/>
          </a:xfrm>
          <a:prstGeom prst="ellipse">
            <a:avLst/>
          </a:prstGeom>
          <a:solidFill>
            <a:srgbClr val="081422"/>
          </a:solidFill>
          <a:ln w="6858">
            <a:solidFill>
              <a:srgbClr val="10C58B"/>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56" name="Oval 55">
            <a:extLst>
              <a:ext uri="{FF2B5EF4-FFF2-40B4-BE49-F238E27FC236}">
                <a16:creationId xmlns:a16="http://schemas.microsoft.com/office/drawing/2014/main" id="{486493AA-896C-5742-A037-8EECF133F0AF}"/>
              </a:ext>
            </a:extLst>
          </p:cNvPr>
          <p:cNvSpPr/>
          <p:nvPr/>
        </p:nvSpPr>
        <p:spPr>
          <a:xfrm>
            <a:off x="887095" y="4142105"/>
            <a:ext cx="45720" cy="45720"/>
          </a:xfrm>
          <a:prstGeom prst="ellipse">
            <a:avLst/>
          </a:prstGeom>
          <a:solidFill>
            <a:srgbClr val="081422"/>
          </a:solidFill>
          <a:ln w="6858">
            <a:solidFill>
              <a:srgbClr val="10C58B"/>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57" name="TextBox 56">
            <a:extLst>
              <a:ext uri="{FF2B5EF4-FFF2-40B4-BE49-F238E27FC236}">
                <a16:creationId xmlns:a16="http://schemas.microsoft.com/office/drawing/2014/main" id="{0EC387A8-91B6-A4C2-890D-71C7A39CD97A}"/>
              </a:ext>
            </a:extLst>
          </p:cNvPr>
          <p:cNvSpPr txBox="1"/>
          <p:nvPr/>
        </p:nvSpPr>
        <p:spPr>
          <a:xfrm>
            <a:off x="1117600" y="3924300"/>
            <a:ext cx="914400" cy="276999"/>
          </a:xfrm>
          <a:prstGeom prst="rect">
            <a:avLst/>
          </a:prstGeom>
          <a:noFill/>
        </p:spPr>
        <p:txBody>
          <a:bodyPr vert="horz" wrap="square" lIns="0" tIns="0" rIns="0" bIns="0" rtlCol="0" anchor="t">
            <a:noAutofit/>
          </a:bodyPr>
          <a:lstStyle/>
          <a:p>
            <a:r>
              <a:rPr lang="en-US" sz="1000" b="1">
                <a:solidFill>
                  <a:srgbClr val="F8FAFC"/>
                </a:solidFill>
                <a:latin typeface="Aptos" panose="020B0004020202020204" pitchFamily="34" charset="0"/>
              </a:rPr>
              <a:t>CLIENT 4</a:t>
            </a:r>
          </a:p>
        </p:txBody>
      </p:sp>
      <p:sp>
        <p:nvSpPr>
          <p:cNvPr id="58" name="TextBox 57">
            <a:extLst>
              <a:ext uri="{FF2B5EF4-FFF2-40B4-BE49-F238E27FC236}">
                <a16:creationId xmlns:a16="http://schemas.microsoft.com/office/drawing/2014/main" id="{6B6E8371-9F8D-4089-A992-612981FE59CB}"/>
              </a:ext>
            </a:extLst>
          </p:cNvPr>
          <p:cNvSpPr txBox="1"/>
          <p:nvPr/>
        </p:nvSpPr>
        <p:spPr>
          <a:xfrm>
            <a:off x="1117600" y="4127500"/>
            <a:ext cx="939800" cy="276999"/>
          </a:xfrm>
          <a:prstGeom prst="rect">
            <a:avLst/>
          </a:prstGeom>
          <a:noFill/>
        </p:spPr>
        <p:txBody>
          <a:bodyPr vert="horz" wrap="square" lIns="0" tIns="0" rIns="0" bIns="0" rtlCol="0" anchor="t">
            <a:noAutofit/>
          </a:bodyPr>
          <a:lstStyle/>
          <a:p>
            <a:r>
              <a:rPr lang="en-US" sz="830">
                <a:solidFill>
                  <a:srgbClr val="A4B4C7"/>
                </a:solidFill>
                <a:latin typeface="Aptos" panose="020B0004020202020204" pitchFamily="34" charset="0"/>
              </a:rPr>
              <a:t>2,027 rows</a:t>
            </a:r>
          </a:p>
        </p:txBody>
      </p:sp>
      <p:sp>
        <p:nvSpPr>
          <p:cNvPr id="59" name="Rectangle: Rounded Corners 58">
            <a:extLst>
              <a:ext uri="{FF2B5EF4-FFF2-40B4-BE49-F238E27FC236}">
                <a16:creationId xmlns:a16="http://schemas.microsoft.com/office/drawing/2014/main" id="{823987CA-BA32-E696-C941-14F0F3D83332}"/>
              </a:ext>
            </a:extLst>
          </p:cNvPr>
          <p:cNvSpPr/>
          <p:nvPr/>
        </p:nvSpPr>
        <p:spPr>
          <a:xfrm>
            <a:off x="2108200" y="3987800"/>
            <a:ext cx="660400" cy="88900"/>
          </a:xfrm>
          <a:prstGeom prst="roundRect">
            <a:avLst/>
          </a:prstGeom>
          <a:solidFill>
            <a:srgbClr val="22364B"/>
          </a:solidFill>
          <a:ln w="9525" cap="flat" cmpd="sng" algn="ctr">
            <a:noFill/>
            <a:prstDash val="solid"/>
          </a:ln>
          <a:effectLst>
            <a:outerShdw blurRad="40000" dist="23000" dir="5400000" rotWithShape="0">
              <a:srgbClr val="000000">
                <a:alpha val="35000"/>
              </a:srgbClr>
            </a:outerShdw>
          </a:effectLst>
          <a:extLst>
            <a:ext uri="{91240B29-F687-4F45-9708-019B960494DF}">
              <a14:hiddenLine xmlns:a14="http://schemas.microsoft.com/office/drawing/2010/main" w="9525" cap="flat" cmpd="sng" algn="ctr">
                <a:solidFill>
                  <a:schemeClr val="accent1">
                    <a:shade val="95000"/>
                    <a:satMod val="105000"/>
                  </a:schemeClr>
                </a:solidFill>
                <a:prstDash val="solid"/>
              </a14:hiddenLine>
            </a:ext>
          </a:ex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60" name="Rectangle: Rounded Corners 59">
            <a:extLst>
              <a:ext uri="{FF2B5EF4-FFF2-40B4-BE49-F238E27FC236}">
                <a16:creationId xmlns:a16="http://schemas.microsoft.com/office/drawing/2014/main" id="{2CC0C2A8-AE99-DD2B-DC3D-91EB0F0F7A62}"/>
              </a:ext>
            </a:extLst>
          </p:cNvPr>
          <p:cNvSpPr/>
          <p:nvPr/>
        </p:nvSpPr>
        <p:spPr>
          <a:xfrm>
            <a:off x="2108200" y="3987800"/>
            <a:ext cx="594360" cy="88900"/>
          </a:xfrm>
          <a:prstGeom prst="roundRect">
            <a:avLst/>
          </a:prstGeom>
          <a:solidFill>
            <a:srgbClr val="F87171"/>
          </a:solidFill>
          <a:ln w="9525" cap="flat" cmpd="sng" algn="ctr">
            <a:noFill/>
            <a:prstDash val="solid"/>
          </a:ln>
          <a:effectLst>
            <a:outerShdw blurRad="40000" dist="23000" dir="5400000" rotWithShape="0">
              <a:srgbClr val="000000">
                <a:alpha val="35000"/>
              </a:srgbClr>
            </a:outerShdw>
          </a:effectLst>
          <a:extLst>
            <a:ext uri="{91240B29-F687-4F45-9708-019B960494DF}">
              <a14:hiddenLine xmlns:a14="http://schemas.microsoft.com/office/drawing/2010/main" w="9525" cap="flat" cmpd="sng" algn="ctr">
                <a:solidFill>
                  <a:schemeClr val="accent1">
                    <a:shade val="95000"/>
                    <a:satMod val="105000"/>
                  </a:schemeClr>
                </a:solidFill>
                <a:prstDash val="solid"/>
              </a14:hiddenLine>
            </a:ext>
          </a:ex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61" name="TextBox 60">
            <a:extLst>
              <a:ext uri="{FF2B5EF4-FFF2-40B4-BE49-F238E27FC236}">
                <a16:creationId xmlns:a16="http://schemas.microsoft.com/office/drawing/2014/main" id="{1EA837D5-A237-C0C7-B493-59A2C3D3028F}"/>
              </a:ext>
            </a:extLst>
          </p:cNvPr>
          <p:cNvSpPr txBox="1"/>
          <p:nvPr/>
        </p:nvSpPr>
        <p:spPr>
          <a:xfrm>
            <a:off x="2108200" y="4140200"/>
            <a:ext cx="660400" cy="276999"/>
          </a:xfrm>
          <a:prstGeom prst="rect">
            <a:avLst/>
          </a:prstGeom>
          <a:noFill/>
        </p:spPr>
        <p:txBody>
          <a:bodyPr vert="horz" wrap="square" lIns="0" tIns="0" rIns="0" bIns="0" rtlCol="0" anchor="t">
            <a:noAutofit/>
          </a:bodyPr>
          <a:lstStyle/>
          <a:p>
            <a:pPr algn="ctr"/>
            <a:r>
              <a:rPr lang="en-US" sz="700">
                <a:solidFill>
                  <a:srgbClr val="778CA3"/>
                </a:solidFill>
                <a:latin typeface="Aptos" panose="020B0004020202020204" pitchFamily="34" charset="0"/>
              </a:rPr>
              <a:t>attack mix</a:t>
            </a:r>
          </a:p>
        </p:txBody>
      </p:sp>
      <p:sp>
        <p:nvSpPr>
          <p:cNvPr id="62" name="Rectangle: Rounded Corners 61">
            <a:extLst>
              <a:ext uri="{FF2B5EF4-FFF2-40B4-BE49-F238E27FC236}">
                <a16:creationId xmlns:a16="http://schemas.microsoft.com/office/drawing/2014/main" id="{03204E96-9744-E37D-65CB-8EE1078A52DE}"/>
              </a:ext>
            </a:extLst>
          </p:cNvPr>
          <p:cNvSpPr/>
          <p:nvPr/>
        </p:nvSpPr>
        <p:spPr>
          <a:xfrm>
            <a:off x="558800" y="4521200"/>
            <a:ext cx="2387600" cy="546100"/>
          </a:xfrm>
          <a:prstGeom prst="roundRect">
            <a:avLst/>
          </a:prstGeom>
          <a:solidFill>
            <a:srgbClr val="14283D"/>
          </a:solidFill>
          <a:ln w="12700">
            <a:solidFill>
              <a:srgbClr val="2F4962"/>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cxnSp>
        <p:nvCxnSpPr>
          <p:cNvPr id="63" name="Straight Connector 62">
            <a:extLst>
              <a:ext uri="{FF2B5EF4-FFF2-40B4-BE49-F238E27FC236}">
                <a16:creationId xmlns:a16="http://schemas.microsoft.com/office/drawing/2014/main" id="{4319FBAD-503D-31FA-58CF-513F076EFCA2}"/>
              </a:ext>
            </a:extLst>
          </p:cNvPr>
          <p:cNvCxnSpPr/>
          <p:nvPr/>
        </p:nvCxnSpPr>
        <p:spPr>
          <a:xfrm>
            <a:off x="732790" y="4742180"/>
            <a:ext cx="160020" cy="91440"/>
          </a:xfrm>
          <a:prstGeom prst="line">
            <a:avLst/>
          </a:prstGeom>
          <a:ln w="8573" cap="flat" cmpd="sng" algn="ctr">
            <a:solidFill>
              <a:srgbClr val="10C58B"/>
            </a:solidFill>
            <a:prstDash val="solid"/>
            <a:round/>
            <a:headEnd type="none" w="med" len="med"/>
            <a:tailEnd type="none" w="med" len="med"/>
          </a:ln>
        </p:spPr>
        <p:style>
          <a:lnRef idx="2">
            <a:schemeClr val="accent1"/>
          </a:lnRef>
          <a:fillRef idx="0">
            <a:schemeClr val="accent1"/>
          </a:fillRef>
          <a:effectRef idx="1">
            <a:schemeClr val="accent1"/>
          </a:effectRef>
          <a:fontRef idx="minor">
            <a:schemeClr val="tx1"/>
          </a:fontRef>
        </p:style>
      </p:cxnSp>
      <p:cxnSp>
        <p:nvCxnSpPr>
          <p:cNvPr id="64" name="Straight Connector 63">
            <a:extLst>
              <a:ext uri="{FF2B5EF4-FFF2-40B4-BE49-F238E27FC236}">
                <a16:creationId xmlns:a16="http://schemas.microsoft.com/office/drawing/2014/main" id="{431A1ECB-6486-7A66-6A60-1F70390BC8CA}"/>
              </a:ext>
            </a:extLst>
          </p:cNvPr>
          <p:cNvCxnSpPr/>
          <p:nvPr/>
        </p:nvCxnSpPr>
        <p:spPr>
          <a:xfrm flipV="1">
            <a:off x="732790" y="4742180"/>
            <a:ext cx="160020" cy="91440"/>
          </a:xfrm>
          <a:prstGeom prst="line">
            <a:avLst/>
          </a:prstGeom>
          <a:ln w="8573" cap="flat" cmpd="sng" algn="ctr">
            <a:solidFill>
              <a:srgbClr val="10C58B"/>
            </a:solidFill>
            <a:prstDash val="solid"/>
            <a:round/>
            <a:headEnd type="none" w="med" len="med"/>
            <a:tailEnd type="none" w="med" len="med"/>
          </a:ln>
        </p:spPr>
        <p:style>
          <a:lnRef idx="2">
            <a:schemeClr val="accent1"/>
          </a:lnRef>
          <a:fillRef idx="0">
            <a:schemeClr val="accent1"/>
          </a:fillRef>
          <a:effectRef idx="1">
            <a:schemeClr val="accent1"/>
          </a:effectRef>
          <a:fontRef idx="minor">
            <a:schemeClr val="tx1"/>
          </a:fontRef>
        </p:style>
      </p:cxnSp>
      <p:sp>
        <p:nvSpPr>
          <p:cNvPr id="65" name="Rectangle: Rounded Corners 64">
            <a:extLst>
              <a:ext uri="{FF2B5EF4-FFF2-40B4-BE49-F238E27FC236}">
                <a16:creationId xmlns:a16="http://schemas.microsoft.com/office/drawing/2014/main" id="{5AA19B17-1DA0-8E52-14E4-BC20A8AD7D7F}"/>
              </a:ext>
            </a:extLst>
          </p:cNvPr>
          <p:cNvSpPr/>
          <p:nvPr/>
        </p:nvSpPr>
        <p:spPr>
          <a:xfrm>
            <a:off x="767080" y="4765040"/>
            <a:ext cx="91440" cy="45720"/>
          </a:xfrm>
          <a:prstGeom prst="roundRect">
            <a:avLst/>
          </a:prstGeom>
          <a:solidFill>
            <a:srgbClr val="10C58B"/>
          </a:solidFill>
          <a:ln w="9525" cap="flat" cmpd="sng" algn="ctr">
            <a:noFill/>
            <a:prstDash val="solid"/>
          </a:ln>
          <a:effectLst>
            <a:outerShdw blurRad="40000" dist="23000" dir="5400000" rotWithShape="0">
              <a:srgbClr val="000000">
                <a:alpha val="35000"/>
              </a:srgbClr>
            </a:outerShdw>
          </a:effectLst>
          <a:extLst>
            <a:ext uri="{91240B29-F687-4F45-9708-019B960494DF}">
              <a14:hiddenLine xmlns:a14="http://schemas.microsoft.com/office/drawing/2010/main" w="9525" cap="flat" cmpd="sng" algn="ctr">
                <a:solidFill>
                  <a:schemeClr val="accent1">
                    <a:shade val="95000"/>
                    <a:satMod val="105000"/>
                  </a:schemeClr>
                </a:solidFill>
                <a:prstDash val="solid"/>
              </a14:hiddenLine>
            </a:ext>
          </a:ex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66" name="Oval 65">
            <a:extLst>
              <a:ext uri="{FF2B5EF4-FFF2-40B4-BE49-F238E27FC236}">
                <a16:creationId xmlns:a16="http://schemas.microsoft.com/office/drawing/2014/main" id="{1D3430C5-1F97-2B4E-916B-4170E4FC3F69}"/>
              </a:ext>
            </a:extLst>
          </p:cNvPr>
          <p:cNvSpPr/>
          <p:nvPr/>
        </p:nvSpPr>
        <p:spPr>
          <a:xfrm>
            <a:off x="715645" y="4725035"/>
            <a:ext cx="45720" cy="45720"/>
          </a:xfrm>
          <a:prstGeom prst="ellipse">
            <a:avLst/>
          </a:prstGeom>
          <a:solidFill>
            <a:srgbClr val="081422"/>
          </a:solidFill>
          <a:ln w="6858">
            <a:solidFill>
              <a:srgbClr val="10C58B"/>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67" name="Oval 66">
            <a:extLst>
              <a:ext uri="{FF2B5EF4-FFF2-40B4-BE49-F238E27FC236}">
                <a16:creationId xmlns:a16="http://schemas.microsoft.com/office/drawing/2014/main" id="{616F7C40-6323-2334-5259-661FC0DCDAF8}"/>
              </a:ext>
            </a:extLst>
          </p:cNvPr>
          <p:cNvSpPr/>
          <p:nvPr/>
        </p:nvSpPr>
        <p:spPr>
          <a:xfrm>
            <a:off x="887095" y="4725035"/>
            <a:ext cx="45720" cy="45720"/>
          </a:xfrm>
          <a:prstGeom prst="ellipse">
            <a:avLst/>
          </a:prstGeom>
          <a:solidFill>
            <a:srgbClr val="081422"/>
          </a:solidFill>
          <a:ln w="6858">
            <a:solidFill>
              <a:srgbClr val="10C58B"/>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68" name="Oval 67">
            <a:extLst>
              <a:ext uri="{FF2B5EF4-FFF2-40B4-BE49-F238E27FC236}">
                <a16:creationId xmlns:a16="http://schemas.microsoft.com/office/drawing/2014/main" id="{E0E9F09A-4386-CBB2-CB43-510F6F606888}"/>
              </a:ext>
            </a:extLst>
          </p:cNvPr>
          <p:cNvSpPr/>
          <p:nvPr/>
        </p:nvSpPr>
        <p:spPr>
          <a:xfrm>
            <a:off x="715645" y="4827905"/>
            <a:ext cx="45720" cy="45720"/>
          </a:xfrm>
          <a:prstGeom prst="ellipse">
            <a:avLst/>
          </a:prstGeom>
          <a:solidFill>
            <a:srgbClr val="081422"/>
          </a:solidFill>
          <a:ln w="6858">
            <a:solidFill>
              <a:srgbClr val="10C58B"/>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69" name="Oval 68">
            <a:extLst>
              <a:ext uri="{FF2B5EF4-FFF2-40B4-BE49-F238E27FC236}">
                <a16:creationId xmlns:a16="http://schemas.microsoft.com/office/drawing/2014/main" id="{F97ED7A9-C782-9D2E-E75C-0AFB3B6808FA}"/>
              </a:ext>
            </a:extLst>
          </p:cNvPr>
          <p:cNvSpPr/>
          <p:nvPr/>
        </p:nvSpPr>
        <p:spPr>
          <a:xfrm>
            <a:off x="887095" y="4827905"/>
            <a:ext cx="45720" cy="45720"/>
          </a:xfrm>
          <a:prstGeom prst="ellipse">
            <a:avLst/>
          </a:prstGeom>
          <a:solidFill>
            <a:srgbClr val="081422"/>
          </a:solidFill>
          <a:ln w="6858">
            <a:solidFill>
              <a:srgbClr val="10C58B"/>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70" name="TextBox 69">
            <a:extLst>
              <a:ext uri="{FF2B5EF4-FFF2-40B4-BE49-F238E27FC236}">
                <a16:creationId xmlns:a16="http://schemas.microsoft.com/office/drawing/2014/main" id="{09F36F2F-508B-3330-2DAC-152221C28E48}"/>
              </a:ext>
            </a:extLst>
          </p:cNvPr>
          <p:cNvSpPr txBox="1"/>
          <p:nvPr/>
        </p:nvSpPr>
        <p:spPr>
          <a:xfrm>
            <a:off x="1117600" y="4610100"/>
            <a:ext cx="914400" cy="276999"/>
          </a:xfrm>
          <a:prstGeom prst="rect">
            <a:avLst/>
          </a:prstGeom>
          <a:noFill/>
        </p:spPr>
        <p:txBody>
          <a:bodyPr vert="horz" wrap="square" lIns="0" tIns="0" rIns="0" bIns="0" rtlCol="0" anchor="t">
            <a:noAutofit/>
          </a:bodyPr>
          <a:lstStyle/>
          <a:p>
            <a:r>
              <a:rPr lang="en-US" sz="1000" b="1">
                <a:solidFill>
                  <a:srgbClr val="F8FAFC"/>
                </a:solidFill>
                <a:latin typeface="Aptos" panose="020B0004020202020204" pitchFamily="34" charset="0"/>
              </a:rPr>
              <a:t>CLIENT 5</a:t>
            </a:r>
          </a:p>
        </p:txBody>
      </p:sp>
      <p:sp>
        <p:nvSpPr>
          <p:cNvPr id="71" name="TextBox 70">
            <a:extLst>
              <a:ext uri="{FF2B5EF4-FFF2-40B4-BE49-F238E27FC236}">
                <a16:creationId xmlns:a16="http://schemas.microsoft.com/office/drawing/2014/main" id="{61EA97E8-39AB-31A1-E850-A9180C4298A0}"/>
              </a:ext>
            </a:extLst>
          </p:cNvPr>
          <p:cNvSpPr txBox="1"/>
          <p:nvPr/>
        </p:nvSpPr>
        <p:spPr>
          <a:xfrm>
            <a:off x="1117600" y="4813300"/>
            <a:ext cx="939800" cy="276999"/>
          </a:xfrm>
          <a:prstGeom prst="rect">
            <a:avLst/>
          </a:prstGeom>
          <a:noFill/>
        </p:spPr>
        <p:txBody>
          <a:bodyPr vert="horz" wrap="square" lIns="0" tIns="0" rIns="0" bIns="0" rtlCol="0" anchor="t">
            <a:noAutofit/>
          </a:bodyPr>
          <a:lstStyle/>
          <a:p>
            <a:r>
              <a:rPr lang="en-US" sz="830">
                <a:solidFill>
                  <a:srgbClr val="A4B4C7"/>
                </a:solidFill>
                <a:latin typeface="Aptos" panose="020B0004020202020204" pitchFamily="34" charset="0"/>
              </a:rPr>
              <a:t>1,254 rows</a:t>
            </a:r>
          </a:p>
        </p:txBody>
      </p:sp>
      <p:sp>
        <p:nvSpPr>
          <p:cNvPr id="72" name="Rectangle: Rounded Corners 71">
            <a:extLst>
              <a:ext uri="{FF2B5EF4-FFF2-40B4-BE49-F238E27FC236}">
                <a16:creationId xmlns:a16="http://schemas.microsoft.com/office/drawing/2014/main" id="{D54594AE-4B6D-2C0A-AD8B-D60F667D7A97}"/>
              </a:ext>
            </a:extLst>
          </p:cNvPr>
          <p:cNvSpPr/>
          <p:nvPr/>
        </p:nvSpPr>
        <p:spPr>
          <a:xfrm>
            <a:off x="2108200" y="4673600"/>
            <a:ext cx="660400" cy="88900"/>
          </a:xfrm>
          <a:prstGeom prst="roundRect">
            <a:avLst/>
          </a:prstGeom>
          <a:solidFill>
            <a:srgbClr val="22364B"/>
          </a:solidFill>
          <a:ln w="9525" cap="flat" cmpd="sng" algn="ctr">
            <a:noFill/>
            <a:prstDash val="solid"/>
          </a:ln>
          <a:effectLst>
            <a:outerShdw blurRad="40000" dist="23000" dir="5400000" rotWithShape="0">
              <a:srgbClr val="000000">
                <a:alpha val="35000"/>
              </a:srgbClr>
            </a:outerShdw>
          </a:effectLst>
          <a:extLst>
            <a:ext uri="{91240B29-F687-4F45-9708-019B960494DF}">
              <a14:hiddenLine xmlns:a14="http://schemas.microsoft.com/office/drawing/2010/main" w="9525" cap="flat" cmpd="sng" algn="ctr">
                <a:solidFill>
                  <a:schemeClr val="accent1">
                    <a:shade val="95000"/>
                    <a:satMod val="105000"/>
                  </a:schemeClr>
                </a:solidFill>
                <a:prstDash val="solid"/>
              </a14:hiddenLine>
            </a:ext>
          </a:ex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73" name="Rectangle: Rounded Corners 72">
            <a:extLst>
              <a:ext uri="{FF2B5EF4-FFF2-40B4-BE49-F238E27FC236}">
                <a16:creationId xmlns:a16="http://schemas.microsoft.com/office/drawing/2014/main" id="{B89A1262-1773-25C2-4BC9-E50A95991AF8}"/>
              </a:ext>
            </a:extLst>
          </p:cNvPr>
          <p:cNvSpPr/>
          <p:nvPr/>
        </p:nvSpPr>
        <p:spPr>
          <a:xfrm>
            <a:off x="2108200" y="4673600"/>
            <a:ext cx="336804" cy="88900"/>
          </a:xfrm>
          <a:prstGeom prst="roundRect">
            <a:avLst/>
          </a:prstGeom>
          <a:solidFill>
            <a:srgbClr val="F87171"/>
          </a:solidFill>
          <a:ln w="9525" cap="flat" cmpd="sng" algn="ctr">
            <a:noFill/>
            <a:prstDash val="solid"/>
          </a:ln>
          <a:effectLst>
            <a:outerShdw blurRad="40000" dist="23000" dir="5400000" rotWithShape="0">
              <a:srgbClr val="000000">
                <a:alpha val="35000"/>
              </a:srgbClr>
            </a:outerShdw>
          </a:effectLst>
          <a:extLst>
            <a:ext uri="{91240B29-F687-4F45-9708-019B960494DF}">
              <a14:hiddenLine xmlns:a14="http://schemas.microsoft.com/office/drawing/2010/main" w="9525" cap="flat" cmpd="sng" algn="ctr">
                <a:solidFill>
                  <a:schemeClr val="accent1">
                    <a:shade val="95000"/>
                    <a:satMod val="105000"/>
                  </a:schemeClr>
                </a:solidFill>
                <a:prstDash val="solid"/>
              </a14:hiddenLine>
            </a:ext>
          </a:ex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74" name="TextBox 73">
            <a:extLst>
              <a:ext uri="{FF2B5EF4-FFF2-40B4-BE49-F238E27FC236}">
                <a16:creationId xmlns:a16="http://schemas.microsoft.com/office/drawing/2014/main" id="{5D12679F-892C-D6BA-6A72-5176868A5FD0}"/>
              </a:ext>
            </a:extLst>
          </p:cNvPr>
          <p:cNvSpPr txBox="1"/>
          <p:nvPr/>
        </p:nvSpPr>
        <p:spPr>
          <a:xfrm>
            <a:off x="2108200" y="4826000"/>
            <a:ext cx="660400" cy="276999"/>
          </a:xfrm>
          <a:prstGeom prst="rect">
            <a:avLst/>
          </a:prstGeom>
          <a:noFill/>
        </p:spPr>
        <p:txBody>
          <a:bodyPr vert="horz" wrap="square" lIns="0" tIns="0" rIns="0" bIns="0" rtlCol="0" anchor="t">
            <a:noAutofit/>
          </a:bodyPr>
          <a:lstStyle/>
          <a:p>
            <a:pPr algn="ctr"/>
            <a:r>
              <a:rPr lang="en-US" sz="700">
                <a:solidFill>
                  <a:srgbClr val="778CA3"/>
                </a:solidFill>
                <a:latin typeface="Aptos" panose="020B0004020202020204" pitchFamily="34" charset="0"/>
              </a:rPr>
              <a:t>attack mix</a:t>
            </a:r>
          </a:p>
        </p:txBody>
      </p:sp>
      <p:sp>
        <p:nvSpPr>
          <p:cNvPr id="75" name="Rectangle: Rounded Corners 74">
            <a:extLst>
              <a:ext uri="{FF2B5EF4-FFF2-40B4-BE49-F238E27FC236}">
                <a16:creationId xmlns:a16="http://schemas.microsoft.com/office/drawing/2014/main" id="{D8607F89-CCBC-FE00-91AC-C588C326C35A}"/>
              </a:ext>
            </a:extLst>
          </p:cNvPr>
          <p:cNvSpPr/>
          <p:nvPr/>
        </p:nvSpPr>
        <p:spPr>
          <a:xfrm>
            <a:off x="736600" y="5359400"/>
            <a:ext cx="2006600" cy="279400"/>
          </a:xfrm>
          <a:prstGeom prst="roundRect">
            <a:avLst/>
          </a:prstGeom>
          <a:solidFill>
            <a:srgbClr val="0D1E31"/>
          </a:solidFill>
          <a:ln w="9525" cap="flat" cmpd="sng" algn="ctr">
            <a:noFill/>
            <a:prstDash val="solid"/>
          </a:ln>
          <a:effectLst>
            <a:outerShdw blurRad="40000" dist="23000" dir="5400000" rotWithShape="0">
              <a:srgbClr val="000000">
                <a:alpha val="35000"/>
              </a:srgbClr>
            </a:outerShdw>
          </a:effectLst>
          <a:extLst>
            <a:ext uri="{91240B29-F687-4F45-9708-019B960494DF}">
              <a14:hiddenLine xmlns:a14="http://schemas.microsoft.com/office/drawing/2010/main" w="9525" cap="flat" cmpd="sng" algn="ctr">
                <a:solidFill>
                  <a:schemeClr val="accent1">
                    <a:shade val="95000"/>
                    <a:satMod val="105000"/>
                  </a:schemeClr>
                </a:solidFill>
                <a:prstDash val="solid"/>
              </a14:hiddenLine>
            </a:ext>
          </a:ex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76" name="TextBox 75">
            <a:extLst>
              <a:ext uri="{FF2B5EF4-FFF2-40B4-BE49-F238E27FC236}">
                <a16:creationId xmlns:a16="http://schemas.microsoft.com/office/drawing/2014/main" id="{6572B9DD-307D-1D90-3C3E-7020093E0D49}"/>
              </a:ext>
            </a:extLst>
          </p:cNvPr>
          <p:cNvSpPr txBox="1"/>
          <p:nvPr/>
        </p:nvSpPr>
        <p:spPr>
          <a:xfrm>
            <a:off x="736600" y="5359400"/>
            <a:ext cx="2006600" cy="276999"/>
          </a:xfrm>
          <a:prstGeom prst="rect">
            <a:avLst/>
          </a:prstGeom>
          <a:noFill/>
        </p:spPr>
        <p:txBody>
          <a:bodyPr vert="horz" wrap="square" lIns="0" tIns="0" rIns="0" bIns="0" rtlCol="0" anchor="ctr">
            <a:noAutofit/>
          </a:bodyPr>
          <a:lstStyle/>
          <a:p>
            <a:pPr algn="ctr"/>
            <a:r>
              <a:rPr lang="en-US" sz="850" b="1">
                <a:solidFill>
                  <a:srgbClr val="10C58B"/>
                </a:solidFill>
                <a:latin typeface="Aptos" panose="020B0004020202020204" pitchFamily="34" charset="0"/>
              </a:rPr>
              <a:t>LOCAL DATA STAYS HERE</a:t>
            </a:r>
          </a:p>
        </p:txBody>
      </p:sp>
      <p:sp>
        <p:nvSpPr>
          <p:cNvPr id="77" name="Rectangle: Rounded Corners 76">
            <a:extLst>
              <a:ext uri="{FF2B5EF4-FFF2-40B4-BE49-F238E27FC236}">
                <a16:creationId xmlns:a16="http://schemas.microsoft.com/office/drawing/2014/main" id="{3ACB2406-E94C-724A-75B4-37249CB768F1}"/>
              </a:ext>
            </a:extLst>
          </p:cNvPr>
          <p:cNvSpPr/>
          <p:nvPr/>
        </p:nvSpPr>
        <p:spPr>
          <a:xfrm>
            <a:off x="3733800" y="1778000"/>
            <a:ext cx="3175000" cy="3860800"/>
          </a:xfrm>
          <a:prstGeom prst="roundRect">
            <a:avLst/>
          </a:prstGeom>
          <a:solidFill>
            <a:srgbClr val="14283D"/>
          </a:solidFill>
          <a:ln w="19050">
            <a:solidFill>
              <a:srgbClr val="F59E0B"/>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78" name="TextBox 77">
            <a:extLst>
              <a:ext uri="{FF2B5EF4-FFF2-40B4-BE49-F238E27FC236}">
                <a16:creationId xmlns:a16="http://schemas.microsoft.com/office/drawing/2014/main" id="{3257DF34-DBBF-387D-C5D7-DC3C464A9CD0}"/>
              </a:ext>
            </a:extLst>
          </p:cNvPr>
          <p:cNvSpPr txBox="1"/>
          <p:nvPr/>
        </p:nvSpPr>
        <p:spPr>
          <a:xfrm>
            <a:off x="3987800" y="1981200"/>
            <a:ext cx="2667000" cy="276999"/>
          </a:xfrm>
          <a:prstGeom prst="rect">
            <a:avLst/>
          </a:prstGeom>
          <a:noFill/>
        </p:spPr>
        <p:txBody>
          <a:bodyPr vert="horz" wrap="square" lIns="0" tIns="0" rIns="0" bIns="0" rtlCol="0" anchor="t">
            <a:noAutofit/>
          </a:bodyPr>
          <a:lstStyle/>
          <a:p>
            <a:pPr algn="ctr"/>
            <a:r>
              <a:rPr lang="en-US" sz="1200" b="1">
                <a:solidFill>
                  <a:srgbClr val="F8FAFC"/>
                </a:solidFill>
                <a:latin typeface="Aptos" panose="020B0004020202020204" pitchFamily="34" charset="0"/>
              </a:rPr>
              <a:t>PROTECTED MODEL EXCHANGE</a:t>
            </a:r>
          </a:p>
        </p:txBody>
      </p:sp>
      <p:sp>
        <p:nvSpPr>
          <p:cNvPr id="79" name="Oval 78">
            <a:extLst>
              <a:ext uri="{FF2B5EF4-FFF2-40B4-BE49-F238E27FC236}">
                <a16:creationId xmlns:a16="http://schemas.microsoft.com/office/drawing/2014/main" id="{3FE2C219-C277-3816-CD4A-866C60331D7E}"/>
              </a:ext>
            </a:extLst>
          </p:cNvPr>
          <p:cNvSpPr/>
          <p:nvPr/>
        </p:nvSpPr>
        <p:spPr>
          <a:xfrm>
            <a:off x="4013200" y="2527300"/>
            <a:ext cx="254000" cy="254000"/>
          </a:xfrm>
          <a:prstGeom prst="ellipse">
            <a:avLst/>
          </a:prstGeom>
          <a:solidFill>
            <a:srgbClr val="0D1E31"/>
          </a:solidFill>
          <a:ln w="12700">
            <a:solidFill>
              <a:srgbClr val="F59E0B"/>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80" name="TextBox 79">
            <a:extLst>
              <a:ext uri="{FF2B5EF4-FFF2-40B4-BE49-F238E27FC236}">
                <a16:creationId xmlns:a16="http://schemas.microsoft.com/office/drawing/2014/main" id="{BC3DF68E-F392-50C5-B8B8-46ECDCBF85EF}"/>
              </a:ext>
            </a:extLst>
          </p:cNvPr>
          <p:cNvSpPr txBox="1"/>
          <p:nvPr/>
        </p:nvSpPr>
        <p:spPr>
          <a:xfrm>
            <a:off x="4013200" y="2527300"/>
            <a:ext cx="254000" cy="276999"/>
          </a:xfrm>
          <a:prstGeom prst="rect">
            <a:avLst/>
          </a:prstGeom>
          <a:noFill/>
        </p:spPr>
        <p:txBody>
          <a:bodyPr vert="horz" wrap="square" lIns="0" tIns="0" rIns="0" bIns="0" rtlCol="0" anchor="ctr">
            <a:noAutofit/>
          </a:bodyPr>
          <a:lstStyle/>
          <a:p>
            <a:pPr algn="ctr"/>
            <a:endParaRPr lang="en-US" sz="750" b="1" dirty="0">
              <a:solidFill>
                <a:srgbClr val="F59E0B"/>
              </a:solidFill>
              <a:latin typeface="Aptos" panose="020B0004020202020204" pitchFamily="34" charset="0"/>
            </a:endParaRPr>
          </a:p>
        </p:txBody>
      </p:sp>
      <p:sp>
        <p:nvSpPr>
          <p:cNvPr id="81" name="TextBox 80">
            <a:extLst>
              <a:ext uri="{FF2B5EF4-FFF2-40B4-BE49-F238E27FC236}">
                <a16:creationId xmlns:a16="http://schemas.microsoft.com/office/drawing/2014/main" id="{5D924898-7AEF-6C58-B3E3-A3CCEF02D959}"/>
              </a:ext>
            </a:extLst>
          </p:cNvPr>
          <p:cNvSpPr txBox="1"/>
          <p:nvPr/>
        </p:nvSpPr>
        <p:spPr>
          <a:xfrm>
            <a:off x="4394200" y="2514600"/>
            <a:ext cx="2108200" cy="276999"/>
          </a:xfrm>
          <a:prstGeom prst="rect">
            <a:avLst/>
          </a:prstGeom>
          <a:noFill/>
        </p:spPr>
        <p:txBody>
          <a:bodyPr vert="horz" wrap="square" lIns="0" tIns="0" rIns="0" bIns="0" rtlCol="0" anchor="t">
            <a:noAutofit/>
          </a:bodyPr>
          <a:lstStyle/>
          <a:p>
            <a:r>
              <a:rPr lang="en-US" sz="950" b="1">
                <a:solidFill>
                  <a:srgbClr val="F8FAFC"/>
                </a:solidFill>
                <a:latin typeface="Aptos" panose="020B0004020202020204" pitchFamily="34" charset="0"/>
              </a:rPr>
              <a:t>ML-KEM-768</a:t>
            </a:r>
          </a:p>
        </p:txBody>
      </p:sp>
      <p:sp>
        <p:nvSpPr>
          <p:cNvPr id="82" name="TextBox 81">
            <a:extLst>
              <a:ext uri="{FF2B5EF4-FFF2-40B4-BE49-F238E27FC236}">
                <a16:creationId xmlns:a16="http://schemas.microsoft.com/office/drawing/2014/main" id="{0B6DB8A5-9561-70A7-00FB-D290D0221806}"/>
              </a:ext>
            </a:extLst>
          </p:cNvPr>
          <p:cNvSpPr txBox="1"/>
          <p:nvPr/>
        </p:nvSpPr>
        <p:spPr>
          <a:xfrm>
            <a:off x="4394200" y="2717800"/>
            <a:ext cx="2108200" cy="276999"/>
          </a:xfrm>
          <a:prstGeom prst="rect">
            <a:avLst/>
          </a:prstGeom>
          <a:noFill/>
        </p:spPr>
        <p:txBody>
          <a:bodyPr vert="horz" wrap="square" lIns="0" tIns="0" rIns="0" bIns="0" rtlCol="0" anchor="t">
            <a:noAutofit/>
          </a:bodyPr>
          <a:lstStyle/>
          <a:p>
            <a:r>
              <a:rPr lang="en-US" sz="830">
                <a:solidFill>
                  <a:srgbClr val="A4B4C7"/>
                </a:solidFill>
                <a:latin typeface="Aptos" panose="020B0004020202020204" pitchFamily="34" charset="0"/>
              </a:rPr>
              <a:t>establish key material</a:t>
            </a:r>
          </a:p>
        </p:txBody>
      </p:sp>
      <p:sp>
        <p:nvSpPr>
          <p:cNvPr id="83" name="Oval 82">
            <a:extLst>
              <a:ext uri="{FF2B5EF4-FFF2-40B4-BE49-F238E27FC236}">
                <a16:creationId xmlns:a16="http://schemas.microsoft.com/office/drawing/2014/main" id="{E31FBF9B-3306-A043-02FB-B3F20370BE5B}"/>
              </a:ext>
            </a:extLst>
          </p:cNvPr>
          <p:cNvSpPr/>
          <p:nvPr/>
        </p:nvSpPr>
        <p:spPr>
          <a:xfrm>
            <a:off x="4013200" y="3136900"/>
            <a:ext cx="254000" cy="254000"/>
          </a:xfrm>
          <a:prstGeom prst="ellipse">
            <a:avLst/>
          </a:prstGeom>
          <a:solidFill>
            <a:srgbClr val="0D1E31"/>
          </a:solidFill>
          <a:ln w="12700">
            <a:solidFill>
              <a:srgbClr val="F59E0B"/>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84" name="TextBox 83">
            <a:extLst>
              <a:ext uri="{FF2B5EF4-FFF2-40B4-BE49-F238E27FC236}">
                <a16:creationId xmlns:a16="http://schemas.microsoft.com/office/drawing/2014/main" id="{4A8B854E-A1FF-7727-6D3C-B00708CE07F1}"/>
              </a:ext>
            </a:extLst>
          </p:cNvPr>
          <p:cNvSpPr txBox="1"/>
          <p:nvPr/>
        </p:nvSpPr>
        <p:spPr>
          <a:xfrm>
            <a:off x="4013200" y="3136900"/>
            <a:ext cx="254000" cy="276999"/>
          </a:xfrm>
          <a:prstGeom prst="rect">
            <a:avLst/>
          </a:prstGeom>
          <a:noFill/>
        </p:spPr>
        <p:txBody>
          <a:bodyPr vert="horz" wrap="square" lIns="0" tIns="0" rIns="0" bIns="0" rtlCol="0" anchor="ctr">
            <a:noAutofit/>
          </a:bodyPr>
          <a:lstStyle/>
          <a:p>
            <a:pPr algn="ctr"/>
            <a:endParaRPr lang="en-US" sz="750" b="1" dirty="0">
              <a:solidFill>
                <a:srgbClr val="F59E0B"/>
              </a:solidFill>
              <a:latin typeface="Aptos" panose="020B0004020202020204" pitchFamily="34" charset="0"/>
            </a:endParaRPr>
          </a:p>
        </p:txBody>
      </p:sp>
      <p:sp>
        <p:nvSpPr>
          <p:cNvPr id="85" name="TextBox 84">
            <a:extLst>
              <a:ext uri="{FF2B5EF4-FFF2-40B4-BE49-F238E27FC236}">
                <a16:creationId xmlns:a16="http://schemas.microsoft.com/office/drawing/2014/main" id="{4746B5CF-B75C-D234-B42B-1739E7E9899F}"/>
              </a:ext>
            </a:extLst>
          </p:cNvPr>
          <p:cNvSpPr txBox="1"/>
          <p:nvPr/>
        </p:nvSpPr>
        <p:spPr>
          <a:xfrm>
            <a:off x="4394200" y="3124200"/>
            <a:ext cx="2108200" cy="276999"/>
          </a:xfrm>
          <a:prstGeom prst="rect">
            <a:avLst/>
          </a:prstGeom>
          <a:noFill/>
        </p:spPr>
        <p:txBody>
          <a:bodyPr vert="horz" wrap="square" lIns="0" tIns="0" rIns="0" bIns="0" rtlCol="0" anchor="t">
            <a:noAutofit/>
          </a:bodyPr>
          <a:lstStyle/>
          <a:p>
            <a:r>
              <a:rPr lang="en-US" sz="950" b="1">
                <a:solidFill>
                  <a:srgbClr val="F8FAFC"/>
                </a:solidFill>
                <a:latin typeface="Aptos" panose="020B0004020202020204" pitchFamily="34" charset="0"/>
              </a:rPr>
              <a:t>HKDF-SHA-256</a:t>
            </a:r>
          </a:p>
        </p:txBody>
      </p:sp>
      <p:sp>
        <p:nvSpPr>
          <p:cNvPr id="86" name="TextBox 85">
            <a:extLst>
              <a:ext uri="{FF2B5EF4-FFF2-40B4-BE49-F238E27FC236}">
                <a16:creationId xmlns:a16="http://schemas.microsoft.com/office/drawing/2014/main" id="{8012FFF9-F8D8-4EA4-B751-A8158CCC966F}"/>
              </a:ext>
            </a:extLst>
          </p:cNvPr>
          <p:cNvSpPr txBox="1"/>
          <p:nvPr/>
        </p:nvSpPr>
        <p:spPr>
          <a:xfrm>
            <a:off x="4394200" y="3327400"/>
            <a:ext cx="2108200" cy="276999"/>
          </a:xfrm>
          <a:prstGeom prst="rect">
            <a:avLst/>
          </a:prstGeom>
          <a:noFill/>
        </p:spPr>
        <p:txBody>
          <a:bodyPr vert="horz" wrap="square" lIns="0" tIns="0" rIns="0" bIns="0" rtlCol="0" anchor="t">
            <a:noAutofit/>
          </a:bodyPr>
          <a:lstStyle/>
          <a:p>
            <a:r>
              <a:rPr lang="en-US" sz="830">
                <a:solidFill>
                  <a:srgbClr val="A4B4C7"/>
                </a:solidFill>
                <a:latin typeface="Aptos" panose="020B0004020202020204" pitchFamily="34" charset="0"/>
              </a:rPr>
              <a:t>derive directional keys</a:t>
            </a:r>
          </a:p>
        </p:txBody>
      </p:sp>
      <p:sp>
        <p:nvSpPr>
          <p:cNvPr id="87" name="Oval 86">
            <a:extLst>
              <a:ext uri="{FF2B5EF4-FFF2-40B4-BE49-F238E27FC236}">
                <a16:creationId xmlns:a16="http://schemas.microsoft.com/office/drawing/2014/main" id="{E571DB6E-19AB-FD7F-4966-A0CEB9166D37}"/>
              </a:ext>
            </a:extLst>
          </p:cNvPr>
          <p:cNvSpPr/>
          <p:nvPr/>
        </p:nvSpPr>
        <p:spPr>
          <a:xfrm>
            <a:off x="4013200" y="3746500"/>
            <a:ext cx="254000" cy="254000"/>
          </a:xfrm>
          <a:prstGeom prst="ellipse">
            <a:avLst/>
          </a:prstGeom>
          <a:solidFill>
            <a:srgbClr val="0D1E31"/>
          </a:solidFill>
          <a:ln w="12700">
            <a:solidFill>
              <a:srgbClr val="F59E0B"/>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88" name="TextBox 87">
            <a:extLst>
              <a:ext uri="{FF2B5EF4-FFF2-40B4-BE49-F238E27FC236}">
                <a16:creationId xmlns:a16="http://schemas.microsoft.com/office/drawing/2014/main" id="{B300F2A6-BC00-5978-3090-617B5D45D273}"/>
              </a:ext>
            </a:extLst>
          </p:cNvPr>
          <p:cNvSpPr txBox="1"/>
          <p:nvPr/>
        </p:nvSpPr>
        <p:spPr>
          <a:xfrm>
            <a:off x="4013200" y="3746500"/>
            <a:ext cx="254000" cy="276999"/>
          </a:xfrm>
          <a:prstGeom prst="rect">
            <a:avLst/>
          </a:prstGeom>
          <a:noFill/>
        </p:spPr>
        <p:txBody>
          <a:bodyPr vert="horz" wrap="square" lIns="0" tIns="0" rIns="0" bIns="0" rtlCol="0" anchor="ctr">
            <a:noAutofit/>
          </a:bodyPr>
          <a:lstStyle/>
          <a:p>
            <a:pPr algn="ctr"/>
            <a:endParaRPr lang="en-US" sz="750" b="1" dirty="0">
              <a:solidFill>
                <a:srgbClr val="F59E0B"/>
              </a:solidFill>
              <a:latin typeface="Aptos" panose="020B0004020202020204" pitchFamily="34" charset="0"/>
            </a:endParaRPr>
          </a:p>
        </p:txBody>
      </p:sp>
      <p:sp>
        <p:nvSpPr>
          <p:cNvPr id="89" name="TextBox 88">
            <a:extLst>
              <a:ext uri="{FF2B5EF4-FFF2-40B4-BE49-F238E27FC236}">
                <a16:creationId xmlns:a16="http://schemas.microsoft.com/office/drawing/2014/main" id="{F10DB812-3C2B-1E78-E5F5-CB86003BC189}"/>
              </a:ext>
            </a:extLst>
          </p:cNvPr>
          <p:cNvSpPr txBox="1"/>
          <p:nvPr/>
        </p:nvSpPr>
        <p:spPr>
          <a:xfrm>
            <a:off x="4394200" y="3733800"/>
            <a:ext cx="2108200" cy="276999"/>
          </a:xfrm>
          <a:prstGeom prst="rect">
            <a:avLst/>
          </a:prstGeom>
          <a:noFill/>
        </p:spPr>
        <p:txBody>
          <a:bodyPr vert="horz" wrap="square" lIns="0" tIns="0" rIns="0" bIns="0" rtlCol="0" anchor="t">
            <a:noAutofit/>
          </a:bodyPr>
          <a:lstStyle/>
          <a:p>
            <a:r>
              <a:rPr lang="en-US" sz="950" b="1">
                <a:solidFill>
                  <a:srgbClr val="F8FAFC"/>
                </a:solidFill>
                <a:latin typeface="Aptos" panose="020B0004020202020204" pitchFamily="34" charset="0"/>
              </a:rPr>
              <a:t>ML-DSA-65</a:t>
            </a:r>
          </a:p>
        </p:txBody>
      </p:sp>
      <p:sp>
        <p:nvSpPr>
          <p:cNvPr id="90" name="TextBox 89">
            <a:extLst>
              <a:ext uri="{FF2B5EF4-FFF2-40B4-BE49-F238E27FC236}">
                <a16:creationId xmlns:a16="http://schemas.microsoft.com/office/drawing/2014/main" id="{87388810-DDF8-F7D7-04EE-2DA6894A8519}"/>
              </a:ext>
            </a:extLst>
          </p:cNvPr>
          <p:cNvSpPr txBox="1"/>
          <p:nvPr/>
        </p:nvSpPr>
        <p:spPr>
          <a:xfrm>
            <a:off x="4394200" y="3937000"/>
            <a:ext cx="2108200" cy="276999"/>
          </a:xfrm>
          <a:prstGeom prst="rect">
            <a:avLst/>
          </a:prstGeom>
          <a:noFill/>
        </p:spPr>
        <p:txBody>
          <a:bodyPr vert="horz" wrap="square" lIns="0" tIns="0" rIns="0" bIns="0" rtlCol="0" anchor="t">
            <a:noAutofit/>
          </a:bodyPr>
          <a:lstStyle/>
          <a:p>
            <a:r>
              <a:rPr lang="en-US" sz="830">
                <a:solidFill>
                  <a:srgbClr val="A4B4C7"/>
                </a:solidFill>
                <a:latin typeface="Aptos" panose="020B0004020202020204" pitchFamily="34" charset="0"/>
              </a:rPr>
              <a:t>authenticate identities</a:t>
            </a:r>
          </a:p>
        </p:txBody>
      </p:sp>
      <p:sp>
        <p:nvSpPr>
          <p:cNvPr id="91" name="Oval 90">
            <a:extLst>
              <a:ext uri="{FF2B5EF4-FFF2-40B4-BE49-F238E27FC236}">
                <a16:creationId xmlns:a16="http://schemas.microsoft.com/office/drawing/2014/main" id="{850F7C72-0C77-4046-31EC-B94AA9B89AA0}"/>
              </a:ext>
            </a:extLst>
          </p:cNvPr>
          <p:cNvSpPr/>
          <p:nvPr/>
        </p:nvSpPr>
        <p:spPr>
          <a:xfrm>
            <a:off x="4013200" y="4356100"/>
            <a:ext cx="254000" cy="254000"/>
          </a:xfrm>
          <a:prstGeom prst="ellipse">
            <a:avLst/>
          </a:prstGeom>
          <a:solidFill>
            <a:srgbClr val="0D1E31"/>
          </a:solidFill>
          <a:ln w="12700">
            <a:solidFill>
              <a:srgbClr val="F59E0B"/>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92" name="TextBox 91">
            <a:extLst>
              <a:ext uri="{FF2B5EF4-FFF2-40B4-BE49-F238E27FC236}">
                <a16:creationId xmlns:a16="http://schemas.microsoft.com/office/drawing/2014/main" id="{A83B461A-6CA0-901F-69F9-2502DED04FBB}"/>
              </a:ext>
            </a:extLst>
          </p:cNvPr>
          <p:cNvSpPr txBox="1"/>
          <p:nvPr/>
        </p:nvSpPr>
        <p:spPr>
          <a:xfrm>
            <a:off x="4013200" y="4356100"/>
            <a:ext cx="254000" cy="276999"/>
          </a:xfrm>
          <a:prstGeom prst="rect">
            <a:avLst/>
          </a:prstGeom>
          <a:noFill/>
        </p:spPr>
        <p:txBody>
          <a:bodyPr vert="horz" wrap="square" lIns="0" tIns="0" rIns="0" bIns="0" rtlCol="0" anchor="ctr">
            <a:noAutofit/>
          </a:bodyPr>
          <a:lstStyle/>
          <a:p>
            <a:pPr algn="ctr"/>
            <a:endParaRPr lang="en-US" sz="750" b="1" dirty="0">
              <a:solidFill>
                <a:srgbClr val="F59E0B"/>
              </a:solidFill>
              <a:latin typeface="Aptos" panose="020B0004020202020204" pitchFamily="34" charset="0"/>
            </a:endParaRPr>
          </a:p>
        </p:txBody>
      </p:sp>
      <p:sp>
        <p:nvSpPr>
          <p:cNvPr id="93" name="TextBox 92">
            <a:extLst>
              <a:ext uri="{FF2B5EF4-FFF2-40B4-BE49-F238E27FC236}">
                <a16:creationId xmlns:a16="http://schemas.microsoft.com/office/drawing/2014/main" id="{2F483005-E94E-A18F-B327-98E34B6F674C}"/>
              </a:ext>
            </a:extLst>
          </p:cNvPr>
          <p:cNvSpPr txBox="1"/>
          <p:nvPr/>
        </p:nvSpPr>
        <p:spPr>
          <a:xfrm>
            <a:off x="4394200" y="4343400"/>
            <a:ext cx="2108200" cy="276999"/>
          </a:xfrm>
          <a:prstGeom prst="rect">
            <a:avLst/>
          </a:prstGeom>
          <a:noFill/>
        </p:spPr>
        <p:txBody>
          <a:bodyPr vert="horz" wrap="square" lIns="0" tIns="0" rIns="0" bIns="0" rtlCol="0" anchor="t">
            <a:noAutofit/>
          </a:bodyPr>
          <a:lstStyle/>
          <a:p>
            <a:r>
              <a:rPr lang="en-US" sz="950" b="1">
                <a:solidFill>
                  <a:srgbClr val="F8FAFC"/>
                </a:solidFill>
                <a:latin typeface="Aptos" panose="020B0004020202020204" pitchFamily="34" charset="0"/>
              </a:rPr>
              <a:t>AES-256-GCM</a:t>
            </a:r>
          </a:p>
        </p:txBody>
      </p:sp>
      <p:sp>
        <p:nvSpPr>
          <p:cNvPr id="94" name="TextBox 93">
            <a:extLst>
              <a:ext uri="{FF2B5EF4-FFF2-40B4-BE49-F238E27FC236}">
                <a16:creationId xmlns:a16="http://schemas.microsoft.com/office/drawing/2014/main" id="{0330082C-2946-EFDA-3F35-012096B63F50}"/>
              </a:ext>
            </a:extLst>
          </p:cNvPr>
          <p:cNvSpPr txBox="1"/>
          <p:nvPr/>
        </p:nvSpPr>
        <p:spPr>
          <a:xfrm>
            <a:off x="4394200" y="4546600"/>
            <a:ext cx="2108200" cy="276999"/>
          </a:xfrm>
          <a:prstGeom prst="rect">
            <a:avLst/>
          </a:prstGeom>
          <a:noFill/>
        </p:spPr>
        <p:txBody>
          <a:bodyPr vert="horz" wrap="square" lIns="0" tIns="0" rIns="0" bIns="0" rtlCol="0" anchor="t">
            <a:noAutofit/>
          </a:bodyPr>
          <a:lstStyle/>
          <a:p>
            <a:r>
              <a:rPr lang="en-US" sz="830">
                <a:solidFill>
                  <a:srgbClr val="A4B4C7"/>
                </a:solidFill>
                <a:latin typeface="Aptos" panose="020B0004020202020204" pitchFamily="34" charset="0"/>
              </a:rPr>
              <a:t>protect model messages</a:t>
            </a:r>
          </a:p>
        </p:txBody>
      </p:sp>
      <p:cxnSp>
        <p:nvCxnSpPr>
          <p:cNvPr id="95" name="Straight Connector 94">
            <a:extLst>
              <a:ext uri="{FF2B5EF4-FFF2-40B4-BE49-F238E27FC236}">
                <a16:creationId xmlns:a16="http://schemas.microsoft.com/office/drawing/2014/main" id="{0D9F4095-5FDC-4194-AF72-3778FED64417}"/>
              </a:ext>
            </a:extLst>
          </p:cNvPr>
          <p:cNvCxnSpPr/>
          <p:nvPr/>
        </p:nvCxnSpPr>
        <p:spPr>
          <a:xfrm>
            <a:off x="3987800" y="5016500"/>
            <a:ext cx="2667000" cy="0"/>
          </a:xfrm>
          <a:prstGeom prst="line">
            <a:avLst/>
          </a:prstGeom>
          <a:ln w="12700" cap="flat" cmpd="sng" algn="ctr">
            <a:solidFill>
              <a:srgbClr val="2F4962"/>
            </a:solidFill>
            <a:prstDash val="solid"/>
            <a:round/>
            <a:headEnd type="none" w="med" len="med"/>
            <a:tailEnd type="none" w="med" len="med"/>
          </a:ln>
        </p:spPr>
        <p:style>
          <a:lnRef idx="2">
            <a:schemeClr val="accent1"/>
          </a:lnRef>
          <a:fillRef idx="0">
            <a:schemeClr val="accent1"/>
          </a:fillRef>
          <a:effectRef idx="1">
            <a:schemeClr val="accent1"/>
          </a:effectRef>
          <a:fontRef idx="minor">
            <a:schemeClr val="tx1"/>
          </a:fontRef>
        </p:style>
      </p:cxnSp>
      <p:sp>
        <p:nvSpPr>
          <p:cNvPr id="96" name="TextBox 95">
            <a:extLst>
              <a:ext uri="{FF2B5EF4-FFF2-40B4-BE49-F238E27FC236}">
                <a16:creationId xmlns:a16="http://schemas.microsoft.com/office/drawing/2014/main" id="{C03AFD18-0D3F-EA58-BAC0-54C990967513}"/>
              </a:ext>
            </a:extLst>
          </p:cNvPr>
          <p:cNvSpPr txBox="1"/>
          <p:nvPr/>
        </p:nvSpPr>
        <p:spPr>
          <a:xfrm>
            <a:off x="3987800" y="5143500"/>
            <a:ext cx="2667000" cy="276999"/>
          </a:xfrm>
          <a:prstGeom prst="rect">
            <a:avLst/>
          </a:prstGeom>
          <a:noFill/>
        </p:spPr>
        <p:txBody>
          <a:bodyPr vert="horz" wrap="square" lIns="0" tIns="0" rIns="0" bIns="0" rtlCol="0" anchor="t">
            <a:noAutofit/>
          </a:bodyPr>
          <a:lstStyle/>
          <a:p>
            <a:pPr algn="ctr"/>
            <a:r>
              <a:rPr lang="en-US" sz="780">
                <a:solidFill>
                  <a:srgbClr val="A4B4C7"/>
                </a:solidFill>
                <a:latin typeface="Aptos" panose="020B0004020202020204" pitchFamily="34" charset="0"/>
              </a:rPr>
              <a:t>Run | round | sender | recipient | type | sequence</a:t>
            </a:r>
          </a:p>
        </p:txBody>
      </p:sp>
      <p:sp>
        <p:nvSpPr>
          <p:cNvPr id="97" name="TextBox 96">
            <a:extLst>
              <a:ext uri="{FF2B5EF4-FFF2-40B4-BE49-F238E27FC236}">
                <a16:creationId xmlns:a16="http://schemas.microsoft.com/office/drawing/2014/main" id="{F452BCFB-3945-3DA7-EF16-EE14CB68864B}"/>
              </a:ext>
            </a:extLst>
          </p:cNvPr>
          <p:cNvSpPr txBox="1"/>
          <p:nvPr/>
        </p:nvSpPr>
        <p:spPr>
          <a:xfrm>
            <a:off x="3987800" y="5359400"/>
            <a:ext cx="2667000" cy="276999"/>
          </a:xfrm>
          <a:prstGeom prst="rect">
            <a:avLst/>
          </a:prstGeom>
          <a:noFill/>
        </p:spPr>
        <p:txBody>
          <a:bodyPr vert="horz" wrap="square" lIns="0" tIns="0" rIns="0" bIns="0" rtlCol="0" anchor="t">
            <a:noAutofit/>
          </a:bodyPr>
          <a:lstStyle/>
          <a:p>
            <a:pPr algn="ctr"/>
            <a:r>
              <a:rPr lang="en-US" sz="780" b="1">
                <a:solidFill>
                  <a:srgbClr val="F59E0B"/>
                </a:solidFill>
                <a:latin typeface="Aptos" panose="020B0004020202020204" pitchFamily="34" charset="0"/>
              </a:rPr>
              <a:t>Tamper and replay checks happen before model decoding</a:t>
            </a:r>
          </a:p>
        </p:txBody>
      </p:sp>
      <p:sp>
        <p:nvSpPr>
          <p:cNvPr id="98" name="Rectangle: Rounded Corners 97">
            <a:extLst>
              <a:ext uri="{FF2B5EF4-FFF2-40B4-BE49-F238E27FC236}">
                <a16:creationId xmlns:a16="http://schemas.microsoft.com/office/drawing/2014/main" id="{0B487FAC-B15A-2891-3948-046EADDF4D4C}"/>
              </a:ext>
            </a:extLst>
          </p:cNvPr>
          <p:cNvSpPr/>
          <p:nvPr/>
        </p:nvSpPr>
        <p:spPr>
          <a:xfrm>
            <a:off x="8559800" y="1778000"/>
            <a:ext cx="3073400" cy="3860800"/>
          </a:xfrm>
          <a:prstGeom prst="roundRect">
            <a:avLst/>
          </a:prstGeom>
          <a:solidFill>
            <a:srgbClr val="14283D"/>
          </a:solidFill>
          <a:ln w="19050">
            <a:solidFill>
              <a:srgbClr val="3B82F6"/>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99" name="Rectangle: Rounded Corners 98">
            <a:extLst>
              <a:ext uri="{FF2B5EF4-FFF2-40B4-BE49-F238E27FC236}">
                <a16:creationId xmlns:a16="http://schemas.microsoft.com/office/drawing/2014/main" id="{9680D34B-A656-A973-E5CE-A9BC647E1C88}"/>
              </a:ext>
            </a:extLst>
          </p:cNvPr>
          <p:cNvSpPr/>
          <p:nvPr/>
        </p:nvSpPr>
        <p:spPr>
          <a:xfrm>
            <a:off x="9804400" y="2070100"/>
            <a:ext cx="502920" cy="114300"/>
          </a:xfrm>
          <a:prstGeom prst="roundRect">
            <a:avLst/>
          </a:prstGeom>
          <a:solidFill>
            <a:srgbClr val="081422"/>
          </a:solidFill>
          <a:ln w="12700">
            <a:solidFill>
              <a:srgbClr val="3B82F6"/>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100" name="Oval 99">
            <a:extLst>
              <a:ext uri="{FF2B5EF4-FFF2-40B4-BE49-F238E27FC236}">
                <a16:creationId xmlns:a16="http://schemas.microsoft.com/office/drawing/2014/main" id="{320A441A-5D15-36ED-D604-F18923A240C5}"/>
              </a:ext>
            </a:extLst>
          </p:cNvPr>
          <p:cNvSpPr/>
          <p:nvPr/>
        </p:nvSpPr>
        <p:spPr>
          <a:xfrm>
            <a:off x="9861550" y="2104390"/>
            <a:ext cx="45720" cy="45720"/>
          </a:xfrm>
          <a:prstGeom prst="ellipse">
            <a:avLst/>
          </a:prstGeom>
          <a:solidFill>
            <a:srgbClr val="3B82F6"/>
          </a:solidFill>
          <a:ln w="9525" cap="flat" cmpd="sng" algn="ctr">
            <a:noFill/>
            <a:prstDash val="solid"/>
          </a:ln>
          <a:effectLst>
            <a:outerShdw blurRad="40000" dist="23000" dir="5400000" rotWithShape="0">
              <a:srgbClr val="000000">
                <a:alpha val="35000"/>
              </a:srgbClr>
            </a:outerShdw>
          </a:effectLst>
          <a:extLst>
            <a:ext uri="{91240B29-F687-4F45-9708-019B960494DF}">
              <a14:hiddenLine xmlns:a14="http://schemas.microsoft.com/office/drawing/2010/main" w="9525" cap="flat" cmpd="sng" algn="ctr">
                <a:solidFill>
                  <a:schemeClr val="accent1">
                    <a:shade val="95000"/>
                    <a:satMod val="105000"/>
                  </a:schemeClr>
                </a:solidFill>
                <a:prstDash val="solid"/>
              </a14:hiddenLine>
            </a:ext>
          </a:ex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101" name="Rectangle: Rounded Corners 100">
            <a:extLst>
              <a:ext uri="{FF2B5EF4-FFF2-40B4-BE49-F238E27FC236}">
                <a16:creationId xmlns:a16="http://schemas.microsoft.com/office/drawing/2014/main" id="{3EF35FF5-2AF4-FC74-980D-C166737ED599}"/>
              </a:ext>
            </a:extLst>
          </p:cNvPr>
          <p:cNvSpPr/>
          <p:nvPr/>
        </p:nvSpPr>
        <p:spPr>
          <a:xfrm>
            <a:off x="9804400" y="2230120"/>
            <a:ext cx="502920" cy="114300"/>
          </a:xfrm>
          <a:prstGeom prst="roundRect">
            <a:avLst/>
          </a:prstGeom>
          <a:solidFill>
            <a:srgbClr val="081422"/>
          </a:solidFill>
          <a:ln w="12700">
            <a:solidFill>
              <a:srgbClr val="3B82F6"/>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102" name="Oval 101">
            <a:extLst>
              <a:ext uri="{FF2B5EF4-FFF2-40B4-BE49-F238E27FC236}">
                <a16:creationId xmlns:a16="http://schemas.microsoft.com/office/drawing/2014/main" id="{2C0959E7-6D1D-6173-79A9-BA0BAAF197CA}"/>
              </a:ext>
            </a:extLst>
          </p:cNvPr>
          <p:cNvSpPr/>
          <p:nvPr/>
        </p:nvSpPr>
        <p:spPr>
          <a:xfrm>
            <a:off x="9861550" y="2264410"/>
            <a:ext cx="45720" cy="45720"/>
          </a:xfrm>
          <a:prstGeom prst="ellipse">
            <a:avLst/>
          </a:prstGeom>
          <a:solidFill>
            <a:srgbClr val="3B82F6"/>
          </a:solidFill>
          <a:ln w="9525" cap="flat" cmpd="sng" algn="ctr">
            <a:noFill/>
            <a:prstDash val="solid"/>
          </a:ln>
          <a:effectLst>
            <a:outerShdw blurRad="40000" dist="23000" dir="5400000" rotWithShape="0">
              <a:srgbClr val="000000">
                <a:alpha val="35000"/>
              </a:srgbClr>
            </a:outerShdw>
          </a:effectLst>
          <a:extLst>
            <a:ext uri="{91240B29-F687-4F45-9708-019B960494DF}">
              <a14:hiddenLine xmlns:a14="http://schemas.microsoft.com/office/drawing/2010/main" w="9525" cap="flat" cmpd="sng" algn="ctr">
                <a:solidFill>
                  <a:schemeClr val="accent1">
                    <a:shade val="95000"/>
                    <a:satMod val="105000"/>
                  </a:schemeClr>
                </a:solidFill>
                <a:prstDash val="solid"/>
              </a14:hiddenLine>
            </a:ext>
          </a:ex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103" name="Rectangle: Rounded Corners 102">
            <a:extLst>
              <a:ext uri="{FF2B5EF4-FFF2-40B4-BE49-F238E27FC236}">
                <a16:creationId xmlns:a16="http://schemas.microsoft.com/office/drawing/2014/main" id="{B3014010-1E71-A561-F298-2762CE02E32C}"/>
              </a:ext>
            </a:extLst>
          </p:cNvPr>
          <p:cNvSpPr/>
          <p:nvPr/>
        </p:nvSpPr>
        <p:spPr>
          <a:xfrm>
            <a:off x="9804400" y="2390140"/>
            <a:ext cx="502920" cy="114300"/>
          </a:xfrm>
          <a:prstGeom prst="roundRect">
            <a:avLst/>
          </a:prstGeom>
          <a:solidFill>
            <a:srgbClr val="081422"/>
          </a:solidFill>
          <a:ln w="12700">
            <a:solidFill>
              <a:srgbClr val="3B82F6"/>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104" name="Oval 103">
            <a:extLst>
              <a:ext uri="{FF2B5EF4-FFF2-40B4-BE49-F238E27FC236}">
                <a16:creationId xmlns:a16="http://schemas.microsoft.com/office/drawing/2014/main" id="{96C22F6A-EBB9-E701-7E7C-FD97AB7A968A}"/>
              </a:ext>
            </a:extLst>
          </p:cNvPr>
          <p:cNvSpPr/>
          <p:nvPr/>
        </p:nvSpPr>
        <p:spPr>
          <a:xfrm>
            <a:off x="9861550" y="2424430"/>
            <a:ext cx="45720" cy="45720"/>
          </a:xfrm>
          <a:prstGeom prst="ellipse">
            <a:avLst/>
          </a:prstGeom>
          <a:solidFill>
            <a:srgbClr val="3B82F6"/>
          </a:solidFill>
          <a:ln w="9525" cap="flat" cmpd="sng" algn="ctr">
            <a:noFill/>
            <a:prstDash val="solid"/>
          </a:ln>
          <a:effectLst>
            <a:outerShdw blurRad="40000" dist="23000" dir="5400000" rotWithShape="0">
              <a:srgbClr val="000000">
                <a:alpha val="35000"/>
              </a:srgbClr>
            </a:outerShdw>
          </a:effectLst>
          <a:extLst>
            <a:ext uri="{91240B29-F687-4F45-9708-019B960494DF}">
              <a14:hiddenLine xmlns:a14="http://schemas.microsoft.com/office/drawing/2010/main" w="9525" cap="flat" cmpd="sng" algn="ctr">
                <a:solidFill>
                  <a:schemeClr val="accent1">
                    <a:shade val="95000"/>
                    <a:satMod val="105000"/>
                  </a:schemeClr>
                </a:solidFill>
                <a:prstDash val="solid"/>
              </a14:hiddenLine>
            </a:ext>
          </a:ex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105" name="TextBox 104">
            <a:extLst>
              <a:ext uri="{FF2B5EF4-FFF2-40B4-BE49-F238E27FC236}">
                <a16:creationId xmlns:a16="http://schemas.microsoft.com/office/drawing/2014/main" id="{ED80B6D5-F24B-A27B-A010-D1261145E403}"/>
              </a:ext>
            </a:extLst>
          </p:cNvPr>
          <p:cNvSpPr txBox="1"/>
          <p:nvPr/>
        </p:nvSpPr>
        <p:spPr>
          <a:xfrm>
            <a:off x="8890000" y="2768600"/>
            <a:ext cx="2413000" cy="276999"/>
          </a:xfrm>
          <a:prstGeom prst="rect">
            <a:avLst/>
          </a:prstGeom>
          <a:noFill/>
        </p:spPr>
        <p:txBody>
          <a:bodyPr vert="horz" wrap="square" lIns="0" tIns="0" rIns="0" bIns="0" rtlCol="0" anchor="t">
            <a:noAutofit/>
          </a:bodyPr>
          <a:lstStyle/>
          <a:p>
            <a:pPr algn="ctr"/>
            <a:r>
              <a:rPr lang="en-US" sz="1400" b="1">
                <a:solidFill>
                  <a:srgbClr val="F8FAFC"/>
                </a:solidFill>
                <a:latin typeface="Aptos" panose="020B0004020202020204" pitchFamily="34" charset="0"/>
              </a:rPr>
              <a:t>CONTROL CENTER</a:t>
            </a:r>
          </a:p>
        </p:txBody>
      </p:sp>
      <p:sp>
        <p:nvSpPr>
          <p:cNvPr id="106" name="Oval 105">
            <a:extLst>
              <a:ext uri="{FF2B5EF4-FFF2-40B4-BE49-F238E27FC236}">
                <a16:creationId xmlns:a16="http://schemas.microsoft.com/office/drawing/2014/main" id="{F3A6B9E4-086E-762C-EC44-04FF11F98BAB}"/>
              </a:ext>
            </a:extLst>
          </p:cNvPr>
          <p:cNvSpPr/>
          <p:nvPr/>
        </p:nvSpPr>
        <p:spPr>
          <a:xfrm>
            <a:off x="8928100" y="3276600"/>
            <a:ext cx="215900" cy="215900"/>
          </a:xfrm>
          <a:prstGeom prst="ellipse">
            <a:avLst/>
          </a:prstGeom>
          <a:solidFill>
            <a:srgbClr val="0D1E31"/>
          </a:solidFill>
          <a:ln w="12700">
            <a:solidFill>
              <a:srgbClr val="3B82F6"/>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107" name="TextBox 106">
            <a:extLst>
              <a:ext uri="{FF2B5EF4-FFF2-40B4-BE49-F238E27FC236}">
                <a16:creationId xmlns:a16="http://schemas.microsoft.com/office/drawing/2014/main" id="{6FCBD2D8-A41A-0B91-2EC4-4C825AD6F07B}"/>
              </a:ext>
            </a:extLst>
          </p:cNvPr>
          <p:cNvSpPr txBox="1"/>
          <p:nvPr/>
        </p:nvSpPr>
        <p:spPr>
          <a:xfrm>
            <a:off x="8928100" y="3276601"/>
            <a:ext cx="215900" cy="215900"/>
          </a:xfrm>
          <a:prstGeom prst="rect">
            <a:avLst/>
          </a:prstGeom>
          <a:noFill/>
        </p:spPr>
        <p:txBody>
          <a:bodyPr vert="horz" wrap="square" lIns="0" tIns="0" rIns="0" bIns="0" rtlCol="0" anchor="ctr">
            <a:noAutofit/>
          </a:bodyPr>
          <a:lstStyle/>
          <a:p>
            <a:pPr algn="ctr"/>
            <a:r>
              <a:rPr lang="en-US" sz="750" b="1" dirty="0">
                <a:solidFill>
                  <a:srgbClr val="3B82F6"/>
                </a:solidFill>
                <a:latin typeface="Aptos" panose="020B0004020202020204" pitchFamily="34" charset="0"/>
              </a:rPr>
              <a:t>1</a:t>
            </a:r>
          </a:p>
        </p:txBody>
      </p:sp>
      <p:sp>
        <p:nvSpPr>
          <p:cNvPr id="108" name="TextBox 107">
            <a:extLst>
              <a:ext uri="{FF2B5EF4-FFF2-40B4-BE49-F238E27FC236}">
                <a16:creationId xmlns:a16="http://schemas.microsoft.com/office/drawing/2014/main" id="{F561D641-3B36-DE2D-F0F3-5D64A02863B5}"/>
              </a:ext>
            </a:extLst>
          </p:cNvPr>
          <p:cNvSpPr txBox="1"/>
          <p:nvPr/>
        </p:nvSpPr>
        <p:spPr>
          <a:xfrm>
            <a:off x="9271000" y="3263900"/>
            <a:ext cx="1993900" cy="276999"/>
          </a:xfrm>
          <a:prstGeom prst="rect">
            <a:avLst/>
          </a:prstGeom>
          <a:noFill/>
        </p:spPr>
        <p:txBody>
          <a:bodyPr vert="horz" wrap="square" lIns="0" tIns="0" rIns="0" bIns="0" rtlCol="0" anchor="t">
            <a:noAutofit/>
          </a:bodyPr>
          <a:lstStyle/>
          <a:p>
            <a:r>
              <a:rPr lang="en-US" sz="920" b="1">
                <a:solidFill>
                  <a:srgbClr val="F8FAFC"/>
                </a:solidFill>
                <a:latin typeface="Aptos" panose="020B0004020202020204" pitchFamily="34" charset="0"/>
              </a:rPr>
              <a:t>Authenticate</a:t>
            </a:r>
          </a:p>
        </p:txBody>
      </p:sp>
      <p:sp>
        <p:nvSpPr>
          <p:cNvPr id="109" name="Oval 108">
            <a:extLst>
              <a:ext uri="{FF2B5EF4-FFF2-40B4-BE49-F238E27FC236}">
                <a16:creationId xmlns:a16="http://schemas.microsoft.com/office/drawing/2014/main" id="{0E7A7A4E-1CB7-6BA0-DCBC-F295B541934F}"/>
              </a:ext>
            </a:extLst>
          </p:cNvPr>
          <p:cNvSpPr/>
          <p:nvPr/>
        </p:nvSpPr>
        <p:spPr>
          <a:xfrm>
            <a:off x="8928100" y="3670300"/>
            <a:ext cx="215900" cy="215900"/>
          </a:xfrm>
          <a:prstGeom prst="ellipse">
            <a:avLst/>
          </a:prstGeom>
          <a:solidFill>
            <a:srgbClr val="0D1E31"/>
          </a:solidFill>
          <a:ln w="12700">
            <a:solidFill>
              <a:srgbClr val="3B82F6"/>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110" name="TextBox 109">
            <a:extLst>
              <a:ext uri="{FF2B5EF4-FFF2-40B4-BE49-F238E27FC236}">
                <a16:creationId xmlns:a16="http://schemas.microsoft.com/office/drawing/2014/main" id="{CF808006-73A9-1687-189C-2138BF093565}"/>
              </a:ext>
            </a:extLst>
          </p:cNvPr>
          <p:cNvSpPr txBox="1"/>
          <p:nvPr/>
        </p:nvSpPr>
        <p:spPr>
          <a:xfrm>
            <a:off x="8928100" y="3670301"/>
            <a:ext cx="215900" cy="215900"/>
          </a:xfrm>
          <a:prstGeom prst="rect">
            <a:avLst/>
          </a:prstGeom>
          <a:noFill/>
        </p:spPr>
        <p:txBody>
          <a:bodyPr vert="horz" wrap="square" lIns="0" tIns="0" rIns="0" bIns="0" rtlCol="0" anchor="ctr">
            <a:noAutofit/>
          </a:bodyPr>
          <a:lstStyle/>
          <a:p>
            <a:pPr algn="ctr"/>
            <a:r>
              <a:rPr lang="en-US" sz="750" b="1" dirty="0">
                <a:solidFill>
                  <a:srgbClr val="3B82F6"/>
                </a:solidFill>
                <a:latin typeface="Aptos" panose="020B0004020202020204" pitchFamily="34" charset="0"/>
              </a:rPr>
              <a:t>2</a:t>
            </a:r>
          </a:p>
        </p:txBody>
      </p:sp>
      <p:sp>
        <p:nvSpPr>
          <p:cNvPr id="111" name="TextBox 110">
            <a:extLst>
              <a:ext uri="{FF2B5EF4-FFF2-40B4-BE49-F238E27FC236}">
                <a16:creationId xmlns:a16="http://schemas.microsoft.com/office/drawing/2014/main" id="{914BD49B-F57E-131A-FD48-1E36CF563248}"/>
              </a:ext>
            </a:extLst>
          </p:cNvPr>
          <p:cNvSpPr txBox="1"/>
          <p:nvPr/>
        </p:nvSpPr>
        <p:spPr>
          <a:xfrm>
            <a:off x="9271000" y="3657600"/>
            <a:ext cx="1993900" cy="276999"/>
          </a:xfrm>
          <a:prstGeom prst="rect">
            <a:avLst/>
          </a:prstGeom>
          <a:noFill/>
        </p:spPr>
        <p:txBody>
          <a:bodyPr vert="horz" wrap="square" lIns="0" tIns="0" rIns="0" bIns="0" rtlCol="0" anchor="t">
            <a:noAutofit/>
          </a:bodyPr>
          <a:lstStyle/>
          <a:p>
            <a:r>
              <a:rPr lang="en-US" sz="920" b="1">
                <a:solidFill>
                  <a:srgbClr val="F8FAFC"/>
                </a:solidFill>
                <a:latin typeface="Aptos" panose="020B0004020202020204" pitchFamily="34" charset="0"/>
              </a:rPr>
              <a:t>Reject invalid / replayed</a:t>
            </a:r>
          </a:p>
        </p:txBody>
      </p:sp>
      <p:sp>
        <p:nvSpPr>
          <p:cNvPr id="112" name="Oval 111">
            <a:extLst>
              <a:ext uri="{FF2B5EF4-FFF2-40B4-BE49-F238E27FC236}">
                <a16:creationId xmlns:a16="http://schemas.microsoft.com/office/drawing/2014/main" id="{FF66CF6A-FBCD-568C-E386-C7E0090AD7E0}"/>
              </a:ext>
            </a:extLst>
          </p:cNvPr>
          <p:cNvSpPr/>
          <p:nvPr/>
        </p:nvSpPr>
        <p:spPr>
          <a:xfrm>
            <a:off x="8928100" y="4064000"/>
            <a:ext cx="215900" cy="215900"/>
          </a:xfrm>
          <a:prstGeom prst="ellipse">
            <a:avLst/>
          </a:prstGeom>
          <a:solidFill>
            <a:srgbClr val="0D1E31"/>
          </a:solidFill>
          <a:ln w="12700">
            <a:solidFill>
              <a:srgbClr val="3B82F6"/>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113" name="TextBox 112">
            <a:extLst>
              <a:ext uri="{FF2B5EF4-FFF2-40B4-BE49-F238E27FC236}">
                <a16:creationId xmlns:a16="http://schemas.microsoft.com/office/drawing/2014/main" id="{B7867AAB-7357-EB9A-F39F-E12514ABF936}"/>
              </a:ext>
            </a:extLst>
          </p:cNvPr>
          <p:cNvSpPr txBox="1"/>
          <p:nvPr/>
        </p:nvSpPr>
        <p:spPr>
          <a:xfrm>
            <a:off x="8928100" y="4064001"/>
            <a:ext cx="215900" cy="215900"/>
          </a:xfrm>
          <a:prstGeom prst="rect">
            <a:avLst/>
          </a:prstGeom>
          <a:noFill/>
        </p:spPr>
        <p:txBody>
          <a:bodyPr vert="horz" wrap="square" lIns="0" tIns="0" rIns="0" bIns="0" rtlCol="0" anchor="ctr">
            <a:noAutofit/>
          </a:bodyPr>
          <a:lstStyle/>
          <a:p>
            <a:pPr algn="ctr"/>
            <a:r>
              <a:rPr lang="en-US" sz="750" b="1">
                <a:solidFill>
                  <a:srgbClr val="3B82F6"/>
                </a:solidFill>
                <a:latin typeface="Aptos" panose="020B0004020202020204" pitchFamily="34" charset="0"/>
              </a:rPr>
              <a:t>3</a:t>
            </a:r>
          </a:p>
        </p:txBody>
      </p:sp>
      <p:sp>
        <p:nvSpPr>
          <p:cNvPr id="114" name="TextBox 113">
            <a:extLst>
              <a:ext uri="{FF2B5EF4-FFF2-40B4-BE49-F238E27FC236}">
                <a16:creationId xmlns:a16="http://schemas.microsoft.com/office/drawing/2014/main" id="{7EB202F3-D257-F99B-63FA-127FBE980D3C}"/>
              </a:ext>
            </a:extLst>
          </p:cNvPr>
          <p:cNvSpPr txBox="1"/>
          <p:nvPr/>
        </p:nvSpPr>
        <p:spPr>
          <a:xfrm>
            <a:off x="9271000" y="4051300"/>
            <a:ext cx="1993900" cy="276999"/>
          </a:xfrm>
          <a:prstGeom prst="rect">
            <a:avLst/>
          </a:prstGeom>
          <a:noFill/>
        </p:spPr>
        <p:txBody>
          <a:bodyPr vert="horz" wrap="square" lIns="0" tIns="0" rIns="0" bIns="0" rtlCol="0" anchor="t">
            <a:noAutofit/>
          </a:bodyPr>
          <a:lstStyle/>
          <a:p>
            <a:r>
              <a:rPr lang="en-US" sz="920" b="1">
                <a:solidFill>
                  <a:srgbClr val="F8FAFC"/>
                </a:solidFill>
                <a:latin typeface="Aptos" panose="020B0004020202020204" pitchFamily="34" charset="0"/>
              </a:rPr>
              <a:t>Decrypt + validate</a:t>
            </a:r>
          </a:p>
        </p:txBody>
      </p:sp>
      <p:sp>
        <p:nvSpPr>
          <p:cNvPr id="115" name="Oval 114">
            <a:extLst>
              <a:ext uri="{FF2B5EF4-FFF2-40B4-BE49-F238E27FC236}">
                <a16:creationId xmlns:a16="http://schemas.microsoft.com/office/drawing/2014/main" id="{ADC12E40-FF65-7DA0-311D-82C218ED1C10}"/>
              </a:ext>
            </a:extLst>
          </p:cNvPr>
          <p:cNvSpPr/>
          <p:nvPr/>
        </p:nvSpPr>
        <p:spPr>
          <a:xfrm>
            <a:off x="8928100" y="4457700"/>
            <a:ext cx="215900" cy="215900"/>
          </a:xfrm>
          <a:prstGeom prst="ellipse">
            <a:avLst/>
          </a:prstGeom>
          <a:solidFill>
            <a:srgbClr val="0D1E31"/>
          </a:solidFill>
          <a:ln w="12700">
            <a:solidFill>
              <a:srgbClr val="3B82F6"/>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116" name="TextBox 115">
            <a:extLst>
              <a:ext uri="{FF2B5EF4-FFF2-40B4-BE49-F238E27FC236}">
                <a16:creationId xmlns:a16="http://schemas.microsoft.com/office/drawing/2014/main" id="{19D71F58-B940-AA60-7DEF-FEE56DB134C0}"/>
              </a:ext>
            </a:extLst>
          </p:cNvPr>
          <p:cNvSpPr txBox="1"/>
          <p:nvPr/>
        </p:nvSpPr>
        <p:spPr>
          <a:xfrm>
            <a:off x="8928100" y="4457701"/>
            <a:ext cx="215900" cy="215900"/>
          </a:xfrm>
          <a:prstGeom prst="rect">
            <a:avLst/>
          </a:prstGeom>
          <a:noFill/>
        </p:spPr>
        <p:txBody>
          <a:bodyPr vert="horz" wrap="square" lIns="0" tIns="0" rIns="0" bIns="0" rtlCol="0" anchor="ctr">
            <a:noAutofit/>
          </a:bodyPr>
          <a:lstStyle/>
          <a:p>
            <a:pPr algn="ctr"/>
            <a:r>
              <a:rPr lang="en-US" sz="750" b="1">
                <a:solidFill>
                  <a:srgbClr val="3B82F6"/>
                </a:solidFill>
                <a:latin typeface="Aptos" panose="020B0004020202020204" pitchFamily="34" charset="0"/>
              </a:rPr>
              <a:t>4</a:t>
            </a:r>
          </a:p>
        </p:txBody>
      </p:sp>
      <p:sp>
        <p:nvSpPr>
          <p:cNvPr id="117" name="TextBox 116">
            <a:extLst>
              <a:ext uri="{FF2B5EF4-FFF2-40B4-BE49-F238E27FC236}">
                <a16:creationId xmlns:a16="http://schemas.microsoft.com/office/drawing/2014/main" id="{6F3A6A6A-2179-4A2C-B8A3-D7D38BC80D8C}"/>
              </a:ext>
            </a:extLst>
          </p:cNvPr>
          <p:cNvSpPr txBox="1"/>
          <p:nvPr/>
        </p:nvSpPr>
        <p:spPr>
          <a:xfrm>
            <a:off x="9271000" y="4445000"/>
            <a:ext cx="1993900" cy="276999"/>
          </a:xfrm>
          <a:prstGeom prst="rect">
            <a:avLst/>
          </a:prstGeom>
          <a:noFill/>
        </p:spPr>
        <p:txBody>
          <a:bodyPr vert="horz" wrap="square" lIns="0" tIns="0" rIns="0" bIns="0" rtlCol="0" anchor="t">
            <a:noAutofit/>
          </a:bodyPr>
          <a:lstStyle/>
          <a:p>
            <a:r>
              <a:rPr lang="en-US" sz="920" b="1">
                <a:solidFill>
                  <a:srgbClr val="F8FAFC"/>
                </a:solidFill>
                <a:latin typeface="Aptos" panose="020B0004020202020204" pitchFamily="34" charset="0"/>
              </a:rPr>
              <a:t>Sample-weighted FedAvg</a:t>
            </a:r>
          </a:p>
        </p:txBody>
      </p:sp>
      <p:sp>
        <p:nvSpPr>
          <p:cNvPr id="118" name="Oval 117">
            <a:extLst>
              <a:ext uri="{FF2B5EF4-FFF2-40B4-BE49-F238E27FC236}">
                <a16:creationId xmlns:a16="http://schemas.microsoft.com/office/drawing/2014/main" id="{3BA5C6C1-8905-BAE9-3C51-DE6A618CFA2B}"/>
              </a:ext>
            </a:extLst>
          </p:cNvPr>
          <p:cNvSpPr/>
          <p:nvPr/>
        </p:nvSpPr>
        <p:spPr>
          <a:xfrm>
            <a:off x="8928100" y="4851400"/>
            <a:ext cx="215900" cy="215900"/>
          </a:xfrm>
          <a:prstGeom prst="ellipse">
            <a:avLst/>
          </a:prstGeom>
          <a:solidFill>
            <a:srgbClr val="0D1E31"/>
          </a:solidFill>
          <a:ln w="12700">
            <a:solidFill>
              <a:srgbClr val="3B82F6"/>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119" name="TextBox 118">
            <a:extLst>
              <a:ext uri="{FF2B5EF4-FFF2-40B4-BE49-F238E27FC236}">
                <a16:creationId xmlns:a16="http://schemas.microsoft.com/office/drawing/2014/main" id="{5AA5DB04-025C-1650-A6FC-4B3CE99B5885}"/>
              </a:ext>
            </a:extLst>
          </p:cNvPr>
          <p:cNvSpPr txBox="1"/>
          <p:nvPr/>
        </p:nvSpPr>
        <p:spPr>
          <a:xfrm>
            <a:off x="8928100" y="4851401"/>
            <a:ext cx="215900" cy="215900"/>
          </a:xfrm>
          <a:prstGeom prst="rect">
            <a:avLst/>
          </a:prstGeom>
          <a:noFill/>
        </p:spPr>
        <p:txBody>
          <a:bodyPr vert="horz" wrap="square" lIns="0" tIns="0" rIns="0" bIns="0" rtlCol="0" anchor="ctr">
            <a:noAutofit/>
          </a:bodyPr>
          <a:lstStyle/>
          <a:p>
            <a:pPr algn="ctr"/>
            <a:r>
              <a:rPr lang="en-US" sz="750" b="1" dirty="0">
                <a:solidFill>
                  <a:srgbClr val="3B82F6"/>
                </a:solidFill>
                <a:latin typeface="Aptos" panose="020B0004020202020204" pitchFamily="34" charset="0"/>
              </a:rPr>
              <a:t>5</a:t>
            </a:r>
          </a:p>
        </p:txBody>
      </p:sp>
      <p:sp>
        <p:nvSpPr>
          <p:cNvPr id="120" name="TextBox 119">
            <a:extLst>
              <a:ext uri="{FF2B5EF4-FFF2-40B4-BE49-F238E27FC236}">
                <a16:creationId xmlns:a16="http://schemas.microsoft.com/office/drawing/2014/main" id="{332A69A6-CD5B-1FF7-C787-A2681F459679}"/>
              </a:ext>
            </a:extLst>
          </p:cNvPr>
          <p:cNvSpPr txBox="1"/>
          <p:nvPr/>
        </p:nvSpPr>
        <p:spPr>
          <a:xfrm>
            <a:off x="9271000" y="4838700"/>
            <a:ext cx="1993900" cy="276999"/>
          </a:xfrm>
          <a:prstGeom prst="rect">
            <a:avLst/>
          </a:prstGeom>
          <a:noFill/>
        </p:spPr>
        <p:txBody>
          <a:bodyPr vert="horz" wrap="square" lIns="0" tIns="0" rIns="0" bIns="0" rtlCol="0" anchor="t">
            <a:noAutofit/>
          </a:bodyPr>
          <a:lstStyle/>
          <a:p>
            <a:r>
              <a:rPr lang="en-US" sz="920" b="1">
                <a:solidFill>
                  <a:srgbClr val="F8FAFC"/>
                </a:solidFill>
                <a:latin typeface="Aptos" panose="020B0004020202020204" pitchFamily="34" charset="0"/>
              </a:rPr>
              <a:t>Distribute next model</a:t>
            </a:r>
          </a:p>
        </p:txBody>
      </p:sp>
      <p:cxnSp>
        <p:nvCxnSpPr>
          <p:cNvPr id="121" name="Straight Connector 120">
            <a:extLst>
              <a:ext uri="{FF2B5EF4-FFF2-40B4-BE49-F238E27FC236}">
                <a16:creationId xmlns:a16="http://schemas.microsoft.com/office/drawing/2014/main" id="{2B57E032-9363-55E2-1EE2-00058C096182}"/>
              </a:ext>
            </a:extLst>
          </p:cNvPr>
          <p:cNvCxnSpPr/>
          <p:nvPr/>
        </p:nvCxnSpPr>
        <p:spPr>
          <a:xfrm>
            <a:off x="2946400" y="2159000"/>
            <a:ext cx="787400" cy="0"/>
          </a:xfrm>
          <a:prstGeom prst="line">
            <a:avLst/>
          </a:prstGeom>
          <a:ln w="25400" cap="flat" cmpd="sng" algn="ctr">
            <a:solidFill>
              <a:srgbClr val="10C58B"/>
            </a:solidFill>
            <a:prstDash val="solid"/>
            <a:round/>
            <a:headEnd type="none" w="med" len="med"/>
            <a:tailEnd type="arrow" w="med" len="med"/>
          </a:ln>
        </p:spPr>
        <p:style>
          <a:lnRef idx="2">
            <a:schemeClr val="accent1"/>
          </a:lnRef>
          <a:fillRef idx="0">
            <a:schemeClr val="accent1"/>
          </a:fillRef>
          <a:effectRef idx="1">
            <a:schemeClr val="accent1"/>
          </a:effectRef>
          <a:fontRef idx="minor">
            <a:schemeClr val="tx1"/>
          </a:fontRef>
        </p:style>
      </p:cxnSp>
      <p:sp>
        <p:nvSpPr>
          <p:cNvPr id="122" name="TextBox 121">
            <a:extLst>
              <a:ext uri="{FF2B5EF4-FFF2-40B4-BE49-F238E27FC236}">
                <a16:creationId xmlns:a16="http://schemas.microsoft.com/office/drawing/2014/main" id="{F0146FB7-4257-E639-892C-EE6D625E4CED}"/>
              </a:ext>
            </a:extLst>
          </p:cNvPr>
          <p:cNvSpPr txBox="1"/>
          <p:nvPr/>
        </p:nvSpPr>
        <p:spPr>
          <a:xfrm>
            <a:off x="2959100" y="1879600"/>
            <a:ext cx="762000" cy="276999"/>
          </a:xfrm>
          <a:prstGeom prst="rect">
            <a:avLst/>
          </a:prstGeom>
          <a:noFill/>
        </p:spPr>
        <p:txBody>
          <a:bodyPr vert="horz" wrap="square" lIns="0" tIns="0" rIns="0" bIns="0" rtlCol="0" anchor="t">
            <a:noAutofit/>
          </a:bodyPr>
          <a:lstStyle/>
          <a:p>
            <a:pPr algn="ctr"/>
            <a:r>
              <a:rPr lang="en-US" sz="780">
                <a:solidFill>
                  <a:srgbClr val="A4B4C7"/>
                </a:solidFill>
                <a:latin typeface="Aptos" panose="020B0004020202020204" pitchFamily="34" charset="0"/>
              </a:rPr>
              <a:t>local updates</a:t>
            </a:r>
          </a:p>
        </p:txBody>
      </p:sp>
      <p:cxnSp>
        <p:nvCxnSpPr>
          <p:cNvPr id="123" name="Straight Connector 122">
            <a:extLst>
              <a:ext uri="{FF2B5EF4-FFF2-40B4-BE49-F238E27FC236}">
                <a16:creationId xmlns:a16="http://schemas.microsoft.com/office/drawing/2014/main" id="{A8CA8D82-AB8D-8EE5-EA1A-2167C3C289BD}"/>
              </a:ext>
            </a:extLst>
          </p:cNvPr>
          <p:cNvCxnSpPr/>
          <p:nvPr/>
        </p:nvCxnSpPr>
        <p:spPr>
          <a:xfrm>
            <a:off x="6908800" y="2159000"/>
            <a:ext cx="1651000" cy="0"/>
          </a:xfrm>
          <a:prstGeom prst="line">
            <a:avLst/>
          </a:prstGeom>
          <a:ln w="25400" cap="flat" cmpd="sng" algn="ctr">
            <a:solidFill>
              <a:srgbClr val="10C58B"/>
            </a:solidFill>
            <a:prstDash val="solid"/>
            <a:round/>
            <a:headEnd type="none" w="med" len="med"/>
            <a:tailEnd type="arrow" w="med" len="med"/>
          </a:ln>
        </p:spPr>
        <p:style>
          <a:lnRef idx="2">
            <a:schemeClr val="accent1"/>
          </a:lnRef>
          <a:fillRef idx="0">
            <a:schemeClr val="accent1"/>
          </a:fillRef>
          <a:effectRef idx="1">
            <a:schemeClr val="accent1"/>
          </a:effectRef>
          <a:fontRef idx="minor">
            <a:schemeClr val="tx1"/>
          </a:fontRef>
        </p:style>
      </p:cxnSp>
      <p:cxnSp>
        <p:nvCxnSpPr>
          <p:cNvPr id="124" name="Straight Connector 123">
            <a:extLst>
              <a:ext uri="{FF2B5EF4-FFF2-40B4-BE49-F238E27FC236}">
                <a16:creationId xmlns:a16="http://schemas.microsoft.com/office/drawing/2014/main" id="{1F0B7A60-8E0E-9578-D567-33E512C7408D}"/>
              </a:ext>
            </a:extLst>
          </p:cNvPr>
          <p:cNvCxnSpPr/>
          <p:nvPr/>
        </p:nvCxnSpPr>
        <p:spPr>
          <a:xfrm flipH="1">
            <a:off x="6908800" y="5207000"/>
            <a:ext cx="1651000" cy="0"/>
          </a:xfrm>
          <a:prstGeom prst="line">
            <a:avLst/>
          </a:prstGeom>
          <a:ln w="25400" cap="flat" cmpd="sng" algn="ctr">
            <a:solidFill>
              <a:srgbClr val="3B82F6"/>
            </a:solidFill>
            <a:prstDash val="solid"/>
            <a:round/>
            <a:headEnd type="none" w="med" len="med"/>
            <a:tailEnd type="arrow" w="med" len="med"/>
          </a:ln>
        </p:spPr>
        <p:style>
          <a:lnRef idx="2">
            <a:schemeClr val="accent1"/>
          </a:lnRef>
          <a:fillRef idx="0">
            <a:schemeClr val="accent1"/>
          </a:fillRef>
          <a:effectRef idx="1">
            <a:schemeClr val="accent1"/>
          </a:effectRef>
          <a:fontRef idx="minor">
            <a:schemeClr val="tx1"/>
          </a:fontRef>
        </p:style>
      </p:cxnSp>
      <p:cxnSp>
        <p:nvCxnSpPr>
          <p:cNvPr id="125" name="Straight Connector 124">
            <a:extLst>
              <a:ext uri="{FF2B5EF4-FFF2-40B4-BE49-F238E27FC236}">
                <a16:creationId xmlns:a16="http://schemas.microsoft.com/office/drawing/2014/main" id="{396AB116-F466-F45D-9FC8-CA184FCAE62E}"/>
              </a:ext>
            </a:extLst>
          </p:cNvPr>
          <p:cNvCxnSpPr/>
          <p:nvPr/>
        </p:nvCxnSpPr>
        <p:spPr>
          <a:xfrm flipH="1">
            <a:off x="2946400" y="5207000"/>
            <a:ext cx="787400" cy="0"/>
          </a:xfrm>
          <a:prstGeom prst="line">
            <a:avLst/>
          </a:prstGeom>
          <a:ln w="25400" cap="flat" cmpd="sng" algn="ctr">
            <a:solidFill>
              <a:srgbClr val="3B82F6"/>
            </a:solidFill>
            <a:prstDash val="solid"/>
            <a:round/>
            <a:headEnd type="none" w="med" len="med"/>
            <a:tailEnd type="arrow" w="med" len="med"/>
          </a:ln>
        </p:spPr>
        <p:style>
          <a:lnRef idx="2">
            <a:schemeClr val="accent1"/>
          </a:lnRef>
          <a:fillRef idx="0">
            <a:schemeClr val="accent1"/>
          </a:fillRef>
          <a:effectRef idx="1">
            <a:schemeClr val="accent1"/>
          </a:effectRef>
          <a:fontRef idx="minor">
            <a:schemeClr val="tx1"/>
          </a:fontRef>
        </p:style>
      </p:cxnSp>
      <p:sp>
        <p:nvSpPr>
          <p:cNvPr id="126" name="TextBox 125">
            <a:extLst>
              <a:ext uri="{FF2B5EF4-FFF2-40B4-BE49-F238E27FC236}">
                <a16:creationId xmlns:a16="http://schemas.microsoft.com/office/drawing/2014/main" id="{0BDC491A-1EA8-DF67-1FDD-3B02C073D627}"/>
              </a:ext>
            </a:extLst>
          </p:cNvPr>
          <p:cNvSpPr txBox="1"/>
          <p:nvPr/>
        </p:nvSpPr>
        <p:spPr>
          <a:xfrm>
            <a:off x="6959600" y="5270500"/>
            <a:ext cx="1549400" cy="276999"/>
          </a:xfrm>
          <a:prstGeom prst="rect">
            <a:avLst/>
          </a:prstGeom>
          <a:noFill/>
        </p:spPr>
        <p:txBody>
          <a:bodyPr vert="horz" wrap="square" lIns="0" tIns="0" rIns="0" bIns="0" rtlCol="0" anchor="t">
            <a:noAutofit/>
          </a:bodyPr>
          <a:lstStyle/>
          <a:p>
            <a:pPr algn="ctr"/>
            <a:r>
              <a:rPr lang="en-US" sz="780">
                <a:solidFill>
                  <a:srgbClr val="A4B4C7"/>
                </a:solidFill>
                <a:latin typeface="Aptos" panose="020B0004020202020204" pitchFamily="34" charset="0"/>
              </a:rPr>
              <a:t>protected global model</a:t>
            </a:r>
          </a:p>
        </p:txBody>
      </p:sp>
      <p:sp>
        <p:nvSpPr>
          <p:cNvPr id="127" name="Rectangle: Rounded Corners 126">
            <a:extLst>
              <a:ext uri="{FF2B5EF4-FFF2-40B4-BE49-F238E27FC236}">
                <a16:creationId xmlns:a16="http://schemas.microsoft.com/office/drawing/2014/main" id="{1E0BC130-2091-0CAA-9E8C-7CDB31E6B362}"/>
              </a:ext>
            </a:extLst>
          </p:cNvPr>
          <p:cNvSpPr/>
          <p:nvPr/>
        </p:nvSpPr>
        <p:spPr>
          <a:xfrm>
            <a:off x="558800" y="5867400"/>
            <a:ext cx="11074400" cy="482600"/>
          </a:xfrm>
          <a:prstGeom prst="roundRect">
            <a:avLst/>
          </a:prstGeom>
          <a:solidFill>
            <a:srgbClr val="0D1E31"/>
          </a:solidFill>
          <a:ln w="12700">
            <a:solidFill>
              <a:srgbClr val="2F4962"/>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128" name="TextBox 127">
            <a:extLst>
              <a:ext uri="{FF2B5EF4-FFF2-40B4-BE49-F238E27FC236}">
                <a16:creationId xmlns:a16="http://schemas.microsoft.com/office/drawing/2014/main" id="{8C18B612-0C8F-9BB8-486E-67635FE465AF}"/>
              </a:ext>
            </a:extLst>
          </p:cNvPr>
          <p:cNvSpPr txBox="1"/>
          <p:nvPr/>
        </p:nvSpPr>
        <p:spPr>
          <a:xfrm>
            <a:off x="762000" y="6019800"/>
            <a:ext cx="635000" cy="276999"/>
          </a:xfrm>
          <a:prstGeom prst="rect">
            <a:avLst/>
          </a:prstGeom>
          <a:noFill/>
        </p:spPr>
        <p:txBody>
          <a:bodyPr vert="horz" wrap="square" lIns="0" tIns="0" rIns="0" bIns="0" rtlCol="0" anchor="t">
            <a:noAutofit/>
          </a:bodyPr>
          <a:lstStyle/>
          <a:p>
            <a:r>
              <a:rPr lang="en-US" sz="800" b="1">
                <a:solidFill>
                  <a:srgbClr val="778CA3"/>
                </a:solidFill>
                <a:latin typeface="Aptos" panose="020B0004020202020204" pitchFamily="34" charset="0"/>
              </a:rPr>
              <a:t>MODEL</a:t>
            </a:r>
          </a:p>
        </p:txBody>
      </p:sp>
      <p:sp>
        <p:nvSpPr>
          <p:cNvPr id="129" name="TextBox 128">
            <a:extLst>
              <a:ext uri="{FF2B5EF4-FFF2-40B4-BE49-F238E27FC236}">
                <a16:creationId xmlns:a16="http://schemas.microsoft.com/office/drawing/2014/main" id="{A619BED3-08A8-F9B8-F720-5B04237582EC}"/>
              </a:ext>
            </a:extLst>
          </p:cNvPr>
          <p:cNvSpPr txBox="1"/>
          <p:nvPr/>
        </p:nvSpPr>
        <p:spPr>
          <a:xfrm>
            <a:off x="1422400" y="5956300"/>
            <a:ext cx="3987800" cy="276999"/>
          </a:xfrm>
          <a:prstGeom prst="rect">
            <a:avLst/>
          </a:prstGeom>
          <a:noFill/>
        </p:spPr>
        <p:txBody>
          <a:bodyPr vert="horz" wrap="square" lIns="0" tIns="0" rIns="0" bIns="0" rtlCol="0" anchor="t">
            <a:noAutofit/>
          </a:bodyPr>
          <a:lstStyle/>
          <a:p>
            <a:r>
              <a:rPr lang="sv-SE" sz="1000" b="1">
                <a:solidFill>
                  <a:srgbClr val="F8FAFC"/>
                </a:solidFill>
                <a:latin typeface="Aptos" panose="020B0004020202020204" pitchFamily="34" charset="0"/>
              </a:rPr>
              <a:t>15 inputs  -&gt;  128  -&gt;  64  -&gt;  32  -&gt;  Normal / Attack</a:t>
            </a:r>
            <a:endParaRPr lang="en-US" sz="1000" b="1">
              <a:solidFill>
                <a:srgbClr val="F8FAFC"/>
              </a:solidFill>
              <a:latin typeface="Aptos" panose="020B0004020202020204" pitchFamily="34" charset="0"/>
            </a:endParaRPr>
          </a:p>
        </p:txBody>
      </p:sp>
      <p:cxnSp>
        <p:nvCxnSpPr>
          <p:cNvPr id="130" name="Straight Connector 129">
            <a:extLst>
              <a:ext uri="{FF2B5EF4-FFF2-40B4-BE49-F238E27FC236}">
                <a16:creationId xmlns:a16="http://schemas.microsoft.com/office/drawing/2014/main" id="{0D85E1B5-5199-7648-C2ED-53ED6230E7B9}"/>
              </a:ext>
            </a:extLst>
          </p:cNvPr>
          <p:cNvCxnSpPr/>
          <p:nvPr/>
        </p:nvCxnSpPr>
        <p:spPr>
          <a:xfrm>
            <a:off x="5689600" y="5956300"/>
            <a:ext cx="0" cy="279400"/>
          </a:xfrm>
          <a:prstGeom prst="line">
            <a:avLst/>
          </a:prstGeom>
          <a:ln w="12700" cap="flat" cmpd="sng" algn="ctr">
            <a:solidFill>
              <a:srgbClr val="2F4962"/>
            </a:solidFill>
            <a:prstDash val="solid"/>
            <a:round/>
            <a:headEnd type="none" w="med" len="med"/>
            <a:tailEnd type="none" w="med" len="med"/>
          </a:ln>
        </p:spPr>
        <p:style>
          <a:lnRef idx="2">
            <a:schemeClr val="accent1"/>
          </a:lnRef>
          <a:fillRef idx="0">
            <a:schemeClr val="accent1"/>
          </a:fillRef>
          <a:effectRef idx="1">
            <a:schemeClr val="accent1"/>
          </a:effectRef>
          <a:fontRef idx="minor">
            <a:schemeClr val="tx1"/>
          </a:fontRef>
        </p:style>
      </p:cxnSp>
      <p:sp>
        <p:nvSpPr>
          <p:cNvPr id="131" name="TextBox 130">
            <a:extLst>
              <a:ext uri="{FF2B5EF4-FFF2-40B4-BE49-F238E27FC236}">
                <a16:creationId xmlns:a16="http://schemas.microsoft.com/office/drawing/2014/main" id="{25FAE2F3-6BD2-6D30-A1B5-7B4C6FD30032}"/>
              </a:ext>
            </a:extLst>
          </p:cNvPr>
          <p:cNvSpPr txBox="1"/>
          <p:nvPr/>
        </p:nvSpPr>
        <p:spPr>
          <a:xfrm>
            <a:off x="5918200" y="6019800"/>
            <a:ext cx="736600" cy="276999"/>
          </a:xfrm>
          <a:prstGeom prst="rect">
            <a:avLst/>
          </a:prstGeom>
          <a:noFill/>
        </p:spPr>
        <p:txBody>
          <a:bodyPr vert="horz" wrap="square" lIns="0" tIns="0" rIns="0" bIns="0" rtlCol="0" anchor="t">
            <a:noAutofit/>
          </a:bodyPr>
          <a:lstStyle/>
          <a:p>
            <a:r>
              <a:rPr lang="en-US" sz="800" b="1">
                <a:solidFill>
                  <a:srgbClr val="778CA3"/>
                </a:solidFill>
                <a:latin typeface="Aptos" panose="020B0004020202020204" pitchFamily="34" charset="0"/>
              </a:rPr>
              <a:t>TRAINING</a:t>
            </a:r>
          </a:p>
        </p:txBody>
      </p:sp>
      <p:sp>
        <p:nvSpPr>
          <p:cNvPr id="132" name="TextBox 131">
            <a:extLst>
              <a:ext uri="{FF2B5EF4-FFF2-40B4-BE49-F238E27FC236}">
                <a16:creationId xmlns:a16="http://schemas.microsoft.com/office/drawing/2014/main" id="{F18B4DD6-3246-8292-96DE-CAC594818340}"/>
              </a:ext>
            </a:extLst>
          </p:cNvPr>
          <p:cNvSpPr txBox="1"/>
          <p:nvPr/>
        </p:nvSpPr>
        <p:spPr>
          <a:xfrm>
            <a:off x="6705600" y="5956300"/>
            <a:ext cx="4648200" cy="276999"/>
          </a:xfrm>
          <a:prstGeom prst="rect">
            <a:avLst/>
          </a:prstGeom>
          <a:noFill/>
        </p:spPr>
        <p:txBody>
          <a:bodyPr vert="horz" wrap="square" lIns="0" tIns="0" rIns="0" bIns="0" rtlCol="0" anchor="t">
            <a:noAutofit/>
          </a:bodyPr>
          <a:lstStyle/>
          <a:p>
            <a:r>
              <a:rPr lang="en-US" sz="950" b="1">
                <a:solidFill>
                  <a:srgbClr val="F8FAFC"/>
                </a:solidFill>
                <a:latin typeface="Aptos" panose="020B0004020202020204" pitchFamily="34" charset="0"/>
              </a:rPr>
              <a:t>30 research rounds  |  2 local epochs  |  3-round container demo</a:t>
            </a:r>
          </a:p>
        </p:txBody>
      </p:sp>
      <p:sp>
        <p:nvSpPr>
          <p:cNvPr id="133" name="TextBox 132">
            <a:extLst>
              <a:ext uri="{FF2B5EF4-FFF2-40B4-BE49-F238E27FC236}">
                <a16:creationId xmlns:a16="http://schemas.microsoft.com/office/drawing/2014/main" id="{7E0D37C2-664C-0F14-BAF5-407BB46D66A2}"/>
              </a:ext>
            </a:extLst>
          </p:cNvPr>
          <p:cNvSpPr txBox="1"/>
          <p:nvPr/>
        </p:nvSpPr>
        <p:spPr>
          <a:xfrm>
            <a:off x="3022600" y="6388100"/>
            <a:ext cx="8610600" cy="276999"/>
          </a:xfrm>
          <a:prstGeom prst="rect">
            <a:avLst/>
          </a:prstGeom>
          <a:noFill/>
        </p:spPr>
        <p:txBody>
          <a:bodyPr vert="horz" wrap="square" lIns="0" tIns="0" rIns="0" bIns="0" rtlCol="0" anchor="t">
            <a:noAutofit/>
          </a:bodyPr>
          <a:lstStyle/>
          <a:p>
            <a:pPr algn="r"/>
            <a:r>
              <a:rPr lang="en-US" sz="730">
                <a:solidFill>
                  <a:srgbClr val="778CA3"/>
                </a:solidFill>
                <a:latin typeface="Aptos" panose="020B0004020202020204" pitchFamily="34" charset="0"/>
              </a:rPr>
              <a:t>Scope: source-based logical clients, not verified physical UAVs; the training-only preprocessor was centrally fitted.</a:t>
            </a:r>
          </a:p>
        </p:txBody>
      </p:sp>
    </p:spTree>
    <p:extLst>
      <p:ext uri="{BB962C8B-B14F-4D97-AF65-F5344CB8AC3E}">
        <p14:creationId xmlns:p14="http://schemas.microsoft.com/office/powerpoint/2010/main" val="1541600268"/>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bg>
      <p:bgPr>
        <a:solidFill>
          <a:srgbClr val="081422"/>
        </a:solidFill>
        <a:effectLst/>
      </p:bgPr>
    </p:bg>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B0D69F8A-54E3-50E9-5DC0-44A4CBB303DA}"/>
              </a:ext>
            </a:extLst>
          </p:cNvPr>
          <p:cNvSpPr txBox="1"/>
          <p:nvPr/>
        </p:nvSpPr>
        <p:spPr>
          <a:xfrm>
            <a:off x="558800" y="304800"/>
            <a:ext cx="4445000" cy="276999"/>
          </a:xfrm>
          <a:prstGeom prst="rect">
            <a:avLst/>
          </a:prstGeom>
          <a:noFill/>
        </p:spPr>
        <p:txBody>
          <a:bodyPr vert="horz" wrap="square" lIns="0" tIns="0" rIns="0" bIns="0" rtlCol="0" anchor="t">
            <a:noAutofit/>
          </a:bodyPr>
          <a:lstStyle/>
          <a:p>
            <a:r>
              <a:rPr lang="en-US" sz="1000" b="1">
                <a:solidFill>
                  <a:srgbClr val="10C58B"/>
                </a:solidFill>
                <a:latin typeface="Aptos" panose="020B0004020202020204" pitchFamily="34" charset="0"/>
              </a:rPr>
              <a:t>VERIFIED EVIDENCE</a:t>
            </a:r>
          </a:p>
        </p:txBody>
      </p:sp>
      <p:sp>
        <p:nvSpPr>
          <p:cNvPr id="3" name="TextBox 2">
            <a:extLst>
              <a:ext uri="{FF2B5EF4-FFF2-40B4-BE49-F238E27FC236}">
                <a16:creationId xmlns:a16="http://schemas.microsoft.com/office/drawing/2014/main" id="{A6E174F4-1BDA-0EB1-87AF-6E152EC53EAB}"/>
              </a:ext>
            </a:extLst>
          </p:cNvPr>
          <p:cNvSpPr txBox="1"/>
          <p:nvPr/>
        </p:nvSpPr>
        <p:spPr>
          <a:xfrm>
            <a:off x="558800" y="571500"/>
            <a:ext cx="9906000" cy="276999"/>
          </a:xfrm>
          <a:prstGeom prst="rect">
            <a:avLst/>
          </a:prstGeom>
          <a:noFill/>
        </p:spPr>
        <p:txBody>
          <a:bodyPr vert="horz" wrap="square" lIns="0" tIns="0" rIns="0" bIns="0" rtlCol="0" anchor="t">
            <a:noAutofit/>
          </a:bodyPr>
          <a:lstStyle/>
          <a:p>
            <a:r>
              <a:rPr lang="en-US" sz="2800" b="1">
                <a:solidFill>
                  <a:srgbClr val="F8FAFC"/>
                </a:solidFill>
                <a:latin typeface="Aptos Display" panose="020B0004020202020204" pitchFamily="34" charset="0"/>
              </a:rPr>
              <a:t>Federation helps. Secure transport preserves aggregation.</a:t>
            </a:r>
          </a:p>
        </p:txBody>
      </p:sp>
      <p:sp>
        <p:nvSpPr>
          <p:cNvPr id="4" name="TextBox 3">
            <a:extLst>
              <a:ext uri="{FF2B5EF4-FFF2-40B4-BE49-F238E27FC236}">
                <a16:creationId xmlns:a16="http://schemas.microsoft.com/office/drawing/2014/main" id="{F097EB07-3D3E-81E3-FF69-DC9EE5ECCA72}"/>
              </a:ext>
            </a:extLst>
          </p:cNvPr>
          <p:cNvSpPr txBox="1"/>
          <p:nvPr/>
        </p:nvSpPr>
        <p:spPr>
          <a:xfrm>
            <a:off x="10998200" y="355600"/>
            <a:ext cx="635000" cy="276999"/>
          </a:xfrm>
          <a:prstGeom prst="rect">
            <a:avLst/>
          </a:prstGeom>
          <a:noFill/>
        </p:spPr>
        <p:txBody>
          <a:bodyPr vert="horz" wrap="square" lIns="0" tIns="0" rIns="0" bIns="0" rtlCol="0" anchor="t">
            <a:noAutofit/>
          </a:bodyPr>
          <a:lstStyle/>
          <a:p>
            <a:pPr algn="r"/>
            <a:r>
              <a:rPr lang="en-US" sz="1000" b="1">
                <a:solidFill>
                  <a:srgbClr val="778CA3"/>
                </a:solidFill>
                <a:latin typeface="Aptos" panose="020B0004020202020204" pitchFamily="34" charset="0"/>
              </a:rPr>
              <a:t>04</a:t>
            </a:r>
          </a:p>
        </p:txBody>
      </p:sp>
      <p:cxnSp>
        <p:nvCxnSpPr>
          <p:cNvPr id="5" name="Straight Connector 4">
            <a:extLst>
              <a:ext uri="{FF2B5EF4-FFF2-40B4-BE49-F238E27FC236}">
                <a16:creationId xmlns:a16="http://schemas.microsoft.com/office/drawing/2014/main" id="{2B192C61-DD97-1F0A-9C49-69B7C59498DE}"/>
              </a:ext>
            </a:extLst>
          </p:cNvPr>
          <p:cNvCxnSpPr/>
          <p:nvPr/>
        </p:nvCxnSpPr>
        <p:spPr>
          <a:xfrm>
            <a:off x="558800" y="1193800"/>
            <a:ext cx="11074400" cy="0"/>
          </a:xfrm>
          <a:prstGeom prst="line">
            <a:avLst/>
          </a:prstGeom>
          <a:ln w="12700" cap="flat" cmpd="sng" algn="ctr">
            <a:solidFill>
              <a:srgbClr val="2F4962">
                <a:alpha val="80000"/>
              </a:srgbClr>
            </a:solidFill>
            <a:prstDash val="solid"/>
            <a:round/>
            <a:headEnd type="none" w="med" len="med"/>
            <a:tailEnd type="none" w="med" len="med"/>
          </a:ln>
        </p:spPr>
        <p:style>
          <a:lnRef idx="2">
            <a:schemeClr val="accent1"/>
          </a:lnRef>
          <a:fillRef idx="0">
            <a:schemeClr val="accent1"/>
          </a:fillRef>
          <a:effectRef idx="1">
            <a:schemeClr val="accent1"/>
          </a:effectRef>
          <a:fontRef idx="minor">
            <a:schemeClr val="tx1"/>
          </a:fontRef>
        </p:style>
      </p:cxnSp>
      <p:sp>
        <p:nvSpPr>
          <p:cNvPr id="6" name="TextBox 5">
            <a:extLst>
              <a:ext uri="{FF2B5EF4-FFF2-40B4-BE49-F238E27FC236}">
                <a16:creationId xmlns:a16="http://schemas.microsoft.com/office/drawing/2014/main" id="{FEF9E844-FD86-CAC5-A592-7DAFC7BFA502}"/>
              </a:ext>
            </a:extLst>
          </p:cNvPr>
          <p:cNvSpPr txBox="1"/>
          <p:nvPr/>
        </p:nvSpPr>
        <p:spPr>
          <a:xfrm>
            <a:off x="558800" y="6553200"/>
            <a:ext cx="5334000" cy="276999"/>
          </a:xfrm>
          <a:prstGeom prst="rect">
            <a:avLst/>
          </a:prstGeom>
          <a:noFill/>
        </p:spPr>
        <p:txBody>
          <a:bodyPr vert="horz" wrap="square" lIns="0" tIns="0" rIns="0" bIns="0" rtlCol="0" anchor="t">
            <a:noAutofit/>
          </a:bodyPr>
          <a:lstStyle/>
          <a:p>
            <a:r>
              <a:rPr lang="en-US" sz="850">
                <a:solidFill>
                  <a:srgbClr val="778CA3"/>
                </a:solidFill>
                <a:latin typeface="Aptos" panose="020B0004020202020204" pitchFamily="34" charset="0"/>
              </a:rPr>
              <a:t>KAUST Academy  |  Cybersecurity Specialization</a:t>
            </a:r>
          </a:p>
        </p:txBody>
      </p:sp>
      <p:sp>
        <p:nvSpPr>
          <p:cNvPr id="7" name="TextBox 6">
            <a:extLst>
              <a:ext uri="{FF2B5EF4-FFF2-40B4-BE49-F238E27FC236}">
                <a16:creationId xmlns:a16="http://schemas.microsoft.com/office/drawing/2014/main" id="{61CC4D71-F494-DC2E-A126-9E96F92D1EF1}"/>
              </a:ext>
            </a:extLst>
          </p:cNvPr>
          <p:cNvSpPr txBox="1"/>
          <p:nvPr/>
        </p:nvSpPr>
        <p:spPr>
          <a:xfrm>
            <a:off x="609600" y="1511300"/>
            <a:ext cx="5461000" cy="276999"/>
          </a:xfrm>
          <a:prstGeom prst="rect">
            <a:avLst/>
          </a:prstGeom>
          <a:noFill/>
        </p:spPr>
        <p:txBody>
          <a:bodyPr vert="horz" wrap="square" lIns="0" tIns="0" rIns="0" bIns="0" rtlCol="0" anchor="t">
            <a:noAutofit/>
          </a:bodyPr>
          <a:lstStyle/>
          <a:p>
            <a:r>
              <a:rPr lang="en-US" sz="1000" b="1">
                <a:solidFill>
                  <a:srgbClr val="778CA3"/>
                </a:solidFill>
                <a:latin typeface="Aptos" panose="020B0004020202020204" pitchFamily="34" charset="0"/>
              </a:rPr>
              <a:t>LOCKED-TEST MACRO-F1</a:t>
            </a:r>
          </a:p>
        </p:txBody>
      </p:sp>
      <p:sp>
        <p:nvSpPr>
          <p:cNvPr id="8" name="TextBox 7">
            <a:extLst>
              <a:ext uri="{FF2B5EF4-FFF2-40B4-BE49-F238E27FC236}">
                <a16:creationId xmlns:a16="http://schemas.microsoft.com/office/drawing/2014/main" id="{26049637-83F5-8DE2-DFD6-7D7C4F614E39}"/>
              </a:ext>
            </a:extLst>
          </p:cNvPr>
          <p:cNvSpPr txBox="1"/>
          <p:nvPr/>
        </p:nvSpPr>
        <p:spPr>
          <a:xfrm>
            <a:off x="609600" y="1752600"/>
            <a:ext cx="5461000" cy="276999"/>
          </a:xfrm>
          <a:prstGeom prst="rect">
            <a:avLst/>
          </a:prstGeom>
          <a:noFill/>
        </p:spPr>
        <p:txBody>
          <a:bodyPr vert="horz" wrap="square" lIns="0" tIns="0" rIns="0" bIns="0" rtlCol="0" anchor="t">
            <a:noAutofit/>
          </a:bodyPr>
          <a:lstStyle/>
          <a:p>
            <a:r>
              <a:rPr lang="en-US" sz="900">
                <a:solidFill>
                  <a:srgbClr val="A4B4C7"/>
                </a:solidFill>
                <a:latin typeface="Aptos" panose="020B0004020202020204" pitchFamily="34" charset="0"/>
              </a:rPr>
              <a:t>Balanced performance across Normal and Attack</a:t>
            </a:r>
          </a:p>
        </p:txBody>
      </p:sp>
      <p:sp>
        <p:nvSpPr>
          <p:cNvPr id="9" name="TextBox 8">
            <a:extLst>
              <a:ext uri="{FF2B5EF4-FFF2-40B4-BE49-F238E27FC236}">
                <a16:creationId xmlns:a16="http://schemas.microsoft.com/office/drawing/2014/main" id="{55FECE49-4E95-B489-4800-490DE6ACE637}"/>
              </a:ext>
            </a:extLst>
          </p:cNvPr>
          <p:cNvSpPr txBox="1"/>
          <p:nvPr/>
        </p:nvSpPr>
        <p:spPr>
          <a:xfrm>
            <a:off x="609600" y="2336800"/>
            <a:ext cx="1905000" cy="276999"/>
          </a:xfrm>
          <a:prstGeom prst="rect">
            <a:avLst/>
          </a:prstGeom>
          <a:noFill/>
        </p:spPr>
        <p:txBody>
          <a:bodyPr vert="horz" wrap="square" lIns="0" tIns="0" rIns="0" bIns="0" rtlCol="0" anchor="t">
            <a:noAutofit/>
          </a:bodyPr>
          <a:lstStyle/>
          <a:p>
            <a:r>
              <a:rPr lang="en-US" sz="920" b="1">
                <a:solidFill>
                  <a:srgbClr val="F8FAFC"/>
                </a:solidFill>
                <a:latin typeface="Aptos" panose="020B0004020202020204" pitchFamily="34" charset="0"/>
              </a:rPr>
              <a:t>LOCAL-ONLY MEAN</a:t>
            </a:r>
          </a:p>
        </p:txBody>
      </p:sp>
      <p:sp>
        <p:nvSpPr>
          <p:cNvPr id="10" name="TextBox 9">
            <a:extLst>
              <a:ext uri="{FF2B5EF4-FFF2-40B4-BE49-F238E27FC236}">
                <a16:creationId xmlns:a16="http://schemas.microsoft.com/office/drawing/2014/main" id="{F32326DB-E260-F810-08D2-C392810F88C4}"/>
              </a:ext>
            </a:extLst>
          </p:cNvPr>
          <p:cNvSpPr txBox="1"/>
          <p:nvPr/>
        </p:nvSpPr>
        <p:spPr>
          <a:xfrm>
            <a:off x="4889500" y="2336800"/>
            <a:ext cx="1016000" cy="276999"/>
          </a:xfrm>
          <a:prstGeom prst="rect">
            <a:avLst/>
          </a:prstGeom>
          <a:noFill/>
        </p:spPr>
        <p:txBody>
          <a:bodyPr vert="horz" wrap="square" lIns="0" tIns="0" rIns="0" bIns="0" rtlCol="0" anchor="t">
            <a:noAutofit/>
          </a:bodyPr>
          <a:lstStyle/>
          <a:p>
            <a:pPr algn="r"/>
            <a:r>
              <a:rPr lang="en-US" sz="1300" b="1">
                <a:solidFill>
                  <a:srgbClr val="778CA3"/>
                </a:solidFill>
                <a:latin typeface="Aptos" panose="020B0004020202020204" pitchFamily="34" charset="0"/>
              </a:rPr>
              <a:t>89.69%</a:t>
            </a:r>
          </a:p>
        </p:txBody>
      </p:sp>
      <p:sp>
        <p:nvSpPr>
          <p:cNvPr id="11" name="Rectangle: Rounded Corners 10">
            <a:extLst>
              <a:ext uri="{FF2B5EF4-FFF2-40B4-BE49-F238E27FC236}">
                <a16:creationId xmlns:a16="http://schemas.microsoft.com/office/drawing/2014/main" id="{399C119D-9062-6520-17CC-76B62AB882B6}"/>
              </a:ext>
            </a:extLst>
          </p:cNvPr>
          <p:cNvSpPr/>
          <p:nvPr/>
        </p:nvSpPr>
        <p:spPr>
          <a:xfrm>
            <a:off x="609600" y="2641600"/>
            <a:ext cx="5283200" cy="203200"/>
          </a:xfrm>
          <a:prstGeom prst="roundRect">
            <a:avLst/>
          </a:prstGeom>
          <a:solidFill>
            <a:srgbClr val="22364B"/>
          </a:solidFill>
          <a:ln w="9525" cap="flat" cmpd="sng" algn="ctr">
            <a:noFill/>
            <a:prstDash val="solid"/>
          </a:ln>
          <a:effectLst>
            <a:outerShdw blurRad="40000" dist="23000" dir="5400000" rotWithShape="0">
              <a:srgbClr val="000000">
                <a:alpha val="35000"/>
              </a:srgbClr>
            </a:outerShdw>
          </a:effectLst>
          <a:extLst>
            <a:ext uri="{91240B29-F687-4F45-9708-019B960494DF}">
              <a14:hiddenLine xmlns:a14="http://schemas.microsoft.com/office/drawing/2010/main" w="9525" cap="flat" cmpd="sng" algn="ctr">
                <a:solidFill>
                  <a:schemeClr val="accent1">
                    <a:shade val="95000"/>
                    <a:satMod val="105000"/>
                  </a:schemeClr>
                </a:solidFill>
                <a:prstDash val="solid"/>
              </a14:hiddenLine>
            </a:ext>
          </a:ex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12" name="Rectangle: Rounded Corners 11">
            <a:extLst>
              <a:ext uri="{FF2B5EF4-FFF2-40B4-BE49-F238E27FC236}">
                <a16:creationId xmlns:a16="http://schemas.microsoft.com/office/drawing/2014/main" id="{C026213E-7540-79A0-2116-B726A99AF169}"/>
              </a:ext>
            </a:extLst>
          </p:cNvPr>
          <p:cNvSpPr/>
          <p:nvPr/>
        </p:nvSpPr>
        <p:spPr>
          <a:xfrm>
            <a:off x="609600" y="2641600"/>
            <a:ext cx="4738502" cy="203200"/>
          </a:xfrm>
          <a:prstGeom prst="roundRect">
            <a:avLst/>
          </a:prstGeom>
          <a:solidFill>
            <a:srgbClr val="778CA3"/>
          </a:solidFill>
          <a:ln w="9525" cap="flat" cmpd="sng" algn="ctr">
            <a:noFill/>
            <a:prstDash val="solid"/>
          </a:ln>
          <a:effectLst>
            <a:outerShdw blurRad="40000" dist="23000" dir="5400000" rotWithShape="0">
              <a:srgbClr val="000000">
                <a:alpha val="35000"/>
              </a:srgbClr>
            </a:outerShdw>
          </a:effectLst>
          <a:extLst>
            <a:ext uri="{91240B29-F687-4F45-9708-019B960494DF}">
              <a14:hiddenLine xmlns:a14="http://schemas.microsoft.com/office/drawing/2010/main" w="9525" cap="flat" cmpd="sng" algn="ctr">
                <a:solidFill>
                  <a:schemeClr val="accent1">
                    <a:shade val="95000"/>
                    <a:satMod val="105000"/>
                  </a:schemeClr>
                </a:solidFill>
                <a:prstDash val="solid"/>
              </a14:hiddenLine>
            </a:ext>
          </a:ex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13" name="TextBox 12">
            <a:extLst>
              <a:ext uri="{FF2B5EF4-FFF2-40B4-BE49-F238E27FC236}">
                <a16:creationId xmlns:a16="http://schemas.microsoft.com/office/drawing/2014/main" id="{E0A20B1D-9363-F466-AF7C-A45ECE0E3B31}"/>
              </a:ext>
            </a:extLst>
          </p:cNvPr>
          <p:cNvSpPr txBox="1"/>
          <p:nvPr/>
        </p:nvSpPr>
        <p:spPr>
          <a:xfrm>
            <a:off x="609600" y="3302000"/>
            <a:ext cx="1905000" cy="276999"/>
          </a:xfrm>
          <a:prstGeom prst="rect">
            <a:avLst/>
          </a:prstGeom>
          <a:noFill/>
        </p:spPr>
        <p:txBody>
          <a:bodyPr vert="horz" wrap="square" lIns="0" tIns="0" rIns="0" bIns="0" rtlCol="0" anchor="t">
            <a:noAutofit/>
          </a:bodyPr>
          <a:lstStyle/>
          <a:p>
            <a:r>
              <a:rPr lang="en-US" sz="920" b="1">
                <a:solidFill>
                  <a:srgbClr val="F8FAFC"/>
                </a:solidFill>
                <a:latin typeface="Aptos" panose="020B0004020202020204" pitchFamily="34" charset="0"/>
              </a:rPr>
              <a:t>FEDERATED FEDAVG</a:t>
            </a:r>
          </a:p>
        </p:txBody>
      </p:sp>
      <p:sp>
        <p:nvSpPr>
          <p:cNvPr id="14" name="TextBox 13">
            <a:extLst>
              <a:ext uri="{FF2B5EF4-FFF2-40B4-BE49-F238E27FC236}">
                <a16:creationId xmlns:a16="http://schemas.microsoft.com/office/drawing/2014/main" id="{11A5A8B5-1F73-3247-CA60-AEB2485D9720}"/>
              </a:ext>
            </a:extLst>
          </p:cNvPr>
          <p:cNvSpPr txBox="1"/>
          <p:nvPr/>
        </p:nvSpPr>
        <p:spPr>
          <a:xfrm>
            <a:off x="4889500" y="3302000"/>
            <a:ext cx="1016000" cy="276999"/>
          </a:xfrm>
          <a:prstGeom prst="rect">
            <a:avLst/>
          </a:prstGeom>
          <a:noFill/>
        </p:spPr>
        <p:txBody>
          <a:bodyPr vert="horz" wrap="square" lIns="0" tIns="0" rIns="0" bIns="0" rtlCol="0" anchor="t">
            <a:noAutofit/>
          </a:bodyPr>
          <a:lstStyle/>
          <a:p>
            <a:pPr algn="r"/>
            <a:r>
              <a:rPr lang="en-US" sz="1300" b="1">
                <a:solidFill>
                  <a:srgbClr val="10C58B"/>
                </a:solidFill>
                <a:latin typeface="Aptos" panose="020B0004020202020204" pitchFamily="34" charset="0"/>
              </a:rPr>
              <a:t>95.02%</a:t>
            </a:r>
          </a:p>
        </p:txBody>
      </p:sp>
      <p:sp>
        <p:nvSpPr>
          <p:cNvPr id="15" name="Rectangle: Rounded Corners 14">
            <a:extLst>
              <a:ext uri="{FF2B5EF4-FFF2-40B4-BE49-F238E27FC236}">
                <a16:creationId xmlns:a16="http://schemas.microsoft.com/office/drawing/2014/main" id="{B5FFE133-6E3E-1C82-6942-99982A6268C5}"/>
              </a:ext>
            </a:extLst>
          </p:cNvPr>
          <p:cNvSpPr/>
          <p:nvPr/>
        </p:nvSpPr>
        <p:spPr>
          <a:xfrm>
            <a:off x="609600" y="3606800"/>
            <a:ext cx="5283200" cy="203200"/>
          </a:xfrm>
          <a:prstGeom prst="roundRect">
            <a:avLst/>
          </a:prstGeom>
          <a:solidFill>
            <a:srgbClr val="22364B"/>
          </a:solidFill>
          <a:ln w="9525" cap="flat" cmpd="sng" algn="ctr">
            <a:noFill/>
            <a:prstDash val="solid"/>
          </a:ln>
          <a:effectLst>
            <a:outerShdw blurRad="40000" dist="23000" dir="5400000" rotWithShape="0">
              <a:srgbClr val="000000">
                <a:alpha val="35000"/>
              </a:srgbClr>
            </a:outerShdw>
          </a:effectLst>
          <a:extLst>
            <a:ext uri="{91240B29-F687-4F45-9708-019B960494DF}">
              <a14:hiddenLine xmlns:a14="http://schemas.microsoft.com/office/drawing/2010/main" w="9525" cap="flat" cmpd="sng" algn="ctr">
                <a:solidFill>
                  <a:schemeClr val="accent1">
                    <a:shade val="95000"/>
                    <a:satMod val="105000"/>
                  </a:schemeClr>
                </a:solidFill>
                <a:prstDash val="solid"/>
              </a14:hiddenLine>
            </a:ext>
          </a:ex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16" name="Rectangle: Rounded Corners 15">
            <a:extLst>
              <a:ext uri="{FF2B5EF4-FFF2-40B4-BE49-F238E27FC236}">
                <a16:creationId xmlns:a16="http://schemas.microsoft.com/office/drawing/2014/main" id="{983E10AE-40FF-ECFB-8E15-C1D65E4EF80E}"/>
              </a:ext>
            </a:extLst>
          </p:cNvPr>
          <p:cNvSpPr/>
          <p:nvPr/>
        </p:nvSpPr>
        <p:spPr>
          <a:xfrm>
            <a:off x="609600" y="3606800"/>
            <a:ext cx="5020097" cy="203200"/>
          </a:xfrm>
          <a:prstGeom prst="roundRect">
            <a:avLst/>
          </a:prstGeom>
          <a:solidFill>
            <a:srgbClr val="10C58B"/>
          </a:solidFill>
          <a:ln w="9525" cap="flat" cmpd="sng" algn="ctr">
            <a:noFill/>
            <a:prstDash val="solid"/>
          </a:ln>
          <a:effectLst>
            <a:outerShdw blurRad="40000" dist="23000" dir="5400000" rotWithShape="0">
              <a:srgbClr val="000000">
                <a:alpha val="35000"/>
              </a:srgbClr>
            </a:outerShdw>
          </a:effectLst>
          <a:extLst>
            <a:ext uri="{91240B29-F687-4F45-9708-019B960494DF}">
              <a14:hiddenLine xmlns:a14="http://schemas.microsoft.com/office/drawing/2010/main" w="9525" cap="flat" cmpd="sng" algn="ctr">
                <a:solidFill>
                  <a:schemeClr val="accent1">
                    <a:shade val="95000"/>
                    <a:satMod val="105000"/>
                  </a:schemeClr>
                </a:solidFill>
                <a:prstDash val="solid"/>
              </a14:hiddenLine>
            </a:ext>
          </a:ex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17" name="TextBox 16">
            <a:extLst>
              <a:ext uri="{FF2B5EF4-FFF2-40B4-BE49-F238E27FC236}">
                <a16:creationId xmlns:a16="http://schemas.microsoft.com/office/drawing/2014/main" id="{92845519-C458-585D-6F48-A89B87B1D30F}"/>
              </a:ext>
            </a:extLst>
          </p:cNvPr>
          <p:cNvSpPr txBox="1"/>
          <p:nvPr/>
        </p:nvSpPr>
        <p:spPr>
          <a:xfrm>
            <a:off x="609600" y="4267200"/>
            <a:ext cx="1905000" cy="276999"/>
          </a:xfrm>
          <a:prstGeom prst="rect">
            <a:avLst/>
          </a:prstGeom>
          <a:noFill/>
        </p:spPr>
        <p:txBody>
          <a:bodyPr vert="horz" wrap="square" lIns="0" tIns="0" rIns="0" bIns="0" rtlCol="0" anchor="t">
            <a:noAutofit/>
          </a:bodyPr>
          <a:lstStyle/>
          <a:p>
            <a:r>
              <a:rPr lang="en-US" sz="920" b="1">
                <a:solidFill>
                  <a:srgbClr val="F8FAFC"/>
                </a:solidFill>
                <a:latin typeface="Aptos" panose="020B0004020202020204" pitchFamily="34" charset="0"/>
              </a:rPr>
              <a:t>CENTRALIZED</a:t>
            </a:r>
          </a:p>
        </p:txBody>
      </p:sp>
      <p:sp>
        <p:nvSpPr>
          <p:cNvPr id="18" name="TextBox 17">
            <a:extLst>
              <a:ext uri="{FF2B5EF4-FFF2-40B4-BE49-F238E27FC236}">
                <a16:creationId xmlns:a16="http://schemas.microsoft.com/office/drawing/2014/main" id="{1F1324B1-7245-1BC9-2830-401F28C7F341}"/>
              </a:ext>
            </a:extLst>
          </p:cNvPr>
          <p:cNvSpPr txBox="1"/>
          <p:nvPr/>
        </p:nvSpPr>
        <p:spPr>
          <a:xfrm>
            <a:off x="4889500" y="4267200"/>
            <a:ext cx="1016000" cy="276999"/>
          </a:xfrm>
          <a:prstGeom prst="rect">
            <a:avLst/>
          </a:prstGeom>
          <a:noFill/>
        </p:spPr>
        <p:txBody>
          <a:bodyPr vert="horz" wrap="square" lIns="0" tIns="0" rIns="0" bIns="0" rtlCol="0" anchor="t">
            <a:noAutofit/>
          </a:bodyPr>
          <a:lstStyle/>
          <a:p>
            <a:pPr algn="r"/>
            <a:r>
              <a:rPr lang="en-US" sz="1300" b="1">
                <a:solidFill>
                  <a:srgbClr val="3B82F6"/>
                </a:solidFill>
                <a:latin typeface="Aptos" panose="020B0004020202020204" pitchFamily="34" charset="0"/>
              </a:rPr>
              <a:t>97.75%</a:t>
            </a:r>
          </a:p>
        </p:txBody>
      </p:sp>
      <p:sp>
        <p:nvSpPr>
          <p:cNvPr id="19" name="Rectangle: Rounded Corners 18">
            <a:extLst>
              <a:ext uri="{FF2B5EF4-FFF2-40B4-BE49-F238E27FC236}">
                <a16:creationId xmlns:a16="http://schemas.microsoft.com/office/drawing/2014/main" id="{DA8EBEAE-6355-8923-8DDB-6EF84DAD1A81}"/>
              </a:ext>
            </a:extLst>
          </p:cNvPr>
          <p:cNvSpPr/>
          <p:nvPr/>
        </p:nvSpPr>
        <p:spPr>
          <a:xfrm>
            <a:off x="609600" y="4572000"/>
            <a:ext cx="5283200" cy="203200"/>
          </a:xfrm>
          <a:prstGeom prst="roundRect">
            <a:avLst/>
          </a:prstGeom>
          <a:solidFill>
            <a:srgbClr val="22364B"/>
          </a:solidFill>
          <a:ln w="9525" cap="flat" cmpd="sng" algn="ctr">
            <a:noFill/>
            <a:prstDash val="solid"/>
          </a:ln>
          <a:effectLst>
            <a:outerShdw blurRad="40000" dist="23000" dir="5400000" rotWithShape="0">
              <a:srgbClr val="000000">
                <a:alpha val="35000"/>
              </a:srgbClr>
            </a:outerShdw>
          </a:effectLst>
          <a:extLst>
            <a:ext uri="{91240B29-F687-4F45-9708-019B960494DF}">
              <a14:hiddenLine xmlns:a14="http://schemas.microsoft.com/office/drawing/2010/main" w="9525" cap="flat" cmpd="sng" algn="ctr">
                <a:solidFill>
                  <a:schemeClr val="accent1">
                    <a:shade val="95000"/>
                    <a:satMod val="105000"/>
                  </a:schemeClr>
                </a:solidFill>
                <a:prstDash val="solid"/>
              </a14:hiddenLine>
            </a:ext>
          </a:ex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20" name="Rectangle: Rounded Corners 19">
            <a:extLst>
              <a:ext uri="{FF2B5EF4-FFF2-40B4-BE49-F238E27FC236}">
                <a16:creationId xmlns:a16="http://schemas.microsoft.com/office/drawing/2014/main" id="{4453C3F1-5B15-80A2-8679-C047E7C01ECE}"/>
              </a:ext>
            </a:extLst>
          </p:cNvPr>
          <p:cNvSpPr/>
          <p:nvPr/>
        </p:nvSpPr>
        <p:spPr>
          <a:xfrm>
            <a:off x="609600" y="4572000"/>
            <a:ext cx="5164328" cy="203200"/>
          </a:xfrm>
          <a:prstGeom prst="roundRect">
            <a:avLst/>
          </a:prstGeom>
          <a:solidFill>
            <a:srgbClr val="3B82F6"/>
          </a:solidFill>
          <a:ln w="9525" cap="flat" cmpd="sng" algn="ctr">
            <a:noFill/>
            <a:prstDash val="solid"/>
          </a:ln>
          <a:effectLst>
            <a:outerShdw blurRad="40000" dist="23000" dir="5400000" rotWithShape="0">
              <a:srgbClr val="000000">
                <a:alpha val="35000"/>
              </a:srgbClr>
            </a:outerShdw>
          </a:effectLst>
          <a:extLst>
            <a:ext uri="{91240B29-F687-4F45-9708-019B960494DF}">
              <a14:hiddenLine xmlns:a14="http://schemas.microsoft.com/office/drawing/2010/main" w="9525" cap="flat" cmpd="sng" algn="ctr">
                <a:solidFill>
                  <a:schemeClr val="accent1">
                    <a:shade val="95000"/>
                    <a:satMod val="105000"/>
                  </a:schemeClr>
                </a:solidFill>
                <a:prstDash val="solid"/>
              </a14:hiddenLine>
            </a:ext>
          </a:ex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21" name="Rectangle: Rounded Corners 20">
            <a:extLst>
              <a:ext uri="{FF2B5EF4-FFF2-40B4-BE49-F238E27FC236}">
                <a16:creationId xmlns:a16="http://schemas.microsoft.com/office/drawing/2014/main" id="{56640B8D-8B43-BC38-4150-120ED1882719}"/>
              </a:ext>
            </a:extLst>
          </p:cNvPr>
          <p:cNvSpPr/>
          <p:nvPr/>
        </p:nvSpPr>
        <p:spPr>
          <a:xfrm>
            <a:off x="609600" y="5257800"/>
            <a:ext cx="3175000" cy="317500"/>
          </a:xfrm>
          <a:prstGeom prst="roundRect">
            <a:avLst/>
          </a:prstGeom>
          <a:solidFill>
            <a:srgbClr val="193047"/>
          </a:solidFill>
          <a:ln w="9525" cap="flat" cmpd="sng" algn="ctr">
            <a:noFill/>
            <a:prstDash val="solid"/>
          </a:ln>
          <a:effectLst>
            <a:outerShdw blurRad="40000" dist="23000" dir="5400000" rotWithShape="0">
              <a:srgbClr val="000000">
                <a:alpha val="35000"/>
              </a:srgbClr>
            </a:outerShdw>
          </a:effectLst>
          <a:extLst>
            <a:ext uri="{91240B29-F687-4F45-9708-019B960494DF}">
              <a14:hiddenLine xmlns:a14="http://schemas.microsoft.com/office/drawing/2010/main" w="9525" cap="flat" cmpd="sng" algn="ctr">
                <a:solidFill>
                  <a:schemeClr val="accent1">
                    <a:shade val="95000"/>
                    <a:satMod val="105000"/>
                  </a:schemeClr>
                </a:solidFill>
                <a:prstDash val="solid"/>
              </a14:hiddenLine>
            </a:ext>
          </a:ex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22" name="TextBox 21">
            <a:extLst>
              <a:ext uri="{FF2B5EF4-FFF2-40B4-BE49-F238E27FC236}">
                <a16:creationId xmlns:a16="http://schemas.microsoft.com/office/drawing/2014/main" id="{CBD9689E-CE6F-0FE0-7A07-3925D8C8701B}"/>
              </a:ext>
            </a:extLst>
          </p:cNvPr>
          <p:cNvSpPr txBox="1"/>
          <p:nvPr/>
        </p:nvSpPr>
        <p:spPr>
          <a:xfrm>
            <a:off x="609600" y="5257800"/>
            <a:ext cx="3175000" cy="276999"/>
          </a:xfrm>
          <a:prstGeom prst="rect">
            <a:avLst/>
          </a:prstGeom>
          <a:noFill/>
        </p:spPr>
        <p:txBody>
          <a:bodyPr vert="horz" wrap="square" lIns="0" tIns="0" rIns="0" bIns="0" rtlCol="0" anchor="ctr">
            <a:noAutofit/>
          </a:bodyPr>
          <a:lstStyle/>
          <a:p>
            <a:pPr algn="ctr"/>
            <a:r>
              <a:rPr lang="en-US" sz="900" b="1">
                <a:solidFill>
                  <a:srgbClr val="10C58B"/>
                </a:solidFill>
                <a:latin typeface="Aptos" panose="020B0004020202020204" pitchFamily="34" charset="0"/>
              </a:rPr>
              <a:t>+5.33 points vs average isolated model</a:t>
            </a:r>
          </a:p>
        </p:txBody>
      </p:sp>
      <p:sp>
        <p:nvSpPr>
          <p:cNvPr id="23" name="Rectangle: Rounded Corners 22">
            <a:extLst>
              <a:ext uri="{FF2B5EF4-FFF2-40B4-BE49-F238E27FC236}">
                <a16:creationId xmlns:a16="http://schemas.microsoft.com/office/drawing/2014/main" id="{B1CFAC21-DEE6-83CA-CCFE-4F28CF23EB48}"/>
              </a:ext>
            </a:extLst>
          </p:cNvPr>
          <p:cNvSpPr/>
          <p:nvPr/>
        </p:nvSpPr>
        <p:spPr>
          <a:xfrm>
            <a:off x="3886200" y="5257800"/>
            <a:ext cx="2006600" cy="317500"/>
          </a:xfrm>
          <a:prstGeom prst="roundRect">
            <a:avLst/>
          </a:prstGeom>
          <a:solidFill>
            <a:srgbClr val="193047"/>
          </a:solidFill>
          <a:ln w="9525" cap="flat" cmpd="sng" algn="ctr">
            <a:noFill/>
            <a:prstDash val="solid"/>
          </a:ln>
          <a:effectLst>
            <a:outerShdw blurRad="40000" dist="23000" dir="5400000" rotWithShape="0">
              <a:srgbClr val="000000">
                <a:alpha val="35000"/>
              </a:srgbClr>
            </a:outerShdw>
          </a:effectLst>
          <a:extLst>
            <a:ext uri="{91240B29-F687-4F45-9708-019B960494DF}">
              <a14:hiddenLine xmlns:a14="http://schemas.microsoft.com/office/drawing/2010/main" w="9525" cap="flat" cmpd="sng" algn="ctr">
                <a:solidFill>
                  <a:schemeClr val="accent1">
                    <a:shade val="95000"/>
                    <a:satMod val="105000"/>
                  </a:schemeClr>
                </a:solidFill>
                <a:prstDash val="solid"/>
              </a14:hiddenLine>
            </a:ext>
          </a:ex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24" name="TextBox 23">
            <a:extLst>
              <a:ext uri="{FF2B5EF4-FFF2-40B4-BE49-F238E27FC236}">
                <a16:creationId xmlns:a16="http://schemas.microsoft.com/office/drawing/2014/main" id="{DB6FDBC4-94CA-1532-58BB-A18C64163219}"/>
              </a:ext>
            </a:extLst>
          </p:cNvPr>
          <p:cNvSpPr txBox="1"/>
          <p:nvPr/>
        </p:nvSpPr>
        <p:spPr>
          <a:xfrm>
            <a:off x="3886200" y="5257800"/>
            <a:ext cx="2006600" cy="276999"/>
          </a:xfrm>
          <a:prstGeom prst="rect">
            <a:avLst/>
          </a:prstGeom>
          <a:noFill/>
        </p:spPr>
        <p:txBody>
          <a:bodyPr vert="horz" wrap="square" lIns="0" tIns="0" rIns="0" bIns="0" rtlCol="0" anchor="ctr">
            <a:noAutofit/>
          </a:bodyPr>
          <a:lstStyle/>
          <a:p>
            <a:pPr algn="ctr"/>
            <a:r>
              <a:rPr lang="en-US" sz="840" b="1">
                <a:solidFill>
                  <a:srgbClr val="3B82F6"/>
                </a:solidFill>
                <a:latin typeface="Aptos" panose="020B0004020202020204" pitchFamily="34" charset="0"/>
              </a:rPr>
              <a:t>-2.73 points vs centralized ceiling</a:t>
            </a:r>
          </a:p>
        </p:txBody>
      </p:sp>
      <p:sp>
        <p:nvSpPr>
          <p:cNvPr id="25" name="Rectangle: Rounded Corners 24">
            <a:extLst>
              <a:ext uri="{FF2B5EF4-FFF2-40B4-BE49-F238E27FC236}">
                <a16:creationId xmlns:a16="http://schemas.microsoft.com/office/drawing/2014/main" id="{708FE402-8A3F-71E0-D25C-4BB7D2E267EC}"/>
              </a:ext>
            </a:extLst>
          </p:cNvPr>
          <p:cNvSpPr/>
          <p:nvPr/>
        </p:nvSpPr>
        <p:spPr>
          <a:xfrm>
            <a:off x="6477000" y="1651000"/>
            <a:ext cx="2413000" cy="1473200"/>
          </a:xfrm>
          <a:prstGeom prst="roundRect">
            <a:avLst/>
          </a:prstGeom>
          <a:solidFill>
            <a:srgbClr val="14283D"/>
          </a:solidFill>
          <a:ln w="12700">
            <a:solidFill>
              <a:srgbClr val="2F4962"/>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26" name="TextBox 25">
            <a:extLst>
              <a:ext uri="{FF2B5EF4-FFF2-40B4-BE49-F238E27FC236}">
                <a16:creationId xmlns:a16="http://schemas.microsoft.com/office/drawing/2014/main" id="{576B2292-146D-94F2-3393-2F870A719F11}"/>
              </a:ext>
            </a:extLst>
          </p:cNvPr>
          <p:cNvSpPr txBox="1"/>
          <p:nvPr/>
        </p:nvSpPr>
        <p:spPr>
          <a:xfrm>
            <a:off x="6680200" y="1828800"/>
            <a:ext cx="2006600" cy="276999"/>
          </a:xfrm>
          <a:prstGeom prst="rect">
            <a:avLst/>
          </a:prstGeom>
          <a:noFill/>
        </p:spPr>
        <p:txBody>
          <a:bodyPr vert="horz" wrap="square" lIns="0" tIns="0" rIns="0" bIns="0" rtlCol="0" anchor="t">
            <a:noAutofit/>
          </a:bodyPr>
          <a:lstStyle/>
          <a:p>
            <a:r>
              <a:rPr lang="en-US" sz="2300" b="1">
                <a:solidFill>
                  <a:srgbClr val="10C58B"/>
                </a:solidFill>
                <a:latin typeface="Aptos" panose="020B0004020202020204" pitchFamily="34" charset="0"/>
              </a:rPr>
              <a:t>97.67%</a:t>
            </a:r>
          </a:p>
        </p:txBody>
      </p:sp>
      <p:sp>
        <p:nvSpPr>
          <p:cNvPr id="27" name="TextBox 26">
            <a:extLst>
              <a:ext uri="{FF2B5EF4-FFF2-40B4-BE49-F238E27FC236}">
                <a16:creationId xmlns:a16="http://schemas.microsoft.com/office/drawing/2014/main" id="{26DCC281-50C4-2DD1-2133-391A23DAB2C0}"/>
              </a:ext>
            </a:extLst>
          </p:cNvPr>
          <p:cNvSpPr txBox="1"/>
          <p:nvPr/>
        </p:nvSpPr>
        <p:spPr>
          <a:xfrm>
            <a:off x="6680200" y="2349500"/>
            <a:ext cx="2006600" cy="276999"/>
          </a:xfrm>
          <a:prstGeom prst="rect">
            <a:avLst/>
          </a:prstGeom>
          <a:noFill/>
        </p:spPr>
        <p:txBody>
          <a:bodyPr vert="horz" wrap="square" lIns="0" tIns="0" rIns="0" bIns="0" rtlCol="0" anchor="t">
            <a:noAutofit/>
          </a:bodyPr>
          <a:lstStyle/>
          <a:p>
            <a:r>
              <a:rPr lang="en-US" sz="880" b="1">
                <a:solidFill>
                  <a:srgbClr val="F8FAFC"/>
                </a:solidFill>
                <a:latin typeface="Aptos" panose="020B0004020202020204" pitchFamily="34" charset="0"/>
              </a:rPr>
              <a:t>ATTACK RECALL</a:t>
            </a:r>
          </a:p>
        </p:txBody>
      </p:sp>
      <p:sp>
        <p:nvSpPr>
          <p:cNvPr id="28" name="TextBox 27">
            <a:extLst>
              <a:ext uri="{FF2B5EF4-FFF2-40B4-BE49-F238E27FC236}">
                <a16:creationId xmlns:a16="http://schemas.microsoft.com/office/drawing/2014/main" id="{E40EA4CE-B10D-B016-5F86-C630D922E40A}"/>
              </a:ext>
            </a:extLst>
          </p:cNvPr>
          <p:cNvSpPr txBox="1"/>
          <p:nvPr/>
        </p:nvSpPr>
        <p:spPr>
          <a:xfrm>
            <a:off x="6680200" y="2641600"/>
            <a:ext cx="2006600" cy="276999"/>
          </a:xfrm>
          <a:prstGeom prst="rect">
            <a:avLst/>
          </a:prstGeom>
          <a:noFill/>
        </p:spPr>
        <p:txBody>
          <a:bodyPr vert="horz" wrap="square" lIns="0" tIns="0" rIns="0" bIns="0" rtlCol="0" anchor="t">
            <a:noAutofit/>
          </a:bodyPr>
          <a:lstStyle/>
          <a:p>
            <a:r>
              <a:rPr lang="en-US" sz="850">
                <a:solidFill>
                  <a:srgbClr val="A4B4C7"/>
                </a:solidFill>
                <a:latin typeface="Aptos" panose="020B0004020202020204" pitchFamily="34" charset="0"/>
              </a:rPr>
              <a:t>97.80% precision</a:t>
            </a:r>
          </a:p>
        </p:txBody>
      </p:sp>
      <p:sp>
        <p:nvSpPr>
          <p:cNvPr id="29" name="Rectangle: Rounded Corners 28">
            <a:extLst>
              <a:ext uri="{FF2B5EF4-FFF2-40B4-BE49-F238E27FC236}">
                <a16:creationId xmlns:a16="http://schemas.microsoft.com/office/drawing/2014/main" id="{10698C24-2595-F773-59AA-F71C3D880F9C}"/>
              </a:ext>
            </a:extLst>
          </p:cNvPr>
          <p:cNvSpPr/>
          <p:nvPr/>
        </p:nvSpPr>
        <p:spPr>
          <a:xfrm>
            <a:off x="9093200" y="1651000"/>
            <a:ext cx="2540000" cy="1473200"/>
          </a:xfrm>
          <a:prstGeom prst="roundRect">
            <a:avLst/>
          </a:prstGeom>
          <a:solidFill>
            <a:srgbClr val="14283D"/>
          </a:solidFill>
          <a:ln w="12700">
            <a:solidFill>
              <a:srgbClr val="2F4962"/>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30" name="TextBox 29">
            <a:extLst>
              <a:ext uri="{FF2B5EF4-FFF2-40B4-BE49-F238E27FC236}">
                <a16:creationId xmlns:a16="http://schemas.microsoft.com/office/drawing/2014/main" id="{6EB8C1F3-06D4-83FD-2CB4-85B62CA3D752}"/>
              </a:ext>
            </a:extLst>
          </p:cNvPr>
          <p:cNvSpPr txBox="1"/>
          <p:nvPr/>
        </p:nvSpPr>
        <p:spPr>
          <a:xfrm>
            <a:off x="9296400" y="1828800"/>
            <a:ext cx="2133600" cy="276999"/>
          </a:xfrm>
          <a:prstGeom prst="rect">
            <a:avLst/>
          </a:prstGeom>
          <a:noFill/>
        </p:spPr>
        <p:txBody>
          <a:bodyPr vert="horz" wrap="square" lIns="0" tIns="0" rIns="0" bIns="0" rtlCol="0" anchor="t">
            <a:noAutofit/>
          </a:bodyPr>
          <a:lstStyle/>
          <a:p>
            <a:r>
              <a:rPr lang="en-US" sz="2300" b="1">
                <a:solidFill>
                  <a:srgbClr val="F59E0B"/>
                </a:solidFill>
                <a:latin typeface="Aptos" panose="020B0004020202020204" pitchFamily="34" charset="0"/>
              </a:rPr>
              <a:t>7.49%</a:t>
            </a:r>
          </a:p>
        </p:txBody>
      </p:sp>
      <p:sp>
        <p:nvSpPr>
          <p:cNvPr id="31" name="TextBox 30">
            <a:extLst>
              <a:ext uri="{FF2B5EF4-FFF2-40B4-BE49-F238E27FC236}">
                <a16:creationId xmlns:a16="http://schemas.microsoft.com/office/drawing/2014/main" id="{CDE029A4-0DD5-74DD-730A-AD6CAF9DC8EF}"/>
              </a:ext>
            </a:extLst>
          </p:cNvPr>
          <p:cNvSpPr txBox="1"/>
          <p:nvPr/>
        </p:nvSpPr>
        <p:spPr>
          <a:xfrm>
            <a:off x="9296400" y="2349500"/>
            <a:ext cx="2133600" cy="276999"/>
          </a:xfrm>
          <a:prstGeom prst="rect">
            <a:avLst/>
          </a:prstGeom>
          <a:noFill/>
        </p:spPr>
        <p:txBody>
          <a:bodyPr vert="horz" wrap="square" lIns="0" tIns="0" rIns="0" bIns="0" rtlCol="0" anchor="t">
            <a:noAutofit/>
          </a:bodyPr>
          <a:lstStyle/>
          <a:p>
            <a:r>
              <a:rPr lang="en-US" sz="880" b="1">
                <a:solidFill>
                  <a:srgbClr val="F8FAFC"/>
                </a:solidFill>
                <a:latin typeface="Aptos" panose="020B0004020202020204" pitchFamily="34" charset="0"/>
              </a:rPr>
              <a:t>FALSE-POSITIVE RATE</a:t>
            </a:r>
          </a:p>
        </p:txBody>
      </p:sp>
      <p:sp>
        <p:nvSpPr>
          <p:cNvPr id="32" name="TextBox 31">
            <a:extLst>
              <a:ext uri="{FF2B5EF4-FFF2-40B4-BE49-F238E27FC236}">
                <a16:creationId xmlns:a16="http://schemas.microsoft.com/office/drawing/2014/main" id="{CBC4795A-DC4B-9947-294F-0737B81E7148}"/>
              </a:ext>
            </a:extLst>
          </p:cNvPr>
          <p:cNvSpPr txBox="1"/>
          <p:nvPr/>
        </p:nvSpPr>
        <p:spPr>
          <a:xfrm>
            <a:off x="9296400" y="2641600"/>
            <a:ext cx="2133600" cy="276999"/>
          </a:xfrm>
          <a:prstGeom prst="rect">
            <a:avLst/>
          </a:prstGeom>
          <a:noFill/>
        </p:spPr>
        <p:txBody>
          <a:bodyPr vert="horz" wrap="square" lIns="0" tIns="0" rIns="0" bIns="0" rtlCol="0" anchor="t">
            <a:noAutofit/>
          </a:bodyPr>
          <a:lstStyle/>
          <a:p>
            <a:r>
              <a:rPr lang="en-US" sz="850">
                <a:solidFill>
                  <a:srgbClr val="A4B4C7"/>
                </a:solidFill>
                <a:latin typeface="Aptos" panose="020B0004020202020204" pitchFamily="34" charset="0"/>
              </a:rPr>
              <a:t>Reported - not hidden</a:t>
            </a:r>
          </a:p>
        </p:txBody>
      </p:sp>
      <p:sp>
        <p:nvSpPr>
          <p:cNvPr id="33" name="Rectangle: Rounded Corners 32">
            <a:extLst>
              <a:ext uri="{FF2B5EF4-FFF2-40B4-BE49-F238E27FC236}">
                <a16:creationId xmlns:a16="http://schemas.microsoft.com/office/drawing/2014/main" id="{F003B9B7-8F68-A230-52F2-38932F689942}"/>
              </a:ext>
            </a:extLst>
          </p:cNvPr>
          <p:cNvSpPr/>
          <p:nvPr/>
        </p:nvSpPr>
        <p:spPr>
          <a:xfrm>
            <a:off x="6477000" y="3327400"/>
            <a:ext cx="2413000" cy="1473200"/>
          </a:xfrm>
          <a:prstGeom prst="roundRect">
            <a:avLst/>
          </a:prstGeom>
          <a:solidFill>
            <a:srgbClr val="14283D"/>
          </a:solidFill>
          <a:ln w="12700">
            <a:solidFill>
              <a:srgbClr val="2F4962"/>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34" name="TextBox 33">
            <a:extLst>
              <a:ext uri="{FF2B5EF4-FFF2-40B4-BE49-F238E27FC236}">
                <a16:creationId xmlns:a16="http://schemas.microsoft.com/office/drawing/2014/main" id="{F109456A-C134-AA1C-CE37-171FC7C2B960}"/>
              </a:ext>
            </a:extLst>
          </p:cNvPr>
          <p:cNvSpPr txBox="1"/>
          <p:nvPr/>
        </p:nvSpPr>
        <p:spPr>
          <a:xfrm>
            <a:off x="6680200" y="3505200"/>
            <a:ext cx="2006600" cy="276999"/>
          </a:xfrm>
          <a:prstGeom prst="rect">
            <a:avLst/>
          </a:prstGeom>
          <a:noFill/>
        </p:spPr>
        <p:txBody>
          <a:bodyPr vert="horz" wrap="square" lIns="0" tIns="0" rIns="0" bIns="0" rtlCol="0" anchor="t">
            <a:noAutofit/>
          </a:bodyPr>
          <a:lstStyle/>
          <a:p>
            <a:r>
              <a:rPr lang="en-US" sz="2300" b="1">
                <a:solidFill>
                  <a:srgbClr val="3B82F6"/>
                </a:solidFill>
                <a:latin typeface="Aptos" panose="020B0004020202020204" pitchFamily="34" charset="0"/>
              </a:rPr>
              <a:t>0.0</a:t>
            </a:r>
          </a:p>
        </p:txBody>
      </p:sp>
      <p:sp>
        <p:nvSpPr>
          <p:cNvPr id="35" name="TextBox 34">
            <a:extLst>
              <a:ext uri="{FF2B5EF4-FFF2-40B4-BE49-F238E27FC236}">
                <a16:creationId xmlns:a16="http://schemas.microsoft.com/office/drawing/2014/main" id="{597DCB5C-4E0B-C6D5-6FD5-42EF3CA408B6}"/>
              </a:ext>
            </a:extLst>
          </p:cNvPr>
          <p:cNvSpPr txBox="1"/>
          <p:nvPr/>
        </p:nvSpPr>
        <p:spPr>
          <a:xfrm>
            <a:off x="6680200" y="4025900"/>
            <a:ext cx="2006600" cy="276999"/>
          </a:xfrm>
          <a:prstGeom prst="rect">
            <a:avLst/>
          </a:prstGeom>
          <a:noFill/>
        </p:spPr>
        <p:txBody>
          <a:bodyPr vert="horz" wrap="square" lIns="0" tIns="0" rIns="0" bIns="0" rtlCol="0" anchor="t">
            <a:noAutofit/>
          </a:bodyPr>
          <a:lstStyle/>
          <a:p>
            <a:r>
              <a:rPr lang="en-US" sz="880" b="1">
                <a:solidFill>
                  <a:srgbClr val="F8FAFC"/>
                </a:solidFill>
                <a:latin typeface="Aptos" panose="020B0004020202020204" pitchFamily="34" charset="0"/>
              </a:rPr>
              <a:t>AGGREGATION DIFFERENCE</a:t>
            </a:r>
          </a:p>
        </p:txBody>
      </p:sp>
      <p:sp>
        <p:nvSpPr>
          <p:cNvPr id="36" name="TextBox 35">
            <a:extLst>
              <a:ext uri="{FF2B5EF4-FFF2-40B4-BE49-F238E27FC236}">
                <a16:creationId xmlns:a16="http://schemas.microsoft.com/office/drawing/2014/main" id="{D67BE58A-20E1-019B-BB1F-EF4898B9B60E}"/>
              </a:ext>
            </a:extLst>
          </p:cNvPr>
          <p:cNvSpPr txBox="1"/>
          <p:nvPr/>
        </p:nvSpPr>
        <p:spPr>
          <a:xfrm>
            <a:off x="6680200" y="4318000"/>
            <a:ext cx="2006600" cy="276999"/>
          </a:xfrm>
          <a:prstGeom prst="rect">
            <a:avLst/>
          </a:prstGeom>
          <a:noFill/>
        </p:spPr>
        <p:txBody>
          <a:bodyPr vert="horz" wrap="square" lIns="0" tIns="0" rIns="0" bIns="0" rtlCol="0" anchor="t">
            <a:noAutofit/>
          </a:bodyPr>
          <a:lstStyle/>
          <a:p>
            <a:r>
              <a:rPr lang="en-US" sz="850">
                <a:solidFill>
                  <a:srgbClr val="A4B4C7"/>
                </a:solidFill>
                <a:latin typeface="Aptos" panose="020B0004020202020204" pitchFamily="34" charset="0"/>
              </a:rPr>
              <a:t>secure vs plain | tol. 1e-7</a:t>
            </a:r>
          </a:p>
        </p:txBody>
      </p:sp>
      <p:sp>
        <p:nvSpPr>
          <p:cNvPr id="37" name="Rectangle: Rounded Corners 36">
            <a:extLst>
              <a:ext uri="{FF2B5EF4-FFF2-40B4-BE49-F238E27FC236}">
                <a16:creationId xmlns:a16="http://schemas.microsoft.com/office/drawing/2014/main" id="{272F214A-EC1F-D9B4-9EC7-A51FDD18C4F2}"/>
              </a:ext>
            </a:extLst>
          </p:cNvPr>
          <p:cNvSpPr/>
          <p:nvPr/>
        </p:nvSpPr>
        <p:spPr>
          <a:xfrm>
            <a:off x="9093200" y="3327400"/>
            <a:ext cx="2540000" cy="1473200"/>
          </a:xfrm>
          <a:prstGeom prst="roundRect">
            <a:avLst/>
          </a:prstGeom>
          <a:solidFill>
            <a:srgbClr val="14283D"/>
          </a:solidFill>
          <a:ln w="12700">
            <a:solidFill>
              <a:srgbClr val="2F4962"/>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38" name="TextBox 37">
            <a:extLst>
              <a:ext uri="{FF2B5EF4-FFF2-40B4-BE49-F238E27FC236}">
                <a16:creationId xmlns:a16="http://schemas.microsoft.com/office/drawing/2014/main" id="{3CF29A56-C8BB-D763-2420-35319ECE68C7}"/>
              </a:ext>
            </a:extLst>
          </p:cNvPr>
          <p:cNvSpPr txBox="1"/>
          <p:nvPr/>
        </p:nvSpPr>
        <p:spPr>
          <a:xfrm>
            <a:off x="9296400" y="3505200"/>
            <a:ext cx="2133600" cy="276999"/>
          </a:xfrm>
          <a:prstGeom prst="rect">
            <a:avLst/>
          </a:prstGeom>
          <a:noFill/>
        </p:spPr>
        <p:txBody>
          <a:bodyPr vert="horz" wrap="square" lIns="0" tIns="0" rIns="0" bIns="0" rtlCol="0" anchor="t">
            <a:noAutofit/>
          </a:bodyPr>
          <a:lstStyle/>
          <a:p>
            <a:r>
              <a:rPr lang="en-US" sz="2300" b="1">
                <a:solidFill>
                  <a:srgbClr val="F87171"/>
                </a:solidFill>
                <a:latin typeface="Aptos" panose="020B0004020202020204" pitchFamily="34" charset="0"/>
              </a:rPr>
              <a:t>12</a:t>
            </a:r>
          </a:p>
        </p:txBody>
      </p:sp>
      <p:sp>
        <p:nvSpPr>
          <p:cNvPr id="39" name="TextBox 38">
            <a:extLst>
              <a:ext uri="{FF2B5EF4-FFF2-40B4-BE49-F238E27FC236}">
                <a16:creationId xmlns:a16="http://schemas.microsoft.com/office/drawing/2014/main" id="{A5D72F3F-6DFD-65CE-199D-0211EB3C1AD0}"/>
              </a:ext>
            </a:extLst>
          </p:cNvPr>
          <p:cNvSpPr txBox="1"/>
          <p:nvPr/>
        </p:nvSpPr>
        <p:spPr>
          <a:xfrm>
            <a:off x="9296400" y="4025900"/>
            <a:ext cx="2133600" cy="276999"/>
          </a:xfrm>
          <a:prstGeom prst="rect">
            <a:avLst/>
          </a:prstGeom>
          <a:noFill/>
        </p:spPr>
        <p:txBody>
          <a:bodyPr vert="horz" wrap="square" lIns="0" tIns="0" rIns="0" bIns="0" rtlCol="0" anchor="t">
            <a:noAutofit/>
          </a:bodyPr>
          <a:lstStyle/>
          <a:p>
            <a:r>
              <a:rPr lang="en-US" sz="880" b="1">
                <a:solidFill>
                  <a:srgbClr val="F8FAFC"/>
                </a:solidFill>
                <a:latin typeface="Aptos" panose="020B0004020202020204" pitchFamily="34" charset="0"/>
              </a:rPr>
              <a:t>INVALID MESSAGES REJECTED</a:t>
            </a:r>
          </a:p>
        </p:txBody>
      </p:sp>
      <p:sp>
        <p:nvSpPr>
          <p:cNvPr id="40" name="TextBox 39">
            <a:extLst>
              <a:ext uri="{FF2B5EF4-FFF2-40B4-BE49-F238E27FC236}">
                <a16:creationId xmlns:a16="http://schemas.microsoft.com/office/drawing/2014/main" id="{C0CD4A91-BA80-2EC7-3763-8A2528B36737}"/>
              </a:ext>
            </a:extLst>
          </p:cNvPr>
          <p:cNvSpPr txBox="1"/>
          <p:nvPr/>
        </p:nvSpPr>
        <p:spPr>
          <a:xfrm>
            <a:off x="9296400" y="4318000"/>
            <a:ext cx="2133600" cy="276999"/>
          </a:xfrm>
          <a:prstGeom prst="rect">
            <a:avLst/>
          </a:prstGeom>
          <a:noFill/>
        </p:spPr>
        <p:txBody>
          <a:bodyPr vert="horz" wrap="square" lIns="0" tIns="0" rIns="0" bIns="0" rtlCol="0" anchor="t">
            <a:noAutofit/>
          </a:bodyPr>
          <a:lstStyle/>
          <a:p>
            <a:r>
              <a:rPr lang="en-US" sz="850">
                <a:solidFill>
                  <a:srgbClr val="A4B4C7"/>
                </a:solidFill>
                <a:latin typeface="Aptos" panose="020B0004020202020204" pitchFamily="34" charset="0"/>
              </a:rPr>
              <a:t>0 changed aggregation</a:t>
            </a:r>
          </a:p>
        </p:txBody>
      </p:sp>
      <p:sp>
        <p:nvSpPr>
          <p:cNvPr id="41" name="Rectangle: Rounded Corners 40">
            <a:extLst>
              <a:ext uri="{FF2B5EF4-FFF2-40B4-BE49-F238E27FC236}">
                <a16:creationId xmlns:a16="http://schemas.microsoft.com/office/drawing/2014/main" id="{25C1C966-CA66-7AAC-3B5E-3BDBB7A4C96E}"/>
              </a:ext>
            </a:extLst>
          </p:cNvPr>
          <p:cNvSpPr/>
          <p:nvPr/>
        </p:nvSpPr>
        <p:spPr>
          <a:xfrm>
            <a:off x="6477000" y="5003800"/>
            <a:ext cx="5156200" cy="571500"/>
          </a:xfrm>
          <a:prstGeom prst="roundRect">
            <a:avLst/>
          </a:prstGeom>
          <a:solidFill>
            <a:srgbClr val="0D1E31"/>
          </a:solidFill>
          <a:ln w="12700">
            <a:solidFill>
              <a:srgbClr val="10C58B"/>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42" name="TextBox 41">
            <a:extLst>
              <a:ext uri="{FF2B5EF4-FFF2-40B4-BE49-F238E27FC236}">
                <a16:creationId xmlns:a16="http://schemas.microsoft.com/office/drawing/2014/main" id="{08A2B913-A6BA-F399-2757-E41AA44E8906}"/>
              </a:ext>
            </a:extLst>
          </p:cNvPr>
          <p:cNvSpPr txBox="1"/>
          <p:nvPr/>
        </p:nvSpPr>
        <p:spPr>
          <a:xfrm>
            <a:off x="6680200" y="5143500"/>
            <a:ext cx="2209800" cy="276999"/>
          </a:xfrm>
          <a:prstGeom prst="rect">
            <a:avLst/>
          </a:prstGeom>
          <a:noFill/>
        </p:spPr>
        <p:txBody>
          <a:bodyPr vert="horz" wrap="square" lIns="0" tIns="0" rIns="0" bIns="0" rtlCol="0" anchor="t">
            <a:noAutofit/>
          </a:bodyPr>
          <a:lstStyle/>
          <a:p>
            <a:r>
              <a:rPr lang="en-US" sz="1000" b="1">
                <a:solidFill>
                  <a:srgbClr val="F8FAFC"/>
                </a:solidFill>
                <a:latin typeface="Aptos" panose="020B0004020202020204" pitchFamily="34" charset="0"/>
              </a:rPr>
              <a:t>53,949 locked-test flows</a:t>
            </a:r>
          </a:p>
        </p:txBody>
      </p:sp>
      <p:sp>
        <p:nvSpPr>
          <p:cNvPr id="43" name="TextBox 42">
            <a:extLst>
              <a:ext uri="{FF2B5EF4-FFF2-40B4-BE49-F238E27FC236}">
                <a16:creationId xmlns:a16="http://schemas.microsoft.com/office/drawing/2014/main" id="{6F1BD725-D5ED-446E-94E0-30BC65E46C3E}"/>
              </a:ext>
            </a:extLst>
          </p:cNvPr>
          <p:cNvSpPr txBox="1"/>
          <p:nvPr/>
        </p:nvSpPr>
        <p:spPr>
          <a:xfrm>
            <a:off x="8890000" y="5143500"/>
            <a:ext cx="2514600" cy="276999"/>
          </a:xfrm>
          <a:prstGeom prst="rect">
            <a:avLst/>
          </a:prstGeom>
          <a:noFill/>
        </p:spPr>
        <p:txBody>
          <a:bodyPr vert="horz" wrap="square" lIns="0" tIns="0" rIns="0" bIns="0" rtlCol="0" anchor="t">
            <a:noAutofit/>
          </a:bodyPr>
          <a:lstStyle/>
          <a:p>
            <a:r>
              <a:rPr lang="en-US" sz="930">
                <a:solidFill>
                  <a:srgbClr val="A4B4C7"/>
                </a:solidFill>
                <a:latin typeface="Aptos" panose="020B0004020202020204" pitchFamily="34" charset="0"/>
              </a:rPr>
              <a:t>|  all 5 clients completed 3 secure demo rounds</a:t>
            </a:r>
          </a:p>
        </p:txBody>
      </p:sp>
      <p:sp>
        <p:nvSpPr>
          <p:cNvPr id="44" name="TextBox 43">
            <a:extLst>
              <a:ext uri="{FF2B5EF4-FFF2-40B4-BE49-F238E27FC236}">
                <a16:creationId xmlns:a16="http://schemas.microsoft.com/office/drawing/2014/main" id="{4183DEA9-7520-8D1C-719F-D7B9360CDF11}"/>
              </a:ext>
            </a:extLst>
          </p:cNvPr>
          <p:cNvSpPr txBox="1"/>
          <p:nvPr/>
        </p:nvSpPr>
        <p:spPr>
          <a:xfrm>
            <a:off x="609600" y="5880100"/>
            <a:ext cx="11023600" cy="276999"/>
          </a:xfrm>
          <a:prstGeom prst="rect">
            <a:avLst/>
          </a:prstGeom>
          <a:noFill/>
        </p:spPr>
        <p:txBody>
          <a:bodyPr vert="horz" wrap="square" lIns="0" tIns="0" rIns="0" bIns="0" rtlCol="0" anchor="t">
            <a:noAutofit/>
          </a:bodyPr>
          <a:lstStyle/>
          <a:p>
            <a:pPr algn="ctr"/>
            <a:r>
              <a:rPr lang="en-US" sz="1200" b="1">
                <a:solidFill>
                  <a:srgbClr val="F8FAFC"/>
                </a:solidFill>
                <a:latin typeface="Aptos" panose="020B0004020202020204" pitchFamily="34" charset="0"/>
              </a:rPr>
              <a:t>Federation helped versus isolated learning, while centralized pooling remained the accuracy upper baseline.</a:t>
            </a:r>
          </a:p>
        </p:txBody>
      </p:sp>
      <p:sp>
        <p:nvSpPr>
          <p:cNvPr id="45" name="TextBox 44">
            <a:extLst>
              <a:ext uri="{FF2B5EF4-FFF2-40B4-BE49-F238E27FC236}">
                <a16:creationId xmlns:a16="http://schemas.microsoft.com/office/drawing/2014/main" id="{70542B3B-A5E3-135D-9204-7B2D0387567C}"/>
              </a:ext>
            </a:extLst>
          </p:cNvPr>
          <p:cNvSpPr txBox="1"/>
          <p:nvPr/>
        </p:nvSpPr>
        <p:spPr>
          <a:xfrm>
            <a:off x="609600" y="6273800"/>
            <a:ext cx="11023600" cy="276999"/>
          </a:xfrm>
          <a:prstGeom prst="rect">
            <a:avLst/>
          </a:prstGeom>
          <a:noFill/>
        </p:spPr>
        <p:txBody>
          <a:bodyPr vert="horz" wrap="square" lIns="0" tIns="0" rIns="0" bIns="0" rtlCol="0" anchor="t">
            <a:noAutofit/>
          </a:bodyPr>
          <a:lstStyle/>
          <a:p>
            <a:pPr algn="ctr"/>
            <a:r>
              <a:rPr lang="en-US" sz="730">
                <a:solidFill>
                  <a:srgbClr val="778CA3"/>
                </a:solidFill>
                <a:latin typeface="Aptos" panose="020B0004020202020204" pitchFamily="34" charset="0"/>
              </a:rPr>
              <a:t>Source: locked UAVIDS model evaluation and verified secure-demo artifacts. Host-specific timing is not used as a general performance claim.</a:t>
            </a:r>
          </a:p>
        </p:txBody>
      </p:sp>
    </p:spTree>
    <p:extLst>
      <p:ext uri="{BB962C8B-B14F-4D97-AF65-F5344CB8AC3E}">
        <p14:creationId xmlns:p14="http://schemas.microsoft.com/office/powerpoint/2010/main" val="2373550020"/>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bg>
      <p:bgPr>
        <a:solidFill>
          <a:srgbClr val="081422"/>
        </a:solidFill>
        <a:effectLst/>
      </p:bgPr>
    </p:bg>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6D7F786B-78E0-78FA-9536-11429A1C46B7}"/>
              </a:ext>
            </a:extLst>
          </p:cNvPr>
          <p:cNvSpPr txBox="1"/>
          <p:nvPr/>
        </p:nvSpPr>
        <p:spPr>
          <a:xfrm>
            <a:off x="558800" y="304800"/>
            <a:ext cx="4445000" cy="276999"/>
          </a:xfrm>
          <a:prstGeom prst="rect">
            <a:avLst/>
          </a:prstGeom>
          <a:noFill/>
        </p:spPr>
        <p:txBody>
          <a:bodyPr vert="horz" wrap="square" lIns="0" tIns="0" rIns="0" bIns="0" rtlCol="0" anchor="t">
            <a:noAutofit/>
          </a:bodyPr>
          <a:lstStyle/>
          <a:p>
            <a:r>
              <a:rPr lang="en-US" sz="1000" b="1">
                <a:solidFill>
                  <a:srgbClr val="10C58B"/>
                </a:solidFill>
                <a:latin typeface="Aptos" panose="020B0004020202020204" pitchFamily="34" charset="0"/>
              </a:rPr>
              <a:t>LIVE DEMONSTRATION</a:t>
            </a:r>
          </a:p>
        </p:txBody>
      </p:sp>
      <p:sp>
        <p:nvSpPr>
          <p:cNvPr id="3" name="TextBox 2">
            <a:extLst>
              <a:ext uri="{FF2B5EF4-FFF2-40B4-BE49-F238E27FC236}">
                <a16:creationId xmlns:a16="http://schemas.microsoft.com/office/drawing/2014/main" id="{4896E444-871C-2881-F210-C0EF6EB24181}"/>
              </a:ext>
            </a:extLst>
          </p:cNvPr>
          <p:cNvSpPr txBox="1"/>
          <p:nvPr/>
        </p:nvSpPr>
        <p:spPr>
          <a:xfrm>
            <a:off x="558800" y="571500"/>
            <a:ext cx="9906000" cy="276999"/>
          </a:xfrm>
          <a:prstGeom prst="rect">
            <a:avLst/>
          </a:prstGeom>
          <a:noFill/>
        </p:spPr>
        <p:txBody>
          <a:bodyPr vert="horz" wrap="square" lIns="0" tIns="0" rIns="0" bIns="0" rtlCol="0" anchor="t">
            <a:noAutofit/>
          </a:bodyPr>
          <a:lstStyle/>
          <a:p>
            <a:r>
              <a:rPr lang="en-US" sz="2800" b="1">
                <a:solidFill>
                  <a:srgbClr val="F8FAFC"/>
                </a:solidFill>
                <a:latin typeface="Aptos Display" panose="020B0004020202020204" pitchFamily="34" charset="0"/>
              </a:rPr>
              <a:t>From traffic pattern to security event</a:t>
            </a:r>
          </a:p>
        </p:txBody>
      </p:sp>
      <p:sp>
        <p:nvSpPr>
          <p:cNvPr id="4" name="TextBox 3">
            <a:extLst>
              <a:ext uri="{FF2B5EF4-FFF2-40B4-BE49-F238E27FC236}">
                <a16:creationId xmlns:a16="http://schemas.microsoft.com/office/drawing/2014/main" id="{6DF67C29-40E8-ACBD-45CA-55678CD2C264}"/>
              </a:ext>
            </a:extLst>
          </p:cNvPr>
          <p:cNvSpPr txBox="1"/>
          <p:nvPr/>
        </p:nvSpPr>
        <p:spPr>
          <a:xfrm>
            <a:off x="10998200" y="355600"/>
            <a:ext cx="635000" cy="276999"/>
          </a:xfrm>
          <a:prstGeom prst="rect">
            <a:avLst/>
          </a:prstGeom>
          <a:noFill/>
        </p:spPr>
        <p:txBody>
          <a:bodyPr vert="horz" wrap="square" lIns="0" tIns="0" rIns="0" bIns="0" rtlCol="0" anchor="t">
            <a:noAutofit/>
          </a:bodyPr>
          <a:lstStyle/>
          <a:p>
            <a:pPr algn="r"/>
            <a:r>
              <a:rPr lang="en-US" sz="1000" b="1">
                <a:solidFill>
                  <a:srgbClr val="778CA3"/>
                </a:solidFill>
                <a:latin typeface="Aptos" panose="020B0004020202020204" pitchFamily="34" charset="0"/>
              </a:rPr>
              <a:t>05</a:t>
            </a:r>
          </a:p>
        </p:txBody>
      </p:sp>
      <p:cxnSp>
        <p:nvCxnSpPr>
          <p:cNvPr id="5" name="Straight Connector 4">
            <a:extLst>
              <a:ext uri="{FF2B5EF4-FFF2-40B4-BE49-F238E27FC236}">
                <a16:creationId xmlns:a16="http://schemas.microsoft.com/office/drawing/2014/main" id="{A28EED6A-757C-32C9-A99A-A8E0488CA8A3}"/>
              </a:ext>
            </a:extLst>
          </p:cNvPr>
          <p:cNvCxnSpPr/>
          <p:nvPr/>
        </p:nvCxnSpPr>
        <p:spPr>
          <a:xfrm>
            <a:off x="558800" y="1193800"/>
            <a:ext cx="11074400" cy="0"/>
          </a:xfrm>
          <a:prstGeom prst="line">
            <a:avLst/>
          </a:prstGeom>
          <a:ln w="12700" cap="flat" cmpd="sng" algn="ctr">
            <a:solidFill>
              <a:srgbClr val="2F4962">
                <a:alpha val="80000"/>
              </a:srgbClr>
            </a:solidFill>
            <a:prstDash val="solid"/>
            <a:round/>
            <a:headEnd type="none" w="med" len="med"/>
            <a:tailEnd type="none" w="med" len="med"/>
          </a:ln>
        </p:spPr>
        <p:style>
          <a:lnRef idx="2">
            <a:schemeClr val="accent1"/>
          </a:lnRef>
          <a:fillRef idx="0">
            <a:schemeClr val="accent1"/>
          </a:fillRef>
          <a:effectRef idx="1">
            <a:schemeClr val="accent1"/>
          </a:effectRef>
          <a:fontRef idx="minor">
            <a:schemeClr val="tx1"/>
          </a:fontRef>
        </p:style>
      </p:cxnSp>
      <p:sp>
        <p:nvSpPr>
          <p:cNvPr id="6" name="TextBox 5">
            <a:extLst>
              <a:ext uri="{FF2B5EF4-FFF2-40B4-BE49-F238E27FC236}">
                <a16:creationId xmlns:a16="http://schemas.microsoft.com/office/drawing/2014/main" id="{AA004BC4-C9EA-B259-9870-154D1B87E6AB}"/>
              </a:ext>
            </a:extLst>
          </p:cNvPr>
          <p:cNvSpPr txBox="1"/>
          <p:nvPr/>
        </p:nvSpPr>
        <p:spPr>
          <a:xfrm>
            <a:off x="558800" y="6553200"/>
            <a:ext cx="5334000" cy="276999"/>
          </a:xfrm>
          <a:prstGeom prst="rect">
            <a:avLst/>
          </a:prstGeom>
          <a:noFill/>
        </p:spPr>
        <p:txBody>
          <a:bodyPr vert="horz" wrap="square" lIns="0" tIns="0" rIns="0" bIns="0" rtlCol="0" anchor="t">
            <a:noAutofit/>
          </a:bodyPr>
          <a:lstStyle/>
          <a:p>
            <a:r>
              <a:rPr lang="en-US" sz="850">
                <a:solidFill>
                  <a:srgbClr val="778CA3"/>
                </a:solidFill>
                <a:latin typeface="Aptos" panose="020B0004020202020204" pitchFamily="34" charset="0"/>
              </a:rPr>
              <a:t>KAUST Academy  |  Cybersecurity Specialization</a:t>
            </a:r>
          </a:p>
        </p:txBody>
      </p:sp>
      <p:sp>
        <p:nvSpPr>
          <p:cNvPr id="7" name="TextBox 6">
            <a:extLst>
              <a:ext uri="{FF2B5EF4-FFF2-40B4-BE49-F238E27FC236}">
                <a16:creationId xmlns:a16="http://schemas.microsoft.com/office/drawing/2014/main" id="{BB507D27-9C36-1C03-331C-3C2889E50B3F}"/>
              </a:ext>
            </a:extLst>
          </p:cNvPr>
          <p:cNvSpPr txBox="1"/>
          <p:nvPr/>
        </p:nvSpPr>
        <p:spPr>
          <a:xfrm>
            <a:off x="558800" y="1422400"/>
            <a:ext cx="8128000" cy="276999"/>
          </a:xfrm>
          <a:prstGeom prst="rect">
            <a:avLst/>
          </a:prstGeom>
          <a:noFill/>
        </p:spPr>
        <p:txBody>
          <a:bodyPr vert="horz" wrap="square" lIns="0" tIns="0" rIns="0" bIns="0" rtlCol="0" anchor="t">
            <a:noAutofit/>
          </a:bodyPr>
          <a:lstStyle/>
          <a:p>
            <a:r>
              <a:rPr lang="en-US" sz="1200">
                <a:solidFill>
                  <a:srgbClr val="A4B4C7"/>
                </a:solidFill>
                <a:latin typeface="Aptos" panose="020B0004020202020204" pitchFamily="34" charset="0"/>
              </a:rPr>
              <a:t>Watch the same frozen model respond as the traffic profile changes.</a:t>
            </a:r>
          </a:p>
        </p:txBody>
      </p:sp>
      <p:sp>
        <p:nvSpPr>
          <p:cNvPr id="8" name="Rectangle: Rounded Corners 7">
            <a:extLst>
              <a:ext uri="{FF2B5EF4-FFF2-40B4-BE49-F238E27FC236}">
                <a16:creationId xmlns:a16="http://schemas.microsoft.com/office/drawing/2014/main" id="{B2E983A0-2DEC-D027-FDFE-23D44B2F5F7A}"/>
              </a:ext>
            </a:extLst>
          </p:cNvPr>
          <p:cNvSpPr/>
          <p:nvPr/>
        </p:nvSpPr>
        <p:spPr>
          <a:xfrm>
            <a:off x="558800" y="1955800"/>
            <a:ext cx="3124200" cy="1879600"/>
          </a:xfrm>
          <a:prstGeom prst="roundRect">
            <a:avLst/>
          </a:prstGeom>
          <a:solidFill>
            <a:srgbClr val="14283D"/>
          </a:solidFill>
          <a:ln w="12700">
            <a:solidFill>
              <a:srgbClr val="2F4962"/>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9" name="Oval 8">
            <a:extLst>
              <a:ext uri="{FF2B5EF4-FFF2-40B4-BE49-F238E27FC236}">
                <a16:creationId xmlns:a16="http://schemas.microsoft.com/office/drawing/2014/main" id="{5F35B584-681F-D910-0AD0-91007ABEFC5F}"/>
              </a:ext>
            </a:extLst>
          </p:cNvPr>
          <p:cNvSpPr/>
          <p:nvPr/>
        </p:nvSpPr>
        <p:spPr>
          <a:xfrm>
            <a:off x="787400" y="2184400"/>
            <a:ext cx="355600" cy="355600"/>
          </a:xfrm>
          <a:prstGeom prst="ellipse">
            <a:avLst/>
          </a:prstGeom>
          <a:solidFill>
            <a:srgbClr val="0D1E31"/>
          </a:solidFill>
          <a:ln w="16510">
            <a:solidFill>
              <a:srgbClr val="34D399"/>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10" name="TextBox 9">
            <a:extLst>
              <a:ext uri="{FF2B5EF4-FFF2-40B4-BE49-F238E27FC236}">
                <a16:creationId xmlns:a16="http://schemas.microsoft.com/office/drawing/2014/main" id="{89ED541E-AEA9-0C0A-C8E3-3AAECE5BD9ED}"/>
              </a:ext>
            </a:extLst>
          </p:cNvPr>
          <p:cNvSpPr txBox="1"/>
          <p:nvPr/>
        </p:nvSpPr>
        <p:spPr>
          <a:xfrm>
            <a:off x="787400" y="2184400"/>
            <a:ext cx="355600" cy="276999"/>
          </a:xfrm>
          <a:prstGeom prst="rect">
            <a:avLst/>
          </a:prstGeom>
          <a:noFill/>
        </p:spPr>
        <p:txBody>
          <a:bodyPr vert="horz" wrap="square" lIns="0" tIns="0" rIns="0" bIns="0" rtlCol="0" anchor="ctr">
            <a:noAutofit/>
          </a:bodyPr>
          <a:lstStyle/>
          <a:p>
            <a:pPr algn="ctr"/>
            <a:r>
              <a:rPr lang="en-US" sz="900" b="1">
                <a:solidFill>
                  <a:srgbClr val="34D399"/>
                </a:solidFill>
                <a:latin typeface="Aptos" panose="020B0004020202020204" pitchFamily="34" charset="0"/>
              </a:rPr>
              <a:t>01</a:t>
            </a:r>
          </a:p>
        </p:txBody>
      </p:sp>
      <p:sp>
        <p:nvSpPr>
          <p:cNvPr id="11" name="TextBox 10">
            <a:extLst>
              <a:ext uri="{FF2B5EF4-FFF2-40B4-BE49-F238E27FC236}">
                <a16:creationId xmlns:a16="http://schemas.microsoft.com/office/drawing/2014/main" id="{85451C27-59A1-90BC-9EB9-6A4CAED48963}"/>
              </a:ext>
            </a:extLst>
          </p:cNvPr>
          <p:cNvSpPr txBox="1"/>
          <p:nvPr/>
        </p:nvSpPr>
        <p:spPr>
          <a:xfrm>
            <a:off x="1295400" y="2247900"/>
            <a:ext cx="2159000" cy="276999"/>
          </a:xfrm>
          <a:prstGeom prst="rect">
            <a:avLst/>
          </a:prstGeom>
          <a:noFill/>
        </p:spPr>
        <p:txBody>
          <a:bodyPr vert="horz" wrap="square" lIns="0" tIns="0" rIns="0" bIns="0" rtlCol="0" anchor="t">
            <a:noAutofit/>
          </a:bodyPr>
          <a:lstStyle/>
          <a:p>
            <a:r>
              <a:rPr lang="en-US" sz="900" b="1">
                <a:solidFill>
                  <a:srgbClr val="F8FAFC"/>
                </a:solidFill>
                <a:latin typeface="Aptos" panose="020B0004020202020204" pitchFamily="34" charset="0"/>
              </a:rPr>
              <a:t>NOMINAL LINK</a:t>
            </a:r>
          </a:p>
        </p:txBody>
      </p:sp>
      <p:sp>
        <p:nvSpPr>
          <p:cNvPr id="12" name="TextBox 11">
            <a:extLst>
              <a:ext uri="{FF2B5EF4-FFF2-40B4-BE49-F238E27FC236}">
                <a16:creationId xmlns:a16="http://schemas.microsoft.com/office/drawing/2014/main" id="{B0949196-BC7A-4CFF-E0D6-A09BC3C83481}"/>
              </a:ext>
            </a:extLst>
          </p:cNvPr>
          <p:cNvSpPr txBox="1"/>
          <p:nvPr/>
        </p:nvSpPr>
        <p:spPr>
          <a:xfrm>
            <a:off x="787400" y="2806700"/>
            <a:ext cx="2667000" cy="276999"/>
          </a:xfrm>
          <a:prstGeom prst="rect">
            <a:avLst/>
          </a:prstGeom>
          <a:noFill/>
        </p:spPr>
        <p:txBody>
          <a:bodyPr vert="horz" wrap="square" lIns="0" tIns="0" rIns="0" bIns="0" rtlCol="0" anchor="t">
            <a:noAutofit/>
          </a:bodyPr>
          <a:lstStyle/>
          <a:p>
            <a:r>
              <a:rPr lang="en-US" sz="1700" b="1">
                <a:solidFill>
                  <a:srgbClr val="34D399"/>
                </a:solidFill>
                <a:latin typeface="Aptos" panose="020B0004020202020204" pitchFamily="34" charset="0"/>
              </a:rPr>
              <a:t>Normal verdict</a:t>
            </a:r>
          </a:p>
        </p:txBody>
      </p:sp>
      <p:sp>
        <p:nvSpPr>
          <p:cNvPr id="13" name="TextBox 12">
            <a:extLst>
              <a:ext uri="{FF2B5EF4-FFF2-40B4-BE49-F238E27FC236}">
                <a16:creationId xmlns:a16="http://schemas.microsoft.com/office/drawing/2014/main" id="{C28178BD-D561-C2EB-3D02-F7AD38EDFCAA}"/>
              </a:ext>
            </a:extLst>
          </p:cNvPr>
          <p:cNvSpPr txBox="1"/>
          <p:nvPr/>
        </p:nvSpPr>
        <p:spPr>
          <a:xfrm>
            <a:off x="787400" y="3289300"/>
            <a:ext cx="2667000" cy="276999"/>
          </a:xfrm>
          <a:prstGeom prst="rect">
            <a:avLst/>
          </a:prstGeom>
          <a:noFill/>
        </p:spPr>
        <p:txBody>
          <a:bodyPr vert="horz" wrap="square" lIns="0" tIns="0" rIns="0" bIns="0" rtlCol="0" anchor="t">
            <a:noAutofit/>
          </a:bodyPr>
          <a:lstStyle/>
          <a:p>
            <a:r>
              <a:rPr lang="en-US" sz="950">
                <a:solidFill>
                  <a:srgbClr val="A4B4C7"/>
                </a:solidFill>
                <a:latin typeface="Aptos" panose="020B0004020202020204" pitchFamily="34" charset="0"/>
              </a:rPr>
              <a:t>Low, stable traffic features</a:t>
            </a:r>
          </a:p>
        </p:txBody>
      </p:sp>
      <p:sp>
        <p:nvSpPr>
          <p:cNvPr id="14" name="Rectangle: Rounded Corners 13">
            <a:extLst>
              <a:ext uri="{FF2B5EF4-FFF2-40B4-BE49-F238E27FC236}">
                <a16:creationId xmlns:a16="http://schemas.microsoft.com/office/drawing/2014/main" id="{F847AAFA-B93F-6D22-11BB-7EC6C7932DD4}"/>
              </a:ext>
            </a:extLst>
          </p:cNvPr>
          <p:cNvSpPr/>
          <p:nvPr/>
        </p:nvSpPr>
        <p:spPr>
          <a:xfrm>
            <a:off x="4533900" y="1955800"/>
            <a:ext cx="3124200" cy="1879600"/>
          </a:xfrm>
          <a:prstGeom prst="roundRect">
            <a:avLst/>
          </a:prstGeom>
          <a:solidFill>
            <a:srgbClr val="14283D"/>
          </a:solidFill>
          <a:ln w="12700">
            <a:solidFill>
              <a:srgbClr val="2F4962"/>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15" name="Oval 14">
            <a:extLst>
              <a:ext uri="{FF2B5EF4-FFF2-40B4-BE49-F238E27FC236}">
                <a16:creationId xmlns:a16="http://schemas.microsoft.com/office/drawing/2014/main" id="{D9C32922-A942-9338-0564-0A84D256D7ED}"/>
              </a:ext>
            </a:extLst>
          </p:cNvPr>
          <p:cNvSpPr/>
          <p:nvPr/>
        </p:nvSpPr>
        <p:spPr>
          <a:xfrm>
            <a:off x="4762500" y="2184400"/>
            <a:ext cx="355600" cy="355600"/>
          </a:xfrm>
          <a:prstGeom prst="ellipse">
            <a:avLst/>
          </a:prstGeom>
          <a:solidFill>
            <a:srgbClr val="0D1E31"/>
          </a:solidFill>
          <a:ln w="16510">
            <a:solidFill>
              <a:srgbClr val="F59E0B"/>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16" name="TextBox 15">
            <a:extLst>
              <a:ext uri="{FF2B5EF4-FFF2-40B4-BE49-F238E27FC236}">
                <a16:creationId xmlns:a16="http://schemas.microsoft.com/office/drawing/2014/main" id="{67641367-B96C-D589-187B-36C3E4A0EF14}"/>
              </a:ext>
            </a:extLst>
          </p:cNvPr>
          <p:cNvSpPr txBox="1"/>
          <p:nvPr/>
        </p:nvSpPr>
        <p:spPr>
          <a:xfrm>
            <a:off x="4762500" y="2184400"/>
            <a:ext cx="355600" cy="276999"/>
          </a:xfrm>
          <a:prstGeom prst="rect">
            <a:avLst/>
          </a:prstGeom>
          <a:noFill/>
        </p:spPr>
        <p:txBody>
          <a:bodyPr vert="horz" wrap="square" lIns="0" tIns="0" rIns="0" bIns="0" rtlCol="0" anchor="ctr">
            <a:noAutofit/>
          </a:bodyPr>
          <a:lstStyle/>
          <a:p>
            <a:pPr algn="ctr"/>
            <a:r>
              <a:rPr lang="en-US" sz="900" b="1">
                <a:solidFill>
                  <a:srgbClr val="F59E0B"/>
                </a:solidFill>
                <a:latin typeface="Aptos" panose="020B0004020202020204" pitchFamily="34" charset="0"/>
              </a:rPr>
              <a:t>02</a:t>
            </a:r>
          </a:p>
        </p:txBody>
      </p:sp>
      <p:sp>
        <p:nvSpPr>
          <p:cNvPr id="17" name="TextBox 16">
            <a:extLst>
              <a:ext uri="{FF2B5EF4-FFF2-40B4-BE49-F238E27FC236}">
                <a16:creationId xmlns:a16="http://schemas.microsoft.com/office/drawing/2014/main" id="{05E132ED-92C4-A198-545B-529BA6EE3004}"/>
              </a:ext>
            </a:extLst>
          </p:cNvPr>
          <p:cNvSpPr txBox="1"/>
          <p:nvPr/>
        </p:nvSpPr>
        <p:spPr>
          <a:xfrm>
            <a:off x="5270500" y="2247900"/>
            <a:ext cx="2159000" cy="276999"/>
          </a:xfrm>
          <a:prstGeom prst="rect">
            <a:avLst/>
          </a:prstGeom>
          <a:noFill/>
        </p:spPr>
        <p:txBody>
          <a:bodyPr vert="horz" wrap="square" lIns="0" tIns="0" rIns="0" bIns="0" rtlCol="0" anchor="t">
            <a:noAutofit/>
          </a:bodyPr>
          <a:lstStyle/>
          <a:p>
            <a:r>
              <a:rPr lang="en-US" sz="900" b="1">
                <a:solidFill>
                  <a:srgbClr val="F8FAFC"/>
                </a:solidFill>
                <a:latin typeface="Aptos" panose="020B0004020202020204" pitchFamily="34" charset="0"/>
              </a:rPr>
              <a:t>TRANSITIONAL</a:t>
            </a:r>
          </a:p>
        </p:txBody>
      </p:sp>
      <p:sp>
        <p:nvSpPr>
          <p:cNvPr id="18" name="TextBox 17">
            <a:extLst>
              <a:ext uri="{FF2B5EF4-FFF2-40B4-BE49-F238E27FC236}">
                <a16:creationId xmlns:a16="http://schemas.microsoft.com/office/drawing/2014/main" id="{653B0EA6-637F-BE77-E681-68394E486D62}"/>
              </a:ext>
            </a:extLst>
          </p:cNvPr>
          <p:cNvSpPr txBox="1"/>
          <p:nvPr/>
        </p:nvSpPr>
        <p:spPr>
          <a:xfrm>
            <a:off x="4762500" y="2806700"/>
            <a:ext cx="2667000" cy="276999"/>
          </a:xfrm>
          <a:prstGeom prst="rect">
            <a:avLst/>
          </a:prstGeom>
          <a:noFill/>
        </p:spPr>
        <p:txBody>
          <a:bodyPr vert="horz" wrap="square" lIns="0" tIns="0" rIns="0" bIns="0" rtlCol="0" anchor="t">
            <a:noAutofit/>
          </a:bodyPr>
          <a:lstStyle/>
          <a:p>
            <a:r>
              <a:rPr lang="en-US" sz="1700" b="1">
                <a:solidFill>
                  <a:srgbClr val="F59E0B"/>
                </a:solidFill>
                <a:latin typeface="Aptos" panose="020B0004020202020204" pitchFamily="34" charset="0"/>
              </a:rPr>
              <a:t>Decision boundary</a:t>
            </a:r>
          </a:p>
        </p:txBody>
      </p:sp>
      <p:sp>
        <p:nvSpPr>
          <p:cNvPr id="19" name="TextBox 18">
            <a:extLst>
              <a:ext uri="{FF2B5EF4-FFF2-40B4-BE49-F238E27FC236}">
                <a16:creationId xmlns:a16="http://schemas.microsoft.com/office/drawing/2014/main" id="{9C1DBB2D-7526-81B3-B53E-41522BAF7390}"/>
              </a:ext>
            </a:extLst>
          </p:cNvPr>
          <p:cNvSpPr txBox="1"/>
          <p:nvPr/>
        </p:nvSpPr>
        <p:spPr>
          <a:xfrm>
            <a:off x="4762500" y="3289300"/>
            <a:ext cx="2667000" cy="276999"/>
          </a:xfrm>
          <a:prstGeom prst="rect">
            <a:avLst/>
          </a:prstGeom>
          <a:noFill/>
        </p:spPr>
        <p:txBody>
          <a:bodyPr vert="horz" wrap="square" lIns="0" tIns="0" rIns="0" bIns="0" rtlCol="0" anchor="t">
            <a:noAutofit/>
          </a:bodyPr>
          <a:lstStyle/>
          <a:p>
            <a:r>
              <a:rPr lang="en-US" sz="950">
                <a:solidFill>
                  <a:srgbClr val="A4B4C7"/>
                </a:solidFill>
                <a:latin typeface="Aptos" panose="020B0004020202020204" pitchFamily="34" charset="0"/>
              </a:rPr>
              <a:t>A deliberately mixed profile</a:t>
            </a:r>
          </a:p>
        </p:txBody>
      </p:sp>
      <p:sp>
        <p:nvSpPr>
          <p:cNvPr id="20" name="Rectangle: Rounded Corners 19">
            <a:extLst>
              <a:ext uri="{FF2B5EF4-FFF2-40B4-BE49-F238E27FC236}">
                <a16:creationId xmlns:a16="http://schemas.microsoft.com/office/drawing/2014/main" id="{260A9B69-B676-DF44-D098-9252A855A3B7}"/>
              </a:ext>
            </a:extLst>
          </p:cNvPr>
          <p:cNvSpPr/>
          <p:nvPr/>
        </p:nvSpPr>
        <p:spPr>
          <a:xfrm>
            <a:off x="8509000" y="1955800"/>
            <a:ext cx="3124200" cy="1879600"/>
          </a:xfrm>
          <a:prstGeom prst="roundRect">
            <a:avLst/>
          </a:prstGeom>
          <a:solidFill>
            <a:srgbClr val="14283D"/>
          </a:solidFill>
          <a:ln w="12700">
            <a:solidFill>
              <a:srgbClr val="2F4962"/>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21" name="Oval 20">
            <a:extLst>
              <a:ext uri="{FF2B5EF4-FFF2-40B4-BE49-F238E27FC236}">
                <a16:creationId xmlns:a16="http://schemas.microsoft.com/office/drawing/2014/main" id="{CA6C7382-DB9A-FB31-8C58-A18FA60999E0}"/>
              </a:ext>
            </a:extLst>
          </p:cNvPr>
          <p:cNvSpPr/>
          <p:nvPr/>
        </p:nvSpPr>
        <p:spPr>
          <a:xfrm>
            <a:off x="8737600" y="2184400"/>
            <a:ext cx="355600" cy="355600"/>
          </a:xfrm>
          <a:prstGeom prst="ellipse">
            <a:avLst/>
          </a:prstGeom>
          <a:solidFill>
            <a:srgbClr val="0D1E31"/>
          </a:solidFill>
          <a:ln w="16510">
            <a:solidFill>
              <a:srgbClr val="F87171"/>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22" name="TextBox 21">
            <a:extLst>
              <a:ext uri="{FF2B5EF4-FFF2-40B4-BE49-F238E27FC236}">
                <a16:creationId xmlns:a16="http://schemas.microsoft.com/office/drawing/2014/main" id="{EC7ABD98-9800-8E60-BC15-3B939E12EAB3}"/>
              </a:ext>
            </a:extLst>
          </p:cNvPr>
          <p:cNvSpPr txBox="1"/>
          <p:nvPr/>
        </p:nvSpPr>
        <p:spPr>
          <a:xfrm>
            <a:off x="8737600" y="2184400"/>
            <a:ext cx="355600" cy="276999"/>
          </a:xfrm>
          <a:prstGeom prst="rect">
            <a:avLst/>
          </a:prstGeom>
          <a:noFill/>
        </p:spPr>
        <p:txBody>
          <a:bodyPr vert="horz" wrap="square" lIns="0" tIns="0" rIns="0" bIns="0" rtlCol="0" anchor="ctr">
            <a:noAutofit/>
          </a:bodyPr>
          <a:lstStyle/>
          <a:p>
            <a:pPr algn="ctr"/>
            <a:r>
              <a:rPr lang="en-US" sz="900" b="1">
                <a:solidFill>
                  <a:srgbClr val="F87171"/>
                </a:solidFill>
                <a:latin typeface="Aptos" panose="020B0004020202020204" pitchFamily="34" charset="0"/>
              </a:rPr>
              <a:t>03</a:t>
            </a:r>
          </a:p>
        </p:txBody>
      </p:sp>
      <p:sp>
        <p:nvSpPr>
          <p:cNvPr id="23" name="TextBox 22">
            <a:extLst>
              <a:ext uri="{FF2B5EF4-FFF2-40B4-BE49-F238E27FC236}">
                <a16:creationId xmlns:a16="http://schemas.microsoft.com/office/drawing/2014/main" id="{DE99F56B-755E-B2CE-F827-0E8F77978A16}"/>
              </a:ext>
            </a:extLst>
          </p:cNvPr>
          <p:cNvSpPr txBox="1"/>
          <p:nvPr/>
        </p:nvSpPr>
        <p:spPr>
          <a:xfrm>
            <a:off x="9245600" y="2247900"/>
            <a:ext cx="2159000" cy="276999"/>
          </a:xfrm>
          <a:prstGeom prst="rect">
            <a:avLst/>
          </a:prstGeom>
          <a:noFill/>
        </p:spPr>
        <p:txBody>
          <a:bodyPr vert="horz" wrap="square" lIns="0" tIns="0" rIns="0" bIns="0" rtlCol="0" anchor="t">
            <a:noAutofit/>
          </a:bodyPr>
          <a:lstStyle/>
          <a:p>
            <a:r>
              <a:rPr lang="en-US" sz="900" b="1">
                <a:solidFill>
                  <a:srgbClr val="F8FAFC"/>
                </a:solidFill>
                <a:latin typeface="Aptos" panose="020B0004020202020204" pitchFamily="34" charset="0"/>
              </a:rPr>
              <a:t>SUSTAINED FLOOD</a:t>
            </a:r>
          </a:p>
        </p:txBody>
      </p:sp>
      <p:sp>
        <p:nvSpPr>
          <p:cNvPr id="24" name="TextBox 23">
            <a:extLst>
              <a:ext uri="{FF2B5EF4-FFF2-40B4-BE49-F238E27FC236}">
                <a16:creationId xmlns:a16="http://schemas.microsoft.com/office/drawing/2014/main" id="{DC162254-7629-D29F-51DB-0212856A4195}"/>
              </a:ext>
            </a:extLst>
          </p:cNvPr>
          <p:cNvSpPr txBox="1"/>
          <p:nvPr/>
        </p:nvSpPr>
        <p:spPr>
          <a:xfrm>
            <a:off x="8737600" y="2806700"/>
            <a:ext cx="2667000" cy="276999"/>
          </a:xfrm>
          <a:prstGeom prst="rect">
            <a:avLst/>
          </a:prstGeom>
          <a:noFill/>
        </p:spPr>
        <p:txBody>
          <a:bodyPr vert="horz" wrap="square" lIns="0" tIns="0" rIns="0" bIns="0" rtlCol="0" anchor="t">
            <a:noAutofit/>
          </a:bodyPr>
          <a:lstStyle/>
          <a:p>
            <a:r>
              <a:rPr lang="en-US" sz="1700" b="1">
                <a:solidFill>
                  <a:srgbClr val="F87171"/>
                </a:solidFill>
                <a:latin typeface="Aptos" panose="020B0004020202020204" pitchFamily="34" charset="0"/>
              </a:rPr>
              <a:t>Attack verdict</a:t>
            </a:r>
          </a:p>
        </p:txBody>
      </p:sp>
      <p:sp>
        <p:nvSpPr>
          <p:cNvPr id="25" name="TextBox 24">
            <a:extLst>
              <a:ext uri="{FF2B5EF4-FFF2-40B4-BE49-F238E27FC236}">
                <a16:creationId xmlns:a16="http://schemas.microsoft.com/office/drawing/2014/main" id="{35A7C02B-16CE-C6E1-86FF-EC2423392FD5}"/>
              </a:ext>
            </a:extLst>
          </p:cNvPr>
          <p:cNvSpPr txBox="1"/>
          <p:nvPr/>
        </p:nvSpPr>
        <p:spPr>
          <a:xfrm>
            <a:off x="8737600" y="3289300"/>
            <a:ext cx="2667000" cy="276999"/>
          </a:xfrm>
          <a:prstGeom prst="rect">
            <a:avLst/>
          </a:prstGeom>
          <a:noFill/>
        </p:spPr>
        <p:txBody>
          <a:bodyPr vert="horz" wrap="square" lIns="0" tIns="0" rIns="0" bIns="0" rtlCol="0" anchor="t">
            <a:noAutofit/>
          </a:bodyPr>
          <a:lstStyle/>
          <a:p>
            <a:r>
              <a:rPr lang="en-US" sz="950">
                <a:solidFill>
                  <a:srgbClr val="A4B4C7"/>
                </a:solidFill>
                <a:latin typeface="Aptos" panose="020B0004020202020204" pitchFamily="34" charset="0"/>
              </a:rPr>
              <a:t>Alert and counters update</a:t>
            </a:r>
          </a:p>
        </p:txBody>
      </p:sp>
      <p:cxnSp>
        <p:nvCxnSpPr>
          <p:cNvPr id="26" name="Straight Connector 25">
            <a:extLst>
              <a:ext uri="{FF2B5EF4-FFF2-40B4-BE49-F238E27FC236}">
                <a16:creationId xmlns:a16="http://schemas.microsoft.com/office/drawing/2014/main" id="{DB5A6E4E-9798-E1A0-8B5F-B2156B2DEAD0}"/>
              </a:ext>
            </a:extLst>
          </p:cNvPr>
          <p:cNvCxnSpPr/>
          <p:nvPr/>
        </p:nvCxnSpPr>
        <p:spPr>
          <a:xfrm>
            <a:off x="3759200" y="2895600"/>
            <a:ext cx="660400" cy="0"/>
          </a:xfrm>
          <a:prstGeom prst="line">
            <a:avLst/>
          </a:prstGeom>
          <a:ln w="25400" cap="flat" cmpd="sng" algn="ctr">
            <a:solidFill>
              <a:srgbClr val="10C58B"/>
            </a:solidFill>
            <a:prstDash val="solid"/>
            <a:round/>
            <a:headEnd type="none" w="med" len="med"/>
            <a:tailEnd type="arrow" w="med" len="med"/>
          </a:ln>
        </p:spPr>
        <p:style>
          <a:lnRef idx="2">
            <a:schemeClr val="accent1"/>
          </a:lnRef>
          <a:fillRef idx="0">
            <a:schemeClr val="accent1"/>
          </a:fillRef>
          <a:effectRef idx="1">
            <a:schemeClr val="accent1"/>
          </a:effectRef>
          <a:fontRef idx="minor">
            <a:schemeClr val="tx1"/>
          </a:fontRef>
        </p:style>
      </p:cxnSp>
      <p:cxnSp>
        <p:nvCxnSpPr>
          <p:cNvPr id="27" name="Straight Connector 26">
            <a:extLst>
              <a:ext uri="{FF2B5EF4-FFF2-40B4-BE49-F238E27FC236}">
                <a16:creationId xmlns:a16="http://schemas.microsoft.com/office/drawing/2014/main" id="{8D05A306-511C-6809-C747-010AEC53D143}"/>
              </a:ext>
            </a:extLst>
          </p:cNvPr>
          <p:cNvCxnSpPr/>
          <p:nvPr/>
        </p:nvCxnSpPr>
        <p:spPr>
          <a:xfrm>
            <a:off x="7734300" y="2895600"/>
            <a:ext cx="660400" cy="0"/>
          </a:xfrm>
          <a:prstGeom prst="line">
            <a:avLst/>
          </a:prstGeom>
          <a:ln w="25400" cap="flat" cmpd="sng" algn="ctr">
            <a:solidFill>
              <a:srgbClr val="10C58B"/>
            </a:solidFill>
            <a:prstDash val="solid"/>
            <a:round/>
            <a:headEnd type="none" w="med" len="med"/>
            <a:tailEnd type="arrow" w="med" len="med"/>
          </a:ln>
        </p:spPr>
        <p:style>
          <a:lnRef idx="2">
            <a:schemeClr val="accent1"/>
          </a:lnRef>
          <a:fillRef idx="0">
            <a:schemeClr val="accent1"/>
          </a:fillRef>
          <a:effectRef idx="1">
            <a:schemeClr val="accent1"/>
          </a:effectRef>
          <a:fontRef idx="minor">
            <a:schemeClr val="tx1"/>
          </a:fontRef>
        </p:style>
      </p:cxnSp>
      <p:sp>
        <p:nvSpPr>
          <p:cNvPr id="28" name="TextBox 27">
            <a:extLst>
              <a:ext uri="{FF2B5EF4-FFF2-40B4-BE49-F238E27FC236}">
                <a16:creationId xmlns:a16="http://schemas.microsoft.com/office/drawing/2014/main" id="{27776130-BD18-80D2-C6BC-4F8CCCA6B80C}"/>
              </a:ext>
            </a:extLst>
          </p:cNvPr>
          <p:cNvSpPr txBox="1"/>
          <p:nvPr/>
        </p:nvSpPr>
        <p:spPr>
          <a:xfrm>
            <a:off x="558800" y="4267200"/>
            <a:ext cx="3175000" cy="276999"/>
          </a:xfrm>
          <a:prstGeom prst="rect">
            <a:avLst/>
          </a:prstGeom>
          <a:noFill/>
        </p:spPr>
        <p:txBody>
          <a:bodyPr vert="horz" wrap="square" lIns="0" tIns="0" rIns="0" bIns="0" rtlCol="0" anchor="t">
            <a:noAutofit/>
          </a:bodyPr>
          <a:lstStyle/>
          <a:p>
            <a:r>
              <a:rPr lang="en-US" sz="950" b="1">
                <a:solidFill>
                  <a:srgbClr val="10C58B"/>
                </a:solidFill>
                <a:latin typeface="Aptos" panose="020B0004020202020204" pitchFamily="34" charset="0"/>
              </a:rPr>
              <a:t>WHAT THE DASHBOARD PROVES</a:t>
            </a:r>
          </a:p>
        </p:txBody>
      </p:sp>
      <p:sp>
        <p:nvSpPr>
          <p:cNvPr id="29" name="Rectangle: Rounded Corners 28">
            <a:extLst>
              <a:ext uri="{FF2B5EF4-FFF2-40B4-BE49-F238E27FC236}">
                <a16:creationId xmlns:a16="http://schemas.microsoft.com/office/drawing/2014/main" id="{B6A8ED14-D6C1-1614-1665-9EABB2939119}"/>
              </a:ext>
            </a:extLst>
          </p:cNvPr>
          <p:cNvSpPr/>
          <p:nvPr/>
        </p:nvSpPr>
        <p:spPr>
          <a:xfrm>
            <a:off x="558800" y="4635500"/>
            <a:ext cx="2489200" cy="838200"/>
          </a:xfrm>
          <a:prstGeom prst="roundRect">
            <a:avLst/>
          </a:prstGeom>
          <a:solidFill>
            <a:srgbClr val="0D1E31"/>
          </a:solidFill>
          <a:ln w="12700">
            <a:solidFill>
              <a:srgbClr val="2F4962"/>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30" name="TextBox 29">
            <a:extLst>
              <a:ext uri="{FF2B5EF4-FFF2-40B4-BE49-F238E27FC236}">
                <a16:creationId xmlns:a16="http://schemas.microsoft.com/office/drawing/2014/main" id="{E4F2B870-3C33-E630-FDBC-CA1C474610A0}"/>
              </a:ext>
            </a:extLst>
          </p:cNvPr>
          <p:cNvSpPr txBox="1"/>
          <p:nvPr/>
        </p:nvSpPr>
        <p:spPr>
          <a:xfrm>
            <a:off x="723900" y="4787900"/>
            <a:ext cx="2159000" cy="276999"/>
          </a:xfrm>
          <a:prstGeom prst="rect">
            <a:avLst/>
          </a:prstGeom>
          <a:noFill/>
        </p:spPr>
        <p:txBody>
          <a:bodyPr vert="horz" wrap="square" lIns="0" tIns="0" rIns="0" bIns="0" rtlCol="0" anchor="t">
            <a:noAutofit/>
          </a:bodyPr>
          <a:lstStyle/>
          <a:p>
            <a:r>
              <a:rPr lang="en-US" sz="900" b="1">
                <a:solidFill>
                  <a:srgbClr val="F8FAFC"/>
                </a:solidFill>
                <a:latin typeface="Aptos" panose="020B0004020202020204" pitchFamily="34" charset="0"/>
              </a:rPr>
              <a:t>REAL MODEL</a:t>
            </a:r>
          </a:p>
        </p:txBody>
      </p:sp>
      <p:sp>
        <p:nvSpPr>
          <p:cNvPr id="31" name="TextBox 30">
            <a:extLst>
              <a:ext uri="{FF2B5EF4-FFF2-40B4-BE49-F238E27FC236}">
                <a16:creationId xmlns:a16="http://schemas.microsoft.com/office/drawing/2014/main" id="{7773140D-7F83-6E12-E914-009DA6E9E7D7}"/>
              </a:ext>
            </a:extLst>
          </p:cNvPr>
          <p:cNvSpPr txBox="1"/>
          <p:nvPr/>
        </p:nvSpPr>
        <p:spPr>
          <a:xfrm>
            <a:off x="723900" y="5067300"/>
            <a:ext cx="2159000" cy="276999"/>
          </a:xfrm>
          <a:prstGeom prst="rect">
            <a:avLst/>
          </a:prstGeom>
          <a:noFill/>
        </p:spPr>
        <p:txBody>
          <a:bodyPr vert="horz" wrap="square" lIns="0" tIns="0" rIns="0" bIns="0" rtlCol="0" anchor="t">
            <a:noAutofit/>
          </a:bodyPr>
          <a:lstStyle/>
          <a:p>
            <a:r>
              <a:rPr lang="en-US" sz="870">
                <a:solidFill>
                  <a:srgbClr val="A4B4C7"/>
                </a:solidFill>
                <a:latin typeface="Aptos" panose="020B0004020202020204" pitchFamily="34" charset="0"/>
              </a:rPr>
              <a:t>Frozen checkpoint + hash</a:t>
            </a:r>
          </a:p>
        </p:txBody>
      </p:sp>
      <p:sp>
        <p:nvSpPr>
          <p:cNvPr id="32" name="Rectangle: Rounded Corners 31">
            <a:extLst>
              <a:ext uri="{FF2B5EF4-FFF2-40B4-BE49-F238E27FC236}">
                <a16:creationId xmlns:a16="http://schemas.microsoft.com/office/drawing/2014/main" id="{896610CE-588F-68F7-0F1D-970B92B01336}"/>
              </a:ext>
            </a:extLst>
          </p:cNvPr>
          <p:cNvSpPr/>
          <p:nvPr/>
        </p:nvSpPr>
        <p:spPr>
          <a:xfrm>
            <a:off x="3225800" y="4635500"/>
            <a:ext cx="2489200" cy="838200"/>
          </a:xfrm>
          <a:prstGeom prst="roundRect">
            <a:avLst/>
          </a:prstGeom>
          <a:solidFill>
            <a:srgbClr val="0D1E31"/>
          </a:solidFill>
          <a:ln w="12700">
            <a:solidFill>
              <a:srgbClr val="2F4962"/>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33" name="TextBox 32">
            <a:extLst>
              <a:ext uri="{FF2B5EF4-FFF2-40B4-BE49-F238E27FC236}">
                <a16:creationId xmlns:a16="http://schemas.microsoft.com/office/drawing/2014/main" id="{25C0C977-D341-919D-9B5D-D2FEDC9C44EE}"/>
              </a:ext>
            </a:extLst>
          </p:cNvPr>
          <p:cNvSpPr txBox="1"/>
          <p:nvPr/>
        </p:nvSpPr>
        <p:spPr>
          <a:xfrm>
            <a:off x="3390900" y="4787900"/>
            <a:ext cx="2159000" cy="276999"/>
          </a:xfrm>
          <a:prstGeom prst="rect">
            <a:avLst/>
          </a:prstGeom>
          <a:noFill/>
        </p:spPr>
        <p:txBody>
          <a:bodyPr vert="horz" wrap="square" lIns="0" tIns="0" rIns="0" bIns="0" rtlCol="0" anchor="t">
            <a:noAutofit/>
          </a:bodyPr>
          <a:lstStyle/>
          <a:p>
            <a:r>
              <a:rPr lang="en-US" sz="900" b="1">
                <a:solidFill>
                  <a:srgbClr val="F8FAFC"/>
                </a:solidFill>
                <a:latin typeface="Aptos" panose="020B0004020202020204" pitchFamily="34" charset="0"/>
              </a:rPr>
              <a:t>BINARY VERDICT</a:t>
            </a:r>
          </a:p>
        </p:txBody>
      </p:sp>
      <p:sp>
        <p:nvSpPr>
          <p:cNvPr id="34" name="TextBox 33">
            <a:extLst>
              <a:ext uri="{FF2B5EF4-FFF2-40B4-BE49-F238E27FC236}">
                <a16:creationId xmlns:a16="http://schemas.microsoft.com/office/drawing/2014/main" id="{B18E7F82-7036-2E38-8700-F2BFCCAE272A}"/>
              </a:ext>
            </a:extLst>
          </p:cNvPr>
          <p:cNvSpPr txBox="1"/>
          <p:nvPr/>
        </p:nvSpPr>
        <p:spPr>
          <a:xfrm>
            <a:off x="3390900" y="5067300"/>
            <a:ext cx="2159000" cy="276999"/>
          </a:xfrm>
          <a:prstGeom prst="rect">
            <a:avLst/>
          </a:prstGeom>
          <a:noFill/>
        </p:spPr>
        <p:txBody>
          <a:bodyPr vert="horz" wrap="square" lIns="0" tIns="0" rIns="0" bIns="0" rtlCol="0" anchor="t">
            <a:noAutofit/>
          </a:bodyPr>
          <a:lstStyle/>
          <a:p>
            <a:r>
              <a:rPr lang="en-US" sz="870">
                <a:solidFill>
                  <a:srgbClr val="A4B4C7"/>
                </a:solidFill>
                <a:latin typeface="Aptos" panose="020B0004020202020204" pitchFamily="34" charset="0"/>
              </a:rPr>
              <a:t>Normal / Attack + confidence</a:t>
            </a:r>
          </a:p>
        </p:txBody>
      </p:sp>
      <p:sp>
        <p:nvSpPr>
          <p:cNvPr id="35" name="Rectangle: Rounded Corners 34">
            <a:extLst>
              <a:ext uri="{FF2B5EF4-FFF2-40B4-BE49-F238E27FC236}">
                <a16:creationId xmlns:a16="http://schemas.microsoft.com/office/drawing/2014/main" id="{6C03BB42-E92B-E83B-6CE8-69B9A097640A}"/>
              </a:ext>
            </a:extLst>
          </p:cNvPr>
          <p:cNvSpPr/>
          <p:nvPr/>
        </p:nvSpPr>
        <p:spPr>
          <a:xfrm>
            <a:off x="5892800" y="4635500"/>
            <a:ext cx="2489200" cy="838200"/>
          </a:xfrm>
          <a:prstGeom prst="roundRect">
            <a:avLst/>
          </a:prstGeom>
          <a:solidFill>
            <a:srgbClr val="0D1E31"/>
          </a:solidFill>
          <a:ln w="12700">
            <a:solidFill>
              <a:srgbClr val="2F4962"/>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36" name="TextBox 35">
            <a:extLst>
              <a:ext uri="{FF2B5EF4-FFF2-40B4-BE49-F238E27FC236}">
                <a16:creationId xmlns:a16="http://schemas.microsoft.com/office/drawing/2014/main" id="{3E99F0FE-C64A-D797-7045-F3DF65FE30EE}"/>
              </a:ext>
            </a:extLst>
          </p:cNvPr>
          <p:cNvSpPr txBox="1"/>
          <p:nvPr/>
        </p:nvSpPr>
        <p:spPr>
          <a:xfrm>
            <a:off x="6057900" y="4787900"/>
            <a:ext cx="2159000" cy="276999"/>
          </a:xfrm>
          <a:prstGeom prst="rect">
            <a:avLst/>
          </a:prstGeom>
          <a:noFill/>
        </p:spPr>
        <p:txBody>
          <a:bodyPr vert="horz" wrap="square" lIns="0" tIns="0" rIns="0" bIns="0" rtlCol="0" anchor="t">
            <a:noAutofit/>
          </a:bodyPr>
          <a:lstStyle/>
          <a:p>
            <a:r>
              <a:rPr lang="en-US" sz="900" b="1">
                <a:solidFill>
                  <a:srgbClr val="F8FAFC"/>
                </a:solidFill>
                <a:latin typeface="Aptos" panose="020B0004020202020204" pitchFamily="34" charset="0"/>
              </a:rPr>
              <a:t>5 CLIENTS</a:t>
            </a:r>
          </a:p>
        </p:txBody>
      </p:sp>
      <p:sp>
        <p:nvSpPr>
          <p:cNvPr id="37" name="TextBox 36">
            <a:extLst>
              <a:ext uri="{FF2B5EF4-FFF2-40B4-BE49-F238E27FC236}">
                <a16:creationId xmlns:a16="http://schemas.microsoft.com/office/drawing/2014/main" id="{0CF906B0-5017-0335-8FA3-D2954802960C}"/>
              </a:ext>
            </a:extLst>
          </p:cNvPr>
          <p:cNvSpPr txBox="1"/>
          <p:nvPr/>
        </p:nvSpPr>
        <p:spPr>
          <a:xfrm>
            <a:off x="6057900" y="5067300"/>
            <a:ext cx="2159000" cy="276999"/>
          </a:xfrm>
          <a:prstGeom prst="rect">
            <a:avLst/>
          </a:prstGeom>
          <a:noFill/>
        </p:spPr>
        <p:txBody>
          <a:bodyPr vert="horz" wrap="square" lIns="0" tIns="0" rIns="0" bIns="0" rtlCol="0" anchor="t">
            <a:noAutofit/>
          </a:bodyPr>
          <a:lstStyle/>
          <a:p>
            <a:r>
              <a:rPr lang="en-US" sz="870">
                <a:solidFill>
                  <a:srgbClr val="A4B4C7"/>
                </a:solidFill>
                <a:latin typeface="Aptos" panose="020B0004020202020204" pitchFamily="34" charset="0"/>
              </a:rPr>
              <a:t>Rounds + update progress</a:t>
            </a:r>
          </a:p>
        </p:txBody>
      </p:sp>
      <p:sp>
        <p:nvSpPr>
          <p:cNvPr id="38" name="Rectangle: Rounded Corners 37">
            <a:extLst>
              <a:ext uri="{FF2B5EF4-FFF2-40B4-BE49-F238E27FC236}">
                <a16:creationId xmlns:a16="http://schemas.microsoft.com/office/drawing/2014/main" id="{3D4BEBB6-F6BD-66C8-AE90-71C5887491A5}"/>
              </a:ext>
            </a:extLst>
          </p:cNvPr>
          <p:cNvSpPr/>
          <p:nvPr/>
        </p:nvSpPr>
        <p:spPr>
          <a:xfrm>
            <a:off x="8559800" y="4635500"/>
            <a:ext cx="3073400" cy="838200"/>
          </a:xfrm>
          <a:prstGeom prst="roundRect">
            <a:avLst/>
          </a:prstGeom>
          <a:solidFill>
            <a:srgbClr val="0D1E31"/>
          </a:solidFill>
          <a:ln w="12700">
            <a:solidFill>
              <a:srgbClr val="2F4962"/>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39" name="TextBox 38">
            <a:extLst>
              <a:ext uri="{FF2B5EF4-FFF2-40B4-BE49-F238E27FC236}">
                <a16:creationId xmlns:a16="http://schemas.microsoft.com/office/drawing/2014/main" id="{20167198-C193-8CF5-31C9-ACEFA39932E5}"/>
              </a:ext>
            </a:extLst>
          </p:cNvPr>
          <p:cNvSpPr txBox="1"/>
          <p:nvPr/>
        </p:nvSpPr>
        <p:spPr>
          <a:xfrm>
            <a:off x="8724900" y="4787900"/>
            <a:ext cx="2743200" cy="276999"/>
          </a:xfrm>
          <a:prstGeom prst="rect">
            <a:avLst/>
          </a:prstGeom>
          <a:noFill/>
        </p:spPr>
        <p:txBody>
          <a:bodyPr vert="horz" wrap="square" lIns="0" tIns="0" rIns="0" bIns="0" rtlCol="0" anchor="t">
            <a:noAutofit/>
          </a:bodyPr>
          <a:lstStyle/>
          <a:p>
            <a:r>
              <a:rPr lang="en-US" sz="900" b="1">
                <a:solidFill>
                  <a:srgbClr val="F8FAFC"/>
                </a:solidFill>
                <a:latin typeface="Aptos" panose="020B0004020202020204" pitchFamily="34" charset="0"/>
              </a:rPr>
              <a:t>SECURE MODE</a:t>
            </a:r>
          </a:p>
        </p:txBody>
      </p:sp>
      <p:sp>
        <p:nvSpPr>
          <p:cNvPr id="40" name="TextBox 39">
            <a:extLst>
              <a:ext uri="{FF2B5EF4-FFF2-40B4-BE49-F238E27FC236}">
                <a16:creationId xmlns:a16="http://schemas.microsoft.com/office/drawing/2014/main" id="{AA731A22-89C0-7653-F2BD-74AAB108F49A}"/>
              </a:ext>
            </a:extLst>
          </p:cNvPr>
          <p:cNvSpPr txBox="1"/>
          <p:nvPr/>
        </p:nvSpPr>
        <p:spPr>
          <a:xfrm>
            <a:off x="8724900" y="5067300"/>
            <a:ext cx="2743200" cy="276999"/>
          </a:xfrm>
          <a:prstGeom prst="rect">
            <a:avLst/>
          </a:prstGeom>
          <a:noFill/>
        </p:spPr>
        <p:txBody>
          <a:bodyPr vert="horz" wrap="square" lIns="0" tIns="0" rIns="0" bIns="0" rtlCol="0" anchor="t">
            <a:noAutofit/>
          </a:bodyPr>
          <a:lstStyle/>
          <a:p>
            <a:r>
              <a:rPr lang="en-US" sz="870">
                <a:solidFill>
                  <a:srgbClr val="A4B4C7"/>
                </a:solidFill>
                <a:latin typeface="Aptos" panose="020B0004020202020204" pitchFamily="34" charset="0"/>
              </a:rPr>
              <a:t>Authentication + rejections</a:t>
            </a:r>
          </a:p>
        </p:txBody>
      </p:sp>
      <p:sp>
        <p:nvSpPr>
          <p:cNvPr id="41" name="Rectangle: Rounded Corners 40">
            <a:extLst>
              <a:ext uri="{FF2B5EF4-FFF2-40B4-BE49-F238E27FC236}">
                <a16:creationId xmlns:a16="http://schemas.microsoft.com/office/drawing/2014/main" id="{1483743F-5E40-5BA5-266F-0754BC4D0A6A}"/>
              </a:ext>
            </a:extLst>
          </p:cNvPr>
          <p:cNvSpPr/>
          <p:nvPr/>
        </p:nvSpPr>
        <p:spPr>
          <a:xfrm>
            <a:off x="558800" y="5740400"/>
            <a:ext cx="11074400" cy="533400"/>
          </a:xfrm>
          <a:prstGeom prst="roundRect">
            <a:avLst/>
          </a:prstGeom>
          <a:solidFill>
            <a:srgbClr val="10C58B"/>
          </a:solidFill>
          <a:ln w="9525" cap="flat" cmpd="sng" algn="ctr">
            <a:noFill/>
            <a:prstDash val="solid"/>
          </a:ln>
          <a:effectLst>
            <a:outerShdw blurRad="40000" dist="23000" dir="5400000" rotWithShape="0">
              <a:srgbClr val="000000">
                <a:alpha val="35000"/>
              </a:srgbClr>
            </a:outerShdw>
          </a:effectLst>
          <a:extLst>
            <a:ext uri="{91240B29-F687-4F45-9708-019B960494DF}">
              <a14:hiddenLine xmlns:a14="http://schemas.microsoft.com/office/drawing/2010/main" w="9525" cap="flat" cmpd="sng" algn="ctr">
                <a:solidFill>
                  <a:schemeClr val="accent1">
                    <a:shade val="95000"/>
                    <a:satMod val="105000"/>
                  </a:schemeClr>
                </a:solidFill>
                <a:prstDash val="solid"/>
              </a14:hiddenLine>
            </a:ext>
          </a:ex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42" name="TextBox 41">
            <a:extLst>
              <a:ext uri="{FF2B5EF4-FFF2-40B4-BE49-F238E27FC236}">
                <a16:creationId xmlns:a16="http://schemas.microsoft.com/office/drawing/2014/main" id="{3F1FEB73-0BCA-BF36-239A-C7617F604F5A}"/>
              </a:ext>
            </a:extLst>
          </p:cNvPr>
          <p:cNvSpPr txBox="1"/>
          <p:nvPr/>
        </p:nvSpPr>
        <p:spPr>
          <a:xfrm>
            <a:off x="558800" y="5740400"/>
            <a:ext cx="11074400" cy="276999"/>
          </a:xfrm>
          <a:prstGeom prst="rect">
            <a:avLst/>
          </a:prstGeom>
          <a:noFill/>
        </p:spPr>
        <p:txBody>
          <a:bodyPr vert="horz" wrap="square" lIns="0" tIns="0" rIns="0" bIns="0" rtlCol="0" anchor="ctr">
            <a:noAutofit/>
          </a:bodyPr>
          <a:lstStyle/>
          <a:p>
            <a:pPr algn="ctr"/>
            <a:r>
              <a:rPr lang="en-US" sz="1400" b="1">
                <a:solidFill>
                  <a:srgbClr val="081422"/>
                </a:solidFill>
                <a:latin typeface="Aptos" panose="020B0004020202020204" pitchFamily="34" charset="0"/>
              </a:rPr>
              <a:t>SWITCHING TO THE LIVE OPERATIONS DASHBOARD  -&gt;</a:t>
            </a:r>
          </a:p>
        </p:txBody>
      </p:sp>
      <p:sp>
        <p:nvSpPr>
          <p:cNvPr id="43" name="TextBox 42">
            <a:extLst>
              <a:ext uri="{FF2B5EF4-FFF2-40B4-BE49-F238E27FC236}">
                <a16:creationId xmlns:a16="http://schemas.microsoft.com/office/drawing/2014/main" id="{76F1458A-1DCF-924E-0CA2-8B4385B9FA43}"/>
              </a:ext>
            </a:extLst>
          </p:cNvPr>
          <p:cNvSpPr txBox="1"/>
          <p:nvPr/>
        </p:nvSpPr>
        <p:spPr>
          <a:xfrm>
            <a:off x="558800" y="6362700"/>
            <a:ext cx="11074400" cy="276999"/>
          </a:xfrm>
          <a:prstGeom prst="rect">
            <a:avLst/>
          </a:prstGeom>
          <a:noFill/>
        </p:spPr>
        <p:txBody>
          <a:bodyPr vert="horz" wrap="square" lIns="0" tIns="0" rIns="0" bIns="0" rtlCol="0" anchor="t">
            <a:noAutofit/>
          </a:bodyPr>
          <a:lstStyle/>
          <a:p>
            <a:pPr algn="ctr"/>
            <a:r>
              <a:rPr lang="en-US" sz="750">
                <a:solidFill>
                  <a:srgbClr val="778CA3"/>
                </a:solidFill>
                <a:latin typeface="Aptos" panose="020B0004020202020204" pitchFamily="34" charset="0"/>
              </a:rPr>
              <a:t>Honest boundary: generated model inputs - not packet capture; binary detection only; live/replay status remains visible.</a:t>
            </a:r>
          </a:p>
        </p:txBody>
      </p:sp>
    </p:spTree>
    <p:extLst>
      <p:ext uri="{BB962C8B-B14F-4D97-AF65-F5344CB8AC3E}">
        <p14:creationId xmlns:p14="http://schemas.microsoft.com/office/powerpoint/2010/main" val="3000813005"/>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23</TotalTime>
  <Words>1252</Words>
  <Application>Microsoft Office PowerPoint</Application>
  <PresentationFormat>Widescreen</PresentationFormat>
  <Paragraphs>176</Paragraphs>
  <Slides>6</Slides>
  <Notes>6</Notes>
  <HiddenSlides>0</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6</vt:i4>
      </vt:variant>
    </vt:vector>
  </HeadingPairs>
  <TitlesOfParts>
    <vt:vector size="11" baseType="lpstr">
      <vt:lpstr>Aptos</vt:lpstr>
      <vt:lpstr>Aptos Display</vt:lpstr>
      <vt:lpstr>Arial</vt:lpstr>
      <vt:lpstr>Calibri</vt:lpstr>
      <vt:lpstr>Office Theme</vt:lpstr>
      <vt:lpstr>PowerPoint Presentation</vt:lpstr>
      <vt:lpstr>PowerPoint Presentation</vt:lpstr>
      <vt:lpstr>PowerPoint Presentation</vt:lpstr>
      <vt:lpstr>PowerPoint Presentation</vt:lpstr>
      <vt:lpstr>PowerPoint Presentation</vt:lpstr>
      <vt:lpstr>PowerPoint Presentation</vt:lpstr>
    </vt:vector>
  </TitlesOfParts>
  <Manager/>
  <Company/>
  <LinksUpToDate>false</LinksUpToDate>
  <SharedDoc>false</SharedDoc>
  <HyperlinkBase/>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anas AL_Shehry</cp:lastModifiedBy>
  <cp:revision>44</cp:revision>
  <dcterms:created xsi:type="dcterms:W3CDTF">2013-01-27T09:14:16Z</dcterms:created>
  <dcterms:modified xsi:type="dcterms:W3CDTF">2026-08-08T23:58:21Z</dcterms:modified>
  <cp:category/>
</cp:coreProperties>
</file>